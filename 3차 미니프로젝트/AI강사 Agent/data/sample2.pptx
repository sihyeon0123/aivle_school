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963" r:id="rId2"/>
    <p:sldId id="3953" r:id="rId3"/>
    <p:sldId id="3955" r:id="rId4"/>
    <p:sldId id="3957" r:id="rId5"/>
    <p:sldId id="3961" r:id="rId6"/>
    <p:sldId id="3962" r:id="rId7"/>
    <p:sldId id="3968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C28EB010-0A49-4D11-BFA8-F4DBAD2174DF}" type="datetimeFigureOut">
              <a:rPr lang="ko-KR" altLang="en-US" smtClean="0"/>
              <a:pPr/>
              <a:t>2025-10-04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AD8A463E-C3FC-4C23-8BB9-BE8450244D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91204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https://www.evidentlyai.com/ml-in-production/model-monitoring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905D71-3E00-47B2-B0E9-2A2D24FE54E2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61287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2. </a:t>
            </a:r>
            <a:r>
              <a:rPr lang="ko-KR" altLang="en-US" b="1" dirty="0"/>
              <a:t>원인</a:t>
            </a:r>
          </a:p>
          <a:p>
            <a:r>
              <a:rPr lang="ko-KR" altLang="en-US" dirty="0"/>
              <a:t>환경 변화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사회적</a:t>
            </a:r>
            <a:r>
              <a:rPr lang="en-US" altLang="ko-KR" dirty="0"/>
              <a:t>, </a:t>
            </a:r>
            <a:r>
              <a:rPr lang="ko-KR" altLang="en-US" dirty="0"/>
              <a:t>경제적</a:t>
            </a:r>
            <a:r>
              <a:rPr lang="en-US" altLang="ko-KR" dirty="0"/>
              <a:t>, </a:t>
            </a:r>
            <a:r>
              <a:rPr lang="ko-KR" altLang="en-US" dirty="0"/>
              <a:t>정책적 요인 등</a:t>
            </a:r>
            <a:r>
              <a:rPr lang="en-US" altLang="ko-KR" dirty="0"/>
              <a:t>)</a:t>
            </a:r>
            <a:r>
              <a:rPr lang="ko-KR" altLang="en-US" dirty="0"/>
              <a:t>에 의해 데이터 특성이 변화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예측 불가능한 외부 이벤트 발생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en-US" altLang="ko-KR" b="1" dirty="0"/>
              <a:t>COVID-19</a:t>
            </a:r>
            <a:r>
              <a:rPr lang="ko-KR" altLang="en-US" dirty="0"/>
              <a:t>와 같은 팬데믹</a:t>
            </a:r>
            <a:r>
              <a:rPr lang="en-US" altLang="ko-KR" dirty="0"/>
              <a:t>, </a:t>
            </a:r>
            <a:r>
              <a:rPr lang="ko-KR" altLang="en-US" dirty="0"/>
              <a:t>경기 침체 등</a:t>
            </a:r>
            <a:r>
              <a:rPr lang="en-US" altLang="ko-KR" dirty="0"/>
              <a:t>).</a:t>
            </a:r>
          </a:p>
          <a:p>
            <a:r>
              <a:rPr lang="ko-KR" altLang="en-US" dirty="0"/>
              <a:t>**</a:t>
            </a:r>
            <a:r>
              <a:rPr lang="en-US" altLang="ko-KR" dirty="0"/>
              <a:t>Sales of loungewear (</a:t>
            </a:r>
            <a:r>
              <a:rPr lang="ko-KR" altLang="en-US" dirty="0"/>
              <a:t>편한 옷 판매량</a:t>
            </a:r>
            <a:r>
              <a:rPr lang="en-US" altLang="ko-KR" dirty="0"/>
              <a:t>)**</a:t>
            </a:r>
            <a:r>
              <a:rPr lang="ko-KR" altLang="en-US" dirty="0"/>
              <a:t>에 대한 시계열 그래프입니다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검은 점선</a:t>
            </a:r>
            <a:r>
              <a:rPr lang="en-US" altLang="ko-KR" dirty="0"/>
              <a:t>: </a:t>
            </a:r>
            <a:r>
              <a:rPr lang="ko-KR" altLang="en-US" dirty="0"/>
              <a:t>기존 모델이 예측한 판매량 </a:t>
            </a:r>
            <a:r>
              <a:rPr lang="en-US" altLang="ko-KR" dirty="0"/>
              <a:t>(predicted)</a:t>
            </a:r>
          </a:p>
          <a:p>
            <a:r>
              <a:rPr lang="ko-KR" altLang="en-US" b="1" dirty="0"/>
              <a:t>빨간 실선</a:t>
            </a:r>
            <a:r>
              <a:rPr lang="en-US" altLang="ko-KR" dirty="0"/>
              <a:t>: </a:t>
            </a:r>
            <a:r>
              <a:rPr lang="ko-KR" altLang="en-US" dirty="0"/>
              <a:t>실제 판매량 </a:t>
            </a:r>
            <a:r>
              <a:rPr lang="en-US" altLang="ko-KR" dirty="0"/>
              <a:t>(actual)</a:t>
            </a:r>
          </a:p>
          <a:p>
            <a:r>
              <a:rPr lang="en-US" altLang="ko-KR" dirty="0"/>
              <a:t>“</a:t>
            </a:r>
            <a:r>
              <a:rPr lang="en-US" altLang="ko-KR" b="1" dirty="0"/>
              <a:t>national lockdown announced</a:t>
            </a:r>
            <a:r>
              <a:rPr lang="ko-KR" altLang="en-US" dirty="0"/>
              <a:t>” 시점 이후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실제 판매량은 급격히 증가함 </a:t>
            </a:r>
            <a:r>
              <a:rPr lang="en-US" altLang="ko-KR" dirty="0"/>
              <a:t>(</a:t>
            </a:r>
            <a:r>
              <a:rPr lang="ko-KR" altLang="en-US" dirty="0"/>
              <a:t>재택근무 및 외출 자제로 인해</a:t>
            </a:r>
            <a:r>
              <a:rPr lang="en-US" altLang="ko-KR" dirty="0"/>
              <a:t>).</a:t>
            </a:r>
          </a:p>
          <a:p>
            <a:r>
              <a:rPr lang="ko-KR" altLang="en-US" dirty="0"/>
              <a:t>하지만 모델은 기존 패턴을 기반으로 예측했기 때문에 변화에 대응하지 못함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이처럼 환경 변화로 인해 예측이 틀어지는 것을 </a:t>
            </a:r>
            <a:r>
              <a:rPr lang="ko-KR" altLang="en-US" b="1" dirty="0"/>
              <a:t>컨셉 </a:t>
            </a:r>
            <a:r>
              <a:rPr lang="ko-KR" altLang="en-US" b="1" dirty="0" err="1"/>
              <a:t>드리프트</a:t>
            </a:r>
            <a:r>
              <a:rPr lang="ko-KR" altLang="en-US" dirty="0" err="1"/>
              <a:t>라고</a:t>
            </a:r>
            <a:r>
              <a:rPr lang="ko-KR" altLang="en-US" dirty="0"/>
              <a:t> 하며</a:t>
            </a:r>
            <a:r>
              <a:rPr lang="en-US" altLang="ko-KR" dirty="0"/>
              <a:t>, </a:t>
            </a:r>
            <a:r>
              <a:rPr lang="ko-KR" altLang="en-US" dirty="0"/>
              <a:t>모델 성능 저하의 중요한 요인이 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905D71-3E00-47B2-B0E9-2A2D24FE54E2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9556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1589E3-5C38-1E1A-5024-1ECB61B9AD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95AA88F-D09E-65C9-8DF4-995BA8DDA3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006449-7031-F715-A693-CBC4EB985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309-9A30-4AEB-9B89-D349251539B4}" type="datetimeFigureOut">
              <a:rPr lang="ko-KR" altLang="en-US" smtClean="0"/>
              <a:t>2025-10-04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7E86EE-167E-67E6-2549-596F6B1E0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AE77F2-D331-0818-1CC2-D02BE3CE9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F550-5D56-453E-AD77-8CBA182D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0970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E80AC2-7EC1-FA0E-FFA6-BF5F37B22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26BCBB-0A0A-3EDD-BD49-3BA563061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96A7DD-22B4-537E-5827-2CA0ECBD9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309-9A30-4AEB-9B89-D349251539B4}" type="datetimeFigureOut">
              <a:rPr lang="ko-KR" altLang="en-US" smtClean="0"/>
              <a:t>2025-10-04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B894FD-A6FA-EFD6-B959-E9E6FA3D3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CDBFEE-48AE-B008-013B-697B06328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F550-5D56-453E-AD77-8CBA182D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2893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CEE9B8-AA9D-BFDC-4E88-677C93BB7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8EBF47-9D05-1E0B-E80B-C0A657CAE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51AE41-A63E-30E6-5599-858DE5952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309-9A30-4AEB-9B89-D349251539B4}" type="datetimeFigureOut">
              <a:rPr lang="ko-KR" altLang="en-US" smtClean="0"/>
              <a:t>2025-10-04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B968AF-7818-2B25-E1AB-CC0ED46AF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44B10F-5481-379C-3E91-87ECD30E3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F550-5D56-453E-AD77-8CBA182D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6742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44960E-4528-C36C-1EEE-9FCA8A4FD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6C474C-64A2-A1AD-1B7C-9950CD0CC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53B2289-755B-3B2A-28E8-1AC1185317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42F3999-64C3-6106-BD10-BDA3F2702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309-9A30-4AEB-9B89-D349251539B4}" type="datetimeFigureOut">
              <a:rPr lang="ko-KR" altLang="en-US" smtClean="0"/>
              <a:t>2025-10-04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382057-AE49-0B06-C8F0-70400F2B6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FDE5F2-7B1E-C997-8EDE-5DC74696C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F550-5D56-453E-AD77-8CBA182D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1799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EA8880-0BD9-73D8-E12B-ADF7C26AD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E5D024-45B7-177D-8162-32AF4A43F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63B49CF-41B8-4522-0955-913293BC2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066CF87-CB83-14F0-693F-9FB8432008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9433963-885D-8D06-AE98-740F66C983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8C238E8-D98B-4B05-4640-96709F6D4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309-9A30-4AEB-9B89-D349251539B4}" type="datetimeFigureOut">
              <a:rPr lang="ko-KR" altLang="en-US" smtClean="0"/>
              <a:t>2025-10-04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5A2957C-96B0-4BA3-DF50-B8ACF811A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CDF56D5-85F0-2987-67FC-1D428EC0E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F550-5D56-453E-AD77-8CBA182D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8854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E0DE22-B02E-CC05-522E-F486E1F24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885B1B-3C5C-785F-F8D9-4820DFC53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309-9A30-4AEB-9B89-D349251539B4}" type="datetimeFigureOut">
              <a:rPr lang="ko-KR" altLang="en-US" smtClean="0"/>
              <a:t>2025-10-04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C20211F-47B6-739D-8302-F154CD3C1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F3EE30E-E266-0404-7B4D-34781CED6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F550-5D56-453E-AD77-8CBA182D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9595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BF29004-AE69-3586-35E7-38F54CFD0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309-9A30-4AEB-9B89-D349251539B4}" type="datetimeFigureOut">
              <a:rPr lang="ko-KR" altLang="en-US" smtClean="0"/>
              <a:t>2025-10-04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99F94E1-2924-D26C-5CA4-AEAA9BA92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1B907A-45A6-EDBA-5254-EB890E0CE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F550-5D56-453E-AD77-8CBA182D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9447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421704-454D-919E-07A1-196E45B75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23E573-FACC-7D07-AC5B-BDB3D27CB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8DA23E-0C71-9381-8D94-5F4D696A08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1FCB138-4F3F-9554-2560-DDE4111F9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309-9A30-4AEB-9B89-D349251539B4}" type="datetimeFigureOut">
              <a:rPr lang="ko-KR" altLang="en-US" smtClean="0"/>
              <a:t>2025-10-04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F53709-FE04-23A1-E883-EDEB1021C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F37640-D4A6-FFB0-0E9E-D006C8371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F550-5D56-453E-AD77-8CBA182D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3867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34116F-FBB7-C528-FC02-38EC55D30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9FE9232-A976-2BCA-5BF7-55283A018F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C9ADEE0-2406-1CE7-1F9C-572D982612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9D7DD4-06DE-7741-4372-EF53B6F19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309-9A30-4AEB-9B89-D349251539B4}" type="datetimeFigureOut">
              <a:rPr lang="ko-KR" altLang="en-US" smtClean="0"/>
              <a:t>2025-10-04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4D56ED6-1A02-BD00-2A10-68C08B6A4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1BCB86-F5FB-2D1D-4E62-3DD627182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F550-5D56-453E-AD77-8CBA182D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230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8E32E7-428C-3005-B858-4D8314D7A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D0F4EF0-3B4F-C122-A9AB-EB55541777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6302E6-045F-2793-3F5E-53DC8EE45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309-9A30-4AEB-9B89-D349251539B4}" type="datetimeFigureOut">
              <a:rPr lang="ko-KR" altLang="en-US" smtClean="0"/>
              <a:t>2025-10-04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FEEE63-7B54-E869-D24B-548EA2E12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323AA-E0CB-B55F-14C3-013B00B46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F550-5D56-453E-AD77-8CBA182D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224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17842A3-1F4B-228B-E6B9-66E099212E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5C40AD3-29B9-AC09-9F4C-ED9AD09180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8862B0-A05F-2FB2-E076-04EF285D9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309-9A30-4AEB-9B89-D349251539B4}" type="datetimeFigureOut">
              <a:rPr lang="ko-KR" altLang="en-US" smtClean="0"/>
              <a:t>2025-10-04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065A3D-7B34-BE28-5988-0C74BF691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742639-DF5D-6C94-8A36-289BA2F66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F550-5D56-453E-AD77-8CBA182D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6303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70653" y="2721937"/>
            <a:ext cx="10924930" cy="849463"/>
          </a:xfrm>
          <a:noFill/>
        </p:spPr>
        <p:txBody>
          <a:bodyPr wrap="square" tIns="91440" bIns="91440" anchor="ctr" anchorCtr="0">
            <a:spAutoFit/>
          </a:bodyPr>
          <a:lstStyle>
            <a:lvl1pPr>
              <a:defRPr sz="4800" b="1" spc="-98" baseline="0">
                <a:solidFill>
                  <a:srgbClr val="224D60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r>
              <a:rPr lang="en-US" dirty="0"/>
              <a:t>Section title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FF92BF3-5D40-7642-0074-14B639DE069A}"/>
              </a:ext>
            </a:extLst>
          </p:cNvPr>
          <p:cNvCxnSpPr>
            <a:cxnSpLocks/>
          </p:cNvCxnSpPr>
          <p:nvPr userDrawn="1"/>
        </p:nvCxnSpPr>
        <p:spPr>
          <a:xfrm>
            <a:off x="1084243" y="2618075"/>
            <a:ext cx="0" cy="1019356"/>
          </a:xfrm>
          <a:prstGeom prst="line">
            <a:avLst/>
          </a:prstGeom>
          <a:noFill/>
          <a:ln w="101600" cap="flat" cmpd="sng" algn="ctr">
            <a:solidFill>
              <a:srgbClr val="224D60"/>
            </a:solidFill>
            <a:prstDash val="solid"/>
            <a:miter lim="800000"/>
          </a:ln>
          <a:effectLst/>
        </p:spPr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CF3DE58-FBE7-ECF7-C83F-4887AD9A43E2}"/>
              </a:ext>
            </a:extLst>
          </p:cNvPr>
          <p:cNvCxnSpPr>
            <a:cxnSpLocks/>
          </p:cNvCxnSpPr>
          <p:nvPr userDrawn="1"/>
        </p:nvCxnSpPr>
        <p:spPr>
          <a:xfrm>
            <a:off x="392966" y="145435"/>
            <a:ext cx="11799034" cy="0"/>
          </a:xfrm>
          <a:prstGeom prst="line">
            <a:avLst/>
          </a:prstGeom>
          <a:noFill/>
          <a:ln w="76200" cap="flat" cmpd="sng" algn="ctr">
            <a:solidFill>
              <a:srgbClr val="224D6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567480963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solidFill>
          <a:schemeClr val="bg1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69241" y="1372096"/>
            <a:ext cx="11653523" cy="1936941"/>
          </a:xfrm>
          <a:prstGeom prst="rect">
            <a:avLst/>
          </a:prstGeom>
        </p:spPr>
        <p:txBody>
          <a:bodyPr>
            <a:spAutoFit/>
          </a:bodyPr>
          <a:lstStyle>
            <a:lvl1pPr marL="336142" indent="-336142">
              <a:lnSpc>
                <a:spcPct val="100000"/>
              </a:lnSpc>
              <a:buFont typeface="Wingdings" panose="05000000000000000000" pitchFamily="2" charset="2"/>
              <a:buChar char="ü"/>
              <a:defRPr sz="2880" b="1">
                <a:solidFill>
                  <a:srgbClr val="224D60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  <a:lvl2pPr marL="572684" indent="-236544">
              <a:lnSpc>
                <a:spcPct val="100000"/>
              </a:lnSpc>
              <a:buFont typeface="Wingdings" panose="05000000000000000000" pitchFamily="2" charset="2"/>
              <a:buChar char="§"/>
              <a:defRPr sz="2160">
                <a:solidFill>
                  <a:srgbClr val="224D60"/>
                </a:solidFill>
              </a:defRPr>
            </a:lvl2pPr>
            <a:lvl3pPr>
              <a:lnSpc>
                <a:spcPct val="100000"/>
              </a:lnSpc>
              <a:defRPr sz="1920">
                <a:solidFill>
                  <a:srgbClr val="224D60"/>
                </a:solidFill>
              </a:defRPr>
            </a:lvl3pPr>
            <a:lvl4pPr>
              <a:lnSpc>
                <a:spcPct val="100000"/>
              </a:lnSpc>
              <a:defRPr sz="1680">
                <a:solidFill>
                  <a:srgbClr val="224D60"/>
                </a:solidFill>
              </a:defRPr>
            </a:lvl4pPr>
            <a:lvl5pPr>
              <a:lnSpc>
                <a:spcPct val="100000"/>
              </a:lnSpc>
              <a:defRPr sz="1680">
                <a:solidFill>
                  <a:srgbClr val="224D6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269240" y="282049"/>
            <a:ext cx="11655840" cy="899665"/>
          </a:xfrm>
        </p:spPr>
        <p:txBody>
          <a:bodyPr anchor="ctr" anchorCtr="0"/>
          <a:lstStyle>
            <a:lvl1pPr>
              <a:defRPr sz="3840" b="1">
                <a:solidFill>
                  <a:srgbClr val="224D60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B4F0E002-2986-B5D4-354A-EFA985E4FE63}"/>
              </a:ext>
            </a:extLst>
          </p:cNvPr>
          <p:cNvCxnSpPr>
            <a:cxnSpLocks/>
          </p:cNvCxnSpPr>
          <p:nvPr userDrawn="1"/>
        </p:nvCxnSpPr>
        <p:spPr>
          <a:xfrm>
            <a:off x="392966" y="1181713"/>
            <a:ext cx="11799034" cy="0"/>
          </a:xfrm>
          <a:prstGeom prst="line">
            <a:avLst/>
          </a:prstGeom>
          <a:noFill/>
          <a:ln w="76200" cap="flat" cmpd="sng" algn="ctr">
            <a:solidFill>
              <a:srgbClr val="224D6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048324666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665D88F-3D8E-50CA-CA35-F0F6E5695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1C9A97-7ED5-9272-D65C-A8CBBA492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8106F2-6507-A274-F3FA-AB1878B094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C0C12309-9A30-4AEB-9B89-D349251539B4}" type="datetimeFigureOut">
              <a:rPr lang="ko-KR" altLang="en-US" smtClean="0"/>
              <a:pPr/>
              <a:t>2025-10-04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5B30DA-B996-448B-5D21-C6E369048F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91A3C1-5D4A-0268-3537-AB03E6BDE7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8150F550-5D56-453E-AD77-8CBA182D5EE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9213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94035AB-88A3-D1B7-9290-1DF9E6B2F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653" y="2721939"/>
            <a:ext cx="10924930" cy="849463"/>
          </a:xfrm>
        </p:spPr>
        <p:txBody>
          <a:bodyPr/>
          <a:lstStyle/>
          <a:p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Model Monitoring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7415098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2F2317C-BB9B-896D-5122-9BF85C3E37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41" y="1372096"/>
            <a:ext cx="11653523" cy="4417107"/>
          </a:xfrm>
        </p:spPr>
        <p:txBody>
          <a:bodyPr/>
          <a:lstStyle/>
          <a:p>
            <a:r>
              <a:rPr lang="ko-KR" altLang="en-US" sz="2800" dirty="0"/>
              <a:t>모델 모니터링</a:t>
            </a:r>
            <a:endParaRPr lang="en-US" altLang="ko-KR" sz="2800" dirty="0"/>
          </a:p>
          <a:p>
            <a:pPr lvl="1"/>
            <a:r>
              <a:rPr lang="ko-KR" altLang="en-US" sz="2000" dirty="0"/>
              <a:t>프로덕션 환경에서 </a:t>
            </a:r>
            <a:r>
              <a:rPr lang="en-US" altLang="ko-KR" sz="2000" dirty="0"/>
              <a:t>ML </a:t>
            </a:r>
            <a:r>
              <a:rPr lang="ko-KR" altLang="en-US" sz="2000" dirty="0"/>
              <a:t>모델의 성능 및 동작을 지속적으로 추적</a:t>
            </a:r>
            <a:r>
              <a:rPr lang="en-US" altLang="ko-KR" sz="2000" dirty="0"/>
              <a:t>, </a:t>
            </a:r>
            <a:r>
              <a:rPr lang="ko-KR" altLang="en-US" sz="2000" dirty="0"/>
              <a:t>분석</a:t>
            </a:r>
            <a:r>
              <a:rPr lang="en-US" altLang="ko-KR" sz="2000" dirty="0"/>
              <a:t>, </a:t>
            </a:r>
            <a:r>
              <a:rPr lang="ko-KR" altLang="en-US" sz="2000" dirty="0"/>
              <a:t>평가하는 프로세스</a:t>
            </a:r>
            <a:endParaRPr lang="en-US" altLang="ko-KR" sz="2000" dirty="0"/>
          </a:p>
          <a:p>
            <a:pPr lvl="1"/>
            <a:r>
              <a:rPr lang="ko-KR" altLang="en-US" sz="2000" dirty="0"/>
              <a:t>필요성 </a:t>
            </a:r>
            <a:r>
              <a:rPr lang="en-US" altLang="ko-KR" sz="2000" dirty="0"/>
              <a:t>: </a:t>
            </a:r>
            <a:r>
              <a:rPr lang="ko-KR" altLang="en-US" sz="2000" dirty="0"/>
              <a:t>모델은 배포 후에도 품질 저하</a:t>
            </a:r>
            <a:r>
              <a:rPr lang="en-US" altLang="ko-KR" sz="2000" dirty="0"/>
              <a:t>, </a:t>
            </a:r>
            <a:r>
              <a:rPr lang="ko-KR" altLang="en-US" sz="2000" dirty="0"/>
              <a:t>데이터 문제</a:t>
            </a:r>
            <a:r>
              <a:rPr lang="en-US" altLang="ko-KR" sz="2000" dirty="0"/>
              <a:t>, </a:t>
            </a:r>
            <a:r>
              <a:rPr lang="ko-KR" altLang="en-US" sz="2000" dirty="0"/>
              <a:t>사용 환경 변화 등의 위험에 노출됨</a:t>
            </a:r>
            <a:endParaRPr lang="en-US" altLang="ko-KR" sz="2000" dirty="0"/>
          </a:p>
          <a:p>
            <a:pPr lvl="1"/>
            <a:r>
              <a:rPr lang="ko-KR" altLang="en-US" sz="2000" dirty="0"/>
              <a:t>주요 리스크</a:t>
            </a:r>
            <a:endParaRPr lang="en-US" altLang="ko-KR" sz="2000" dirty="0"/>
          </a:p>
          <a:p>
            <a:pPr lvl="2"/>
            <a:r>
              <a:rPr lang="ko-KR" altLang="en-US" sz="1800" dirty="0"/>
              <a:t>데이터</a:t>
            </a:r>
            <a:r>
              <a:rPr lang="en-US" altLang="ko-KR" sz="1800" dirty="0"/>
              <a:t>/</a:t>
            </a:r>
            <a:r>
              <a:rPr lang="ko-KR" altLang="en-US" sz="1800" dirty="0"/>
              <a:t>컨셉 드리프트</a:t>
            </a:r>
            <a:endParaRPr lang="en-US" altLang="ko-KR" sz="1800" dirty="0"/>
          </a:p>
          <a:p>
            <a:pPr lvl="2"/>
            <a:r>
              <a:rPr lang="ko-KR" altLang="en-US" sz="1800" dirty="0"/>
              <a:t>데이터 품질 문제</a:t>
            </a:r>
            <a:endParaRPr lang="en-US" altLang="ko-KR" sz="1800" dirty="0"/>
          </a:p>
          <a:p>
            <a:pPr lvl="2"/>
            <a:r>
              <a:rPr lang="ko-KR" altLang="en-US" sz="1800" dirty="0"/>
              <a:t>적대적 공격</a:t>
            </a:r>
            <a:r>
              <a:rPr lang="en-US" altLang="ko-KR" sz="1800" dirty="0"/>
              <a:t>(</a:t>
            </a:r>
            <a:r>
              <a:rPr lang="ko-KR" altLang="en-US" sz="1800" dirty="0"/>
              <a:t>예</a:t>
            </a:r>
            <a:r>
              <a:rPr lang="en-US" altLang="ko-KR" sz="1800" dirty="0"/>
              <a:t>: prompt injection)</a:t>
            </a:r>
          </a:p>
          <a:p>
            <a:pPr lvl="2"/>
            <a:r>
              <a:rPr lang="ko-KR" altLang="en-US" sz="1800" dirty="0"/>
              <a:t>연결된 앞 단계의 모델 오류 전파</a:t>
            </a:r>
            <a:endParaRPr lang="en-US" altLang="ko-KR" sz="1800" dirty="0"/>
          </a:p>
          <a:p>
            <a:pPr lvl="1"/>
            <a:r>
              <a:rPr lang="ko-KR" altLang="en-US" sz="2000" dirty="0"/>
              <a:t>모니터링 목표</a:t>
            </a:r>
            <a:endParaRPr lang="en-US" altLang="ko-KR" sz="2000" dirty="0"/>
          </a:p>
          <a:p>
            <a:pPr lvl="2"/>
            <a:r>
              <a:rPr lang="ko-KR" altLang="en-US" sz="1800" dirty="0"/>
              <a:t>문제 </a:t>
            </a:r>
            <a:r>
              <a:rPr lang="ko-KR" altLang="en-US" sz="1800" b="1" dirty="0"/>
              <a:t>조기 탐지</a:t>
            </a:r>
            <a:endParaRPr lang="en-US" altLang="ko-KR" sz="1800" b="1" dirty="0"/>
          </a:p>
          <a:p>
            <a:pPr lvl="2"/>
            <a:r>
              <a:rPr lang="ko-KR" altLang="en-US" sz="1800" dirty="0"/>
              <a:t>근본 원인 분석</a:t>
            </a:r>
            <a:endParaRPr lang="en-US" altLang="ko-KR" sz="1800" dirty="0"/>
          </a:p>
          <a:p>
            <a:pPr lvl="2"/>
            <a:r>
              <a:rPr lang="ko-KR" altLang="en-US" sz="1800" dirty="0"/>
              <a:t>모델 동작 이해 및 투명한 문서화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8FB8937-B0BA-E7BE-2D8C-8887B4DA0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모델 성능 모니터링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61468A3-62A7-DDC0-8701-8160E186D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300" y="2984839"/>
            <a:ext cx="5483860" cy="355002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F7B065-BC65-F19E-6FAA-286E3D6680F6}"/>
              </a:ext>
            </a:extLst>
          </p:cNvPr>
          <p:cNvSpPr txBox="1">
            <a:spLocks/>
          </p:cNvSpPr>
          <p:nvPr/>
        </p:nvSpPr>
        <p:spPr>
          <a:xfrm>
            <a:off x="11799034" y="6519624"/>
            <a:ext cx="392966" cy="365760"/>
          </a:xfr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FC61ED-C389-487E-B425-FD84659AE166}" type="slidenum"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pPr/>
              <a:t>2</a:t>
            </a:fld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1259381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3E093-A2D0-8FFF-45B7-08E1DED46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00575DE-B388-BAD3-2BCF-6E2C716300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5431" y="1372096"/>
            <a:ext cx="11653523" cy="1574790"/>
          </a:xfrm>
        </p:spPr>
        <p:txBody>
          <a:bodyPr/>
          <a:lstStyle/>
          <a:p>
            <a:r>
              <a:rPr lang="ko-KR" altLang="en-US" sz="2800" dirty="0"/>
              <a:t>최초 정의한 문제의 컨셉 변화</a:t>
            </a:r>
            <a:r>
              <a:rPr lang="en-US" altLang="ko-KR" sz="2800" dirty="0"/>
              <a:t>(Concept Drift)</a:t>
            </a:r>
          </a:p>
          <a:p>
            <a:pPr lvl="1"/>
            <a:r>
              <a:rPr lang="ko-KR" altLang="en-US" sz="2000" dirty="0"/>
              <a:t>시간</a:t>
            </a:r>
            <a:r>
              <a:rPr lang="en-US" altLang="ko-KR" sz="2000" dirty="0"/>
              <a:t> </a:t>
            </a:r>
            <a:r>
              <a:rPr lang="ko-KR" altLang="en-US" sz="2000" dirty="0"/>
              <a:t>경과에 따라 데이터 변수 또는 패턴 간의 관계가 지속적으로 변할 수 있음</a:t>
            </a:r>
            <a:r>
              <a:rPr lang="en-US" altLang="ko-KR" sz="2000" dirty="0"/>
              <a:t>.</a:t>
            </a:r>
          </a:p>
          <a:p>
            <a:pPr lvl="1"/>
            <a:r>
              <a:rPr lang="ko-KR" altLang="en-US" sz="2000" dirty="0"/>
              <a:t>모델 환경에 갑작스럽고 예상치 못한 변화가 발생하여 성능에 상당한 영향을 미칠 수 있는 상황</a:t>
            </a:r>
            <a:br>
              <a:rPr lang="en-US" altLang="ko-KR" sz="2000" dirty="0"/>
            </a:br>
            <a:r>
              <a:rPr lang="en-US" altLang="ko-KR" sz="2000" dirty="0"/>
              <a:t>(</a:t>
            </a:r>
            <a:r>
              <a:rPr lang="ko-KR" altLang="en-US" sz="2000" dirty="0"/>
              <a:t>예 </a:t>
            </a:r>
            <a:r>
              <a:rPr lang="en-US" altLang="ko-KR" sz="2000" dirty="0"/>
              <a:t>: COVID-19)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88DD789-3831-6272-8343-FD6E542F7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ML </a:t>
            </a:r>
            <a:r>
              <a:rPr lang="ko-KR" altLang="en-US" dirty="0"/>
              <a:t>모델에 영향을 줄 수 있는 요인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D725306-CDDE-A570-9955-11FFE6CC067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26025" y="3515410"/>
            <a:ext cx="7481998" cy="3060542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55C31B-3416-1C05-073D-0F488902228C}"/>
              </a:ext>
            </a:extLst>
          </p:cNvPr>
          <p:cNvSpPr txBox="1">
            <a:spLocks/>
          </p:cNvSpPr>
          <p:nvPr/>
        </p:nvSpPr>
        <p:spPr>
          <a:xfrm>
            <a:off x="11799034" y="6519624"/>
            <a:ext cx="392966" cy="365760"/>
          </a:xfr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FC61ED-C389-487E-B425-FD84659AE166}" type="slidenum"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pPr/>
              <a:t>3</a:t>
            </a:fld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3678022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8DFFA-DD4C-3C2A-2719-EC1B00F6D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148D8C6-FD7B-4D51-26D1-F6577AD674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5430" y="1372096"/>
            <a:ext cx="11792832" cy="1267014"/>
          </a:xfrm>
        </p:spPr>
        <p:txBody>
          <a:bodyPr/>
          <a:lstStyle/>
          <a:p>
            <a:r>
              <a:rPr lang="ko-KR" altLang="en-US" sz="2800" dirty="0"/>
              <a:t>데이터</a:t>
            </a:r>
            <a:r>
              <a:rPr lang="en-US" altLang="ko-KR" sz="2800" dirty="0"/>
              <a:t> </a:t>
            </a:r>
            <a:r>
              <a:rPr lang="ko-KR" altLang="en-US" sz="2800" dirty="0"/>
              <a:t>분포의 변화</a:t>
            </a:r>
            <a:r>
              <a:rPr lang="en-US" altLang="ko-KR" sz="2800" dirty="0"/>
              <a:t>(Data Drift)</a:t>
            </a:r>
          </a:p>
          <a:p>
            <a:pPr lvl="1"/>
            <a:r>
              <a:rPr lang="ko-KR" altLang="en-US" sz="2000" dirty="0"/>
              <a:t>입력 데이터의 통계적 속성이 변경될 때 발생</a:t>
            </a:r>
            <a:endParaRPr lang="en-US" altLang="ko-KR" sz="2000" dirty="0"/>
          </a:p>
          <a:p>
            <a:pPr lvl="1"/>
            <a:r>
              <a:rPr lang="ko-KR" altLang="en-US" sz="2000" dirty="0"/>
              <a:t>예 </a:t>
            </a:r>
            <a:r>
              <a:rPr lang="en-US" altLang="ko-KR" sz="2000" dirty="0"/>
              <a:t>: </a:t>
            </a:r>
            <a:r>
              <a:rPr lang="ko-KR" altLang="en-US" sz="2000" dirty="0"/>
              <a:t>오프라인 매장 중심이던 판매 채널이 점차 온라인 쇼핑몰로 이동</a:t>
            </a:r>
            <a:endParaRPr lang="en-US" altLang="ko-KR" sz="2000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121BA39-643E-0486-9188-42F267DC3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ML </a:t>
            </a:r>
            <a:r>
              <a:rPr lang="ko-KR" altLang="en-US" dirty="0"/>
              <a:t>모델에 영향을 줄 수 있는 요인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9603B2D-15E1-0A3A-326C-9934C34D7E3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71664" y="2843911"/>
            <a:ext cx="7085587" cy="3758542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194053-F3E1-77EE-C156-00411F0302A0}"/>
              </a:ext>
            </a:extLst>
          </p:cNvPr>
          <p:cNvSpPr txBox="1">
            <a:spLocks/>
          </p:cNvSpPr>
          <p:nvPr/>
        </p:nvSpPr>
        <p:spPr>
          <a:xfrm>
            <a:off x="11799034" y="6519624"/>
            <a:ext cx="392966" cy="365760"/>
          </a:xfr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FC61ED-C389-487E-B425-FD84659AE166}" type="slidenum"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pPr/>
              <a:t>4</a:t>
            </a:fld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961791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E367F-FE88-D572-599C-31651AC58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424C19F-98E1-D884-034C-FAC8552EFF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5430" y="1372096"/>
            <a:ext cx="11792832" cy="2323713"/>
          </a:xfrm>
        </p:spPr>
        <p:txBody>
          <a:bodyPr/>
          <a:lstStyle/>
          <a:p>
            <a:r>
              <a:rPr lang="en-US" altLang="ko-KR" sz="2400" dirty="0"/>
              <a:t>Silent failures</a:t>
            </a:r>
          </a:p>
          <a:p>
            <a:pPr lvl="1"/>
            <a:r>
              <a:rPr lang="en-US" altLang="ko-KR" sz="1800" dirty="0"/>
              <a:t>SW</a:t>
            </a:r>
            <a:r>
              <a:rPr lang="ko-KR" altLang="en-US" sz="1800" dirty="0"/>
              <a:t>는 오류가 발생되면 바로 눈에 띔</a:t>
            </a:r>
            <a:r>
              <a:rPr lang="en-US" altLang="ko-KR" sz="1800" dirty="0"/>
              <a:t>. </a:t>
            </a:r>
          </a:p>
          <a:p>
            <a:pPr lvl="1"/>
            <a:r>
              <a:rPr lang="ko-KR" altLang="en-US" sz="1800" dirty="0"/>
              <a:t>그러나 </a:t>
            </a:r>
            <a:r>
              <a:rPr lang="ko-KR" altLang="en-US" sz="1800" u="sng" dirty="0"/>
              <a:t>모델이</a:t>
            </a:r>
            <a:r>
              <a:rPr lang="en-US" altLang="ko-KR" sz="1800" u="sng" dirty="0"/>
              <a:t> </a:t>
            </a:r>
            <a:r>
              <a:rPr lang="ko-KR" altLang="en-US" sz="1800" u="sng" dirty="0"/>
              <a:t>잘못 예측한 결과는 바로 확인 안됨</a:t>
            </a:r>
            <a:r>
              <a:rPr lang="en-US" altLang="ko-KR" sz="1800" dirty="0"/>
              <a:t>.</a:t>
            </a:r>
          </a:p>
          <a:p>
            <a:r>
              <a:rPr lang="en-US" altLang="ko-KR" sz="2400" dirty="0"/>
              <a:t>Lack of ground truth</a:t>
            </a:r>
          </a:p>
          <a:p>
            <a:pPr lvl="1"/>
            <a:r>
              <a:rPr lang="ko-KR" altLang="en-US" sz="1800" u="sng" dirty="0"/>
              <a:t>모델 성능에 대한 피드백 시점 </a:t>
            </a:r>
            <a:r>
              <a:rPr lang="en-US" altLang="ko-KR" sz="1800" u="sng" dirty="0">
                <a:sym typeface="Wingdings" panose="05000000000000000000" pitchFamily="2" charset="2"/>
              </a:rPr>
              <a:t></a:t>
            </a:r>
            <a:r>
              <a:rPr lang="en-US" altLang="ko-KR" sz="1800" u="sng" dirty="0"/>
              <a:t> </a:t>
            </a:r>
            <a:r>
              <a:rPr lang="ko-KR" altLang="en-US" sz="1800" u="sng" dirty="0"/>
              <a:t>문제가 일어난 이후</a:t>
            </a:r>
            <a:endParaRPr lang="en-US" altLang="ko-KR" sz="1800" u="sng" dirty="0"/>
          </a:p>
          <a:p>
            <a:pPr lvl="1"/>
            <a:r>
              <a:rPr lang="ko-KR" altLang="en-US" sz="1800" dirty="0"/>
              <a:t>예 </a:t>
            </a:r>
            <a:r>
              <a:rPr lang="en-US" altLang="ko-KR" sz="1800" dirty="0"/>
              <a:t>: </a:t>
            </a:r>
            <a:r>
              <a:rPr lang="ko-KR" altLang="en-US" sz="1800" dirty="0"/>
              <a:t>고객 반응을 예측해서 프로모션을 수행 </a:t>
            </a:r>
            <a:r>
              <a:rPr lang="en-US" altLang="ko-KR" sz="1800" dirty="0">
                <a:sym typeface="Wingdings" panose="05000000000000000000" pitchFamily="2" charset="2"/>
              </a:rPr>
              <a:t> </a:t>
            </a:r>
            <a:r>
              <a:rPr lang="ko-KR" altLang="en-US" sz="1800" dirty="0">
                <a:sym typeface="Wingdings" panose="05000000000000000000" pitchFamily="2" charset="2"/>
              </a:rPr>
              <a:t>고객이 반응한 이후에 모델 성능 평가 가능</a:t>
            </a:r>
            <a:r>
              <a:rPr lang="en-US" altLang="ko-KR" sz="1800" dirty="0">
                <a:sym typeface="Wingdings" panose="05000000000000000000" pitchFamily="2" charset="2"/>
              </a:rPr>
              <a:t>.</a:t>
            </a:r>
            <a:endParaRPr lang="en-US" altLang="ko-KR" sz="1800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9E261B4-BBD0-C441-27DB-2BEACFD29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모델 모니터링이 어려운 이유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9033AF-A84A-F879-27F8-22D80DBD052A}"/>
              </a:ext>
            </a:extLst>
          </p:cNvPr>
          <p:cNvSpPr txBox="1">
            <a:spLocks/>
          </p:cNvSpPr>
          <p:nvPr/>
        </p:nvSpPr>
        <p:spPr>
          <a:xfrm>
            <a:off x="11799034" y="6519624"/>
            <a:ext cx="392966" cy="365760"/>
          </a:xfr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FC61ED-C389-487E-B425-FD84659AE166}" type="slidenum"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pPr/>
              <a:t>5</a:t>
            </a:fld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6DBC76F-802E-4654-8037-D9AE6DD33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967" y="3940231"/>
            <a:ext cx="9205758" cy="233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01228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31394-F104-3E01-665D-53AFF9656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EF5EF9C-0A6D-6DF4-6053-301569BC13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5430" y="1372096"/>
            <a:ext cx="11792832" cy="1971309"/>
          </a:xfrm>
        </p:spPr>
        <p:txBody>
          <a:bodyPr/>
          <a:lstStyle/>
          <a:p>
            <a:r>
              <a:rPr lang="ko-KR" altLang="en-US" sz="2800" dirty="0"/>
              <a:t>모델 성능에 대한 상대적인 기준</a:t>
            </a:r>
            <a:endParaRPr lang="en-US" altLang="ko-KR" sz="2800" dirty="0"/>
          </a:p>
          <a:p>
            <a:pPr lvl="1"/>
            <a:r>
              <a:rPr lang="ko-KR" altLang="en-US" sz="2000" dirty="0"/>
              <a:t>모델 성능에 대한 절대적인 기준이 없음</a:t>
            </a:r>
            <a:r>
              <a:rPr lang="en-US" altLang="ko-KR" sz="2000" dirty="0"/>
              <a:t>. </a:t>
            </a:r>
            <a:endParaRPr lang="en-US" altLang="ko-KR" sz="2000" strike="sngStrike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lang="ko-KR" altLang="en-US" sz="2000" dirty="0"/>
              <a:t>예 </a:t>
            </a:r>
            <a:r>
              <a:rPr lang="en-US" altLang="ko-KR" sz="2000" dirty="0"/>
              <a:t>: 90%</a:t>
            </a:r>
            <a:r>
              <a:rPr lang="ko-KR" altLang="en-US" sz="2000" dirty="0"/>
              <a:t>의 정확도는 한 모델에서는 훌륭한 결과일 수 있지만</a:t>
            </a:r>
            <a:r>
              <a:rPr lang="en-US" altLang="ko-KR" sz="2000" dirty="0"/>
              <a:t>, </a:t>
            </a:r>
            <a:r>
              <a:rPr lang="ko-KR" altLang="en-US" sz="2000" dirty="0"/>
              <a:t>다른 모델에서는 심각한 품질 문제의 징후일 수 있으며</a:t>
            </a:r>
            <a:r>
              <a:rPr lang="en-US" altLang="ko-KR" sz="2000" dirty="0"/>
              <a:t>, </a:t>
            </a:r>
            <a:r>
              <a:rPr lang="ko-KR" altLang="en-US" sz="2000" dirty="0"/>
              <a:t>또 다른 모델에서는 단순히 잘못된 지표 선택일 수도 있음</a:t>
            </a:r>
            <a:r>
              <a:rPr lang="en-US" altLang="ko-KR" sz="2000" dirty="0"/>
              <a:t>.</a:t>
            </a:r>
          </a:p>
          <a:p>
            <a:pPr lvl="1"/>
            <a:r>
              <a:rPr lang="ko-KR" altLang="en-US" sz="2000" dirty="0"/>
              <a:t>모델 성능에는 본질적으로 변동성</a:t>
            </a:r>
            <a:r>
              <a:rPr lang="en-US" altLang="ko-KR" sz="2000" dirty="0"/>
              <a:t>(variance)</a:t>
            </a:r>
            <a:r>
              <a:rPr lang="ko-KR" altLang="en-US" sz="2000" dirty="0"/>
              <a:t>이 존재</a:t>
            </a:r>
            <a:endParaRPr lang="en-US" altLang="ko-KR" sz="2000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ED48C2C-5E68-CEC4-B225-651622968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모델 모니터링이 어려운 이유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C9E7327-8545-7CEF-F22D-08935B5617E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374098" y="3726103"/>
            <a:ext cx="5443805" cy="2718847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08A710-E65A-3480-53E4-DFFEC02BEA2E}"/>
              </a:ext>
            </a:extLst>
          </p:cNvPr>
          <p:cNvSpPr txBox="1">
            <a:spLocks/>
          </p:cNvSpPr>
          <p:nvPr/>
        </p:nvSpPr>
        <p:spPr>
          <a:xfrm>
            <a:off x="11799034" y="6519624"/>
            <a:ext cx="392966" cy="365760"/>
          </a:xfr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FC61ED-C389-487E-B425-FD84659AE166}" type="slidenum"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pPr/>
              <a:t>6</a:t>
            </a:fld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9565274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BD7E0D4-97C7-CA21-31A0-922599FE56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41" y="1372096"/>
            <a:ext cx="11653523" cy="1574790"/>
          </a:xfrm>
        </p:spPr>
        <p:txBody>
          <a:bodyPr/>
          <a:lstStyle/>
          <a:p>
            <a:r>
              <a:rPr lang="ko-KR" altLang="en-US" sz="2800" dirty="0"/>
              <a:t>두 가지 접근 방식</a:t>
            </a:r>
            <a:endParaRPr lang="en-US" altLang="ko-KR" sz="2800" dirty="0"/>
          </a:p>
          <a:p>
            <a:pPr lvl="1"/>
            <a:r>
              <a:rPr lang="ko-KR" altLang="en-US" sz="2000" dirty="0"/>
              <a:t>배치</a:t>
            </a:r>
            <a:r>
              <a:rPr lang="en-US" altLang="ko-KR" sz="2000" dirty="0"/>
              <a:t>(Batch) </a:t>
            </a:r>
            <a:r>
              <a:rPr lang="ko-KR" altLang="en-US" sz="2000" dirty="0"/>
              <a:t>모니터링 </a:t>
            </a:r>
            <a:r>
              <a:rPr lang="en-US" altLang="ko-KR" sz="2000" dirty="0"/>
              <a:t>: </a:t>
            </a:r>
            <a:r>
              <a:rPr lang="ko-KR" altLang="en-US" sz="2000" dirty="0"/>
              <a:t>정해진 주기</a:t>
            </a:r>
            <a:r>
              <a:rPr lang="en-US" altLang="ko-KR" sz="2000" dirty="0"/>
              <a:t>(</a:t>
            </a:r>
            <a:r>
              <a:rPr lang="ko-KR" altLang="en-US" sz="2000" dirty="0"/>
              <a:t>일간</a:t>
            </a:r>
            <a:r>
              <a:rPr lang="en-US" altLang="ko-KR" sz="2000" dirty="0"/>
              <a:t>, </a:t>
            </a:r>
            <a:r>
              <a:rPr lang="ko-KR" altLang="en-US" sz="2000" dirty="0"/>
              <a:t>주간 등</a:t>
            </a:r>
            <a:r>
              <a:rPr lang="en-US" altLang="ko-KR" sz="2000" dirty="0"/>
              <a:t>)</a:t>
            </a:r>
            <a:r>
              <a:rPr lang="ko-KR" altLang="en-US" sz="2000" dirty="0"/>
              <a:t>나 특정 이벤트 발생 시 모니터링</a:t>
            </a:r>
            <a:endParaRPr lang="en-US" altLang="ko-KR" sz="2000" dirty="0"/>
          </a:p>
          <a:p>
            <a:pPr lvl="1"/>
            <a:r>
              <a:rPr lang="ko-KR" altLang="en-US" sz="2000" dirty="0"/>
              <a:t>실시간</a:t>
            </a:r>
            <a:r>
              <a:rPr lang="en-US" altLang="ko-KR" sz="2000" dirty="0"/>
              <a:t>(Streaming) </a:t>
            </a:r>
            <a:r>
              <a:rPr lang="ko-KR" altLang="en-US" sz="2000" dirty="0"/>
              <a:t>모니터링 </a:t>
            </a:r>
            <a:r>
              <a:rPr lang="en-US" altLang="ko-KR" sz="2000" dirty="0"/>
              <a:t>: ML </a:t>
            </a:r>
            <a:r>
              <a:rPr lang="ko-KR" altLang="en-US" sz="2000" dirty="0"/>
              <a:t>예측 서비스에서 발생한 데이터를 모니터링 시스템에 실시간으로 전송</a:t>
            </a:r>
            <a:r>
              <a:rPr lang="en-US" altLang="ko-KR" sz="2000" dirty="0"/>
              <a:t>, </a:t>
            </a:r>
            <a:r>
              <a:rPr lang="ko-KR" altLang="en-US" sz="2000" dirty="0"/>
              <a:t>지속적으로 품질 지표를 계산 및 업데이트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9837ADA-FD36-3B06-A6A6-10F722944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모델 모니터링 아키텍처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575F708-4A03-43CA-A755-45BCEB08EB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209306"/>
              </p:ext>
            </p:extLst>
          </p:nvPr>
        </p:nvGraphicFramePr>
        <p:xfrm>
          <a:off x="1429881" y="3410712"/>
          <a:ext cx="9591465" cy="27618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60240">
                  <a:extLst>
                    <a:ext uri="{9D8B030D-6E8A-4147-A177-3AD203B41FA5}">
                      <a16:colId xmlns:a16="http://schemas.microsoft.com/office/drawing/2014/main" val="184608082"/>
                    </a:ext>
                  </a:extLst>
                </a:gridCol>
                <a:gridCol w="3629203">
                  <a:extLst>
                    <a:ext uri="{9D8B030D-6E8A-4147-A177-3AD203B41FA5}">
                      <a16:colId xmlns:a16="http://schemas.microsoft.com/office/drawing/2014/main" val="96154695"/>
                    </a:ext>
                  </a:extLst>
                </a:gridCol>
                <a:gridCol w="3802022">
                  <a:extLst>
                    <a:ext uri="{9D8B030D-6E8A-4147-A177-3AD203B41FA5}">
                      <a16:colId xmlns:a16="http://schemas.microsoft.com/office/drawing/2014/main" val="2584078754"/>
                    </a:ext>
                  </a:extLst>
                </a:gridCol>
              </a:tblGrid>
              <a:tr h="44644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900" b="1" u="none" strike="noStrike" dirty="0">
                          <a:solidFill>
                            <a:srgbClr val="FFFFFF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항목</a:t>
                      </a:r>
                      <a:endParaRPr lang="ko-KR" altLang="en-US" sz="1900" b="1" i="0" u="none" strike="noStrike" dirty="0">
                        <a:solidFill>
                          <a:srgbClr val="FFFFFF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4D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900" b="1" u="none" strike="noStrike" dirty="0">
                          <a:solidFill>
                            <a:srgbClr val="FFFFFF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배치 모니터링</a:t>
                      </a:r>
                      <a:endParaRPr lang="ko-KR" altLang="en-US" sz="1900" b="1" i="0" u="none" strike="noStrike" dirty="0">
                        <a:solidFill>
                          <a:srgbClr val="FFFFFF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4D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900" b="1" u="none" strike="noStrike" dirty="0">
                          <a:solidFill>
                            <a:srgbClr val="FFFFFF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실시간 모니터링</a:t>
                      </a:r>
                      <a:endParaRPr lang="ko-KR" altLang="en-US" sz="1900" b="1" i="0" u="none" strike="noStrike" dirty="0">
                        <a:solidFill>
                          <a:srgbClr val="FFFFFF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4D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734822"/>
                  </a:ext>
                </a:extLst>
              </a:tr>
              <a:tr h="44644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b="1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데이터 흐름</a:t>
                      </a:r>
                      <a:endParaRPr lang="ko-KR" alt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정해진 시간마다</a:t>
                      </a:r>
                      <a:endParaRPr lang="ko-KR" alt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스트리밍</a:t>
                      </a:r>
                      <a:r>
                        <a:rPr lang="en-US" altLang="ko-KR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실시간</a:t>
                      </a:r>
                      <a:r>
                        <a:rPr lang="en-US" altLang="ko-KR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en-US" altLang="ko-KR" sz="17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2018903"/>
                  </a:ext>
                </a:extLst>
              </a:tr>
              <a:tr h="44644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b="1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적합한 환경</a:t>
                      </a:r>
                      <a:endParaRPr lang="ko-KR" alt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일반 </a:t>
                      </a:r>
                      <a:r>
                        <a:rPr lang="en-US" altLang="ko-KR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ML </a:t>
                      </a:r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서비스</a:t>
                      </a:r>
                      <a:r>
                        <a:rPr lang="en-US" altLang="ko-KR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배치 처리</a:t>
                      </a:r>
                      <a:endParaRPr lang="ko-KR" alt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실시간 예측 서비스</a:t>
                      </a:r>
                      <a:endParaRPr lang="ko-KR" alt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5237"/>
                  </a:ext>
                </a:extLst>
              </a:tr>
              <a:tr h="44644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b="1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속도</a:t>
                      </a:r>
                      <a:endParaRPr lang="ko-KR" alt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느림 </a:t>
                      </a:r>
                      <a:r>
                        <a:rPr lang="en-US" altLang="ko-KR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지연 있음</a:t>
                      </a:r>
                      <a:r>
                        <a:rPr lang="en-US" altLang="ko-KR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en-US" altLang="ko-KR" sz="17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빠름 </a:t>
                      </a:r>
                      <a:r>
                        <a:rPr lang="en-US" altLang="ko-KR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즉시 감지 가능</a:t>
                      </a:r>
                      <a:r>
                        <a:rPr lang="en-US" altLang="ko-KR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en-US" altLang="ko-KR" sz="17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835344"/>
                  </a:ext>
                </a:extLst>
              </a:tr>
              <a:tr h="44644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b="1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운영 비용</a:t>
                      </a:r>
                      <a:endParaRPr lang="ko-KR" alt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낮음</a:t>
                      </a:r>
                      <a:endParaRPr lang="ko-KR" alt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높음 </a:t>
                      </a:r>
                      <a:r>
                        <a:rPr lang="en-US" altLang="ko-KR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복잡한 인프라</a:t>
                      </a:r>
                      <a:r>
                        <a:rPr lang="en-US" altLang="ko-KR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en-US" altLang="ko-KR" sz="17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0667981"/>
                  </a:ext>
                </a:extLst>
              </a:tr>
              <a:tr h="52349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b="1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한계</a:t>
                      </a:r>
                      <a:endParaRPr lang="ko-KR" alt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Abnormal</a:t>
                      </a:r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에 대한 지연된 탐지</a:t>
                      </a:r>
                      <a:endParaRPr lang="ko-KR" alt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Ground Truth </a:t>
                      </a:r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데이터 확인 지연 시 </a:t>
                      </a:r>
                      <a:endParaRPr lang="en-US" altLang="ko-KR" sz="1700" u="none" strike="noStrike" dirty="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 fontAlgn="ctr"/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적용에 한계</a:t>
                      </a:r>
                      <a:endParaRPr lang="ko-KR" alt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8166563"/>
                  </a:ext>
                </a:extLst>
              </a:tr>
            </a:tbl>
          </a:graphicData>
        </a:graphic>
      </p:graphicFrame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0B5D47C0-183C-A2F4-5DA2-08825180DEA5}"/>
              </a:ext>
            </a:extLst>
          </p:cNvPr>
          <p:cNvSpPr txBox="1">
            <a:spLocks/>
          </p:cNvSpPr>
          <p:nvPr/>
        </p:nvSpPr>
        <p:spPr>
          <a:xfrm>
            <a:off x="11799034" y="6519624"/>
            <a:ext cx="392966" cy="365760"/>
          </a:xfr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FC61ED-C389-487E-B425-FD84659AE166}" type="slidenum"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pPr/>
              <a:t>7</a:t>
            </a:fld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734804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EEFD2EC9AE4E1C4E97A968ACD5F6A537" ma:contentTypeVersion="12" ma:contentTypeDescription="새 문서를 만듭니다." ma:contentTypeScope="" ma:versionID="df186488202f13ed527723022e965c8a">
  <xsd:schema xmlns:xsd="http://www.w3.org/2001/XMLSchema" xmlns:xs="http://www.w3.org/2001/XMLSchema" xmlns:p="http://schemas.microsoft.com/office/2006/metadata/properties" xmlns:ns2="e4e13380-6049-4f59-9391-9958b2774ca2" xmlns:ns3="cb8fcf1b-9571-4d20-a8ff-81bee2907a75" targetNamespace="http://schemas.microsoft.com/office/2006/metadata/properties" ma:root="true" ma:fieldsID="8c4913c47d4635aa34f8e8f17db955c6" ns2:_="" ns3:_="">
    <xsd:import namespace="e4e13380-6049-4f59-9391-9958b2774ca2"/>
    <xsd:import namespace="cb8fcf1b-9571-4d20-a8ff-81bee2907a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e13380-6049-4f59-9391-9958b2774c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f1fa32a7-7a11-4d23-adca-71b1597c766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8fcf1b-9571-4d20-a8ff-81bee2907a7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4755f7e-2eee-41cd-9fe6-bf774321496a}" ma:internalName="TaxCatchAll" ma:showField="CatchAllData" ma:web="cb8fcf1b-9571-4d20-a8ff-81bee2907a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4e13380-6049-4f59-9391-9958b2774ca2">
      <Terms xmlns="http://schemas.microsoft.com/office/infopath/2007/PartnerControls"/>
    </lcf76f155ced4ddcb4097134ff3c332f>
    <TaxCatchAll xmlns="cb8fcf1b-9571-4d20-a8ff-81bee2907a75" xsi:nil="true"/>
  </documentManagement>
</p:properties>
</file>

<file path=customXml/itemProps1.xml><?xml version="1.0" encoding="utf-8"?>
<ds:datastoreItem xmlns:ds="http://schemas.openxmlformats.org/officeDocument/2006/customXml" ds:itemID="{7C2FEED7-F9B1-411D-9F7D-B94F38E65947}"/>
</file>

<file path=customXml/itemProps2.xml><?xml version="1.0" encoding="utf-8"?>
<ds:datastoreItem xmlns:ds="http://schemas.openxmlformats.org/officeDocument/2006/customXml" ds:itemID="{7344FCD6-27E1-4112-92F5-C36A77270A85}"/>
</file>

<file path=customXml/itemProps3.xml><?xml version="1.0" encoding="utf-8"?>
<ds:datastoreItem xmlns:ds="http://schemas.openxmlformats.org/officeDocument/2006/customXml" ds:itemID="{573B9657-F315-47FA-B0C5-1CCBA3CE9205}"/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511</Words>
  <Application>Microsoft Office PowerPoint</Application>
  <PresentationFormat>와이드스크린</PresentationFormat>
  <Paragraphs>76</Paragraphs>
  <Slides>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Noto Sans KR</vt:lpstr>
      <vt:lpstr>Arial</vt:lpstr>
      <vt:lpstr>Wingdings</vt:lpstr>
      <vt:lpstr>Office 테마</vt:lpstr>
      <vt:lpstr>Model Monitoring</vt:lpstr>
      <vt:lpstr>모델 성능 모니터링</vt:lpstr>
      <vt:lpstr>ML 모델에 영향을 줄 수 있는 요인</vt:lpstr>
      <vt:lpstr>ML 모델에 영향을 줄 수 있는 요인</vt:lpstr>
      <vt:lpstr>모델 모니터링이 어려운 이유</vt:lpstr>
      <vt:lpstr>모델 모니터링이 어려운 이유</vt:lpstr>
      <vt:lpstr>모델 모니터링 아키텍처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한 기영</dc:creator>
  <cp:lastModifiedBy>한 기영</cp:lastModifiedBy>
  <cp:revision>2</cp:revision>
  <dcterms:created xsi:type="dcterms:W3CDTF">2025-10-04T10:11:22Z</dcterms:created>
  <dcterms:modified xsi:type="dcterms:W3CDTF">2025-10-04T10:20:14Z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16c548c-0cd3-4220-987a-a58bfd9a89d4_Enabled">
    <vt:lpwstr>true</vt:lpwstr>
  </property>
  <property fmtid="{D5CDD505-2E9C-101B-9397-08002B2CF9AE}" pid="3" name="MSIP_Label_b16c548c-0cd3-4220-987a-a58bfd9a89d4_SetDate">
    <vt:lpwstr>2025-10-04T10:11:27Z</vt:lpwstr>
  </property>
  <property fmtid="{D5CDD505-2E9C-101B-9397-08002B2CF9AE}" pid="4" name="MSIP_Label_b16c548c-0cd3-4220-987a-a58bfd9a89d4_Method">
    <vt:lpwstr>Privileged</vt:lpwstr>
  </property>
  <property fmtid="{D5CDD505-2E9C-101B-9397-08002B2CF9AE}" pid="5" name="MSIP_Label_b16c548c-0cd3-4220-987a-a58bfd9a89d4_Name">
    <vt:lpwstr>b16c548c-0cd3-4220-987a-a58bfd9a89d4</vt:lpwstr>
  </property>
  <property fmtid="{D5CDD505-2E9C-101B-9397-08002B2CF9AE}" pid="6" name="MSIP_Label_b16c548c-0cd3-4220-987a-a58bfd9a89d4_SiteId">
    <vt:lpwstr>522a0f89-ae58-43b6-821b-2b06cecc7d8a</vt:lpwstr>
  </property>
  <property fmtid="{D5CDD505-2E9C-101B-9397-08002B2CF9AE}" pid="7" name="MSIP_Label_b16c548c-0cd3-4220-987a-a58bfd9a89d4_ActionId">
    <vt:lpwstr>9c2f2976-5977-4594-91a4-b319c663549a</vt:lpwstr>
  </property>
  <property fmtid="{D5CDD505-2E9C-101B-9397-08002B2CF9AE}" pid="8" name="MSIP_Label_b16c548c-0cd3-4220-987a-a58bfd9a89d4_ContentBits">
    <vt:lpwstr>0</vt:lpwstr>
  </property>
  <property fmtid="{D5CDD505-2E9C-101B-9397-08002B2CF9AE}" pid="9" name="MSIP_Label_b16c548c-0cd3-4220-987a-a58bfd9a89d4_Tag">
    <vt:lpwstr>10, 0, 1, 1</vt:lpwstr>
  </property>
  <property fmtid="{D5CDD505-2E9C-101B-9397-08002B2CF9AE}" pid="10" name="ContentTypeId">
    <vt:lpwstr>0x010100EEFD2EC9AE4E1C4E97A968ACD5F6A537</vt:lpwstr>
  </property>
</Properties>
</file>