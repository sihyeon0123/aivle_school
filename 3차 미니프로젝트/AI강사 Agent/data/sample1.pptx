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9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F55"/>
    <a:srgbClr val="F2F2F2"/>
    <a:srgbClr val="C00000"/>
    <a:srgbClr val="FFFFFF"/>
    <a:srgbClr val="6AE2C9"/>
    <a:srgbClr val="C8E7E6"/>
    <a:srgbClr val="30AEAA"/>
    <a:srgbClr val="39B6FF"/>
    <a:srgbClr val="6AC8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0DF0B-BCB7-432E-88E1-2C2230B276D0}" v="5" dt="2025-03-21T05:13:54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26" autoAdjust="0"/>
  </p:normalViewPr>
  <p:slideViewPr>
    <p:cSldViewPr snapToGrid="0">
      <p:cViewPr varScale="1">
        <p:scale>
          <a:sx n="85" d="100"/>
          <a:sy n="85" d="100"/>
        </p:scale>
        <p:origin x="2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4F44D9B-87D9-4A9A-A8E0-A548B755B657}" type="datetimeFigureOut">
              <a:rPr lang="ko-KR" altLang="en-US" smtClean="0"/>
              <a:pPr/>
              <a:t>2025-10-03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CFCF90D-E503-4B43-A793-63B9CCFE6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71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잠깐</a:t>
            </a:r>
            <a:r>
              <a:rPr lang="en-US" altLang="ko-KR" dirty="0"/>
              <a:t>, receptive field</a:t>
            </a:r>
            <a:r>
              <a:rPr lang="ko-KR" altLang="en-US" dirty="0"/>
              <a:t>란</a:t>
            </a:r>
            <a:endParaRPr lang="en-US" altLang="ko-KR" dirty="0"/>
          </a:p>
          <a:p>
            <a:r>
              <a:rPr lang="en-US" altLang="ko-KR" dirty="0"/>
              <a:t>CNN</a:t>
            </a:r>
            <a:r>
              <a:rPr lang="ko-KR" altLang="en-US" dirty="0"/>
              <a:t>에서 한 뉴런은 필터</a:t>
            </a:r>
            <a:r>
              <a:rPr lang="en-US" altLang="ko-KR" dirty="0"/>
              <a:t>(</a:t>
            </a:r>
            <a:r>
              <a:rPr lang="ko-KR" altLang="en-US" dirty="0"/>
              <a:t>커널</a:t>
            </a:r>
            <a:r>
              <a:rPr lang="en-US" altLang="ko-KR" dirty="0"/>
              <a:t>)</a:t>
            </a:r>
            <a:r>
              <a:rPr lang="ko-KR" altLang="en-US" dirty="0"/>
              <a:t>를 통해 입력 이미지의 일부만 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‘보이는 </a:t>
            </a:r>
            <a:r>
              <a:rPr lang="ko-KR" altLang="en-US" dirty="0" err="1"/>
              <a:t>영역’이</a:t>
            </a:r>
            <a:r>
              <a:rPr lang="ko-KR" altLang="en-US" dirty="0"/>
              <a:t> 바로 </a:t>
            </a:r>
            <a:r>
              <a:rPr lang="en-US" altLang="ko-KR" dirty="0"/>
              <a:t>receptive field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CF90D-E503-4B43-A793-63B9CCFE65F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19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B23F-CC83-3521-57B7-F278548B5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3E2012-C98B-F72B-552D-CE4F06769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38746-BD44-9573-3CC4-8407D427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9AB6E-2D9F-D7C5-2760-0F6486EC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92235-898E-65E1-8621-9F2E7CD5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76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936BB-F62D-546B-DF17-915B3BBD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779A2-0BFA-B4B1-9E01-750D1256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041CC-6A3F-9549-F79D-FB255E6A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91CE-0B13-71FA-EF55-3930CF37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0B0C3-4C7C-372B-9275-AA3300D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82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9F4E9-DB3F-FB80-B2F7-9FBE3487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BCC0B-7395-F3B5-5E54-8CE68D24C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C7CC3-3935-97EF-7338-05977485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85344D-947A-BADF-15FE-173EBD5F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77065-69DA-D424-5606-D5AB9C24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83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4FCA1-CC0C-D48C-9BA2-A01375A0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BC5DC-DE8A-2210-9F59-DC028090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06A075-3552-1539-E7D5-04EB145E9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874631-1020-8E4A-F1AE-84F1530F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72BD20-80AE-F701-B752-8C1FB910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09F75-75FA-49EA-91FB-E687DA61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94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ABFCD-F385-3132-4B55-0942A946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B77F7-9496-D378-AEFF-CD2AAE33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0656B0-7768-F024-7592-8FBB7181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49FEE-6732-6E15-81C2-C9F26404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D426DC-C346-2F4A-1D89-4FAAC9E1A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A506E-143B-CA7F-590B-2B40061B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74FDA6-6BCB-6892-F5E6-C5D6A7CF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A2FFD0-D19B-6BB9-E1C9-615C64E0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38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8A716-6A55-7F54-D4CC-BC16157E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47F9D9-8913-F8CA-2036-F52D1F34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74C719-A5EE-9403-FF1F-08E0D5A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21DEC-5DA2-7504-3B8C-FF1E3C9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22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CD42B3-12B6-1686-EA80-1957234E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58179B-268C-DAE3-3B6F-6DF007FF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97303-EE10-5596-969F-F34354C8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7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04A93-1E25-4EF6-902B-C57F1395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93FA96-E889-282A-87E6-81C7B51F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15034A-721E-6839-D5D9-86289F42E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BBB0E1-57D6-634E-ACF0-94C753D3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EAFCA-15E7-AE59-9B6B-B13C483D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9322CD-3B72-3EF6-52E0-2232059C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89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72794-E7BD-5BF9-52AB-9FD5A945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3D5E2B-A48C-A2C1-6930-947D8B8BF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A9E7EA-62B5-CDCF-38B9-1CABC2B57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0A2F0-1501-76DF-90A6-D60E1CA6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8E038-A45E-DD36-E1A5-D6F68415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A15A0-E624-3F9C-2235-95D4AE9B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09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3244-56FC-7565-DBEE-E5BE42B0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60E250-AB1F-8944-6905-0D4EFB36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967D7-6DD9-A5C1-1593-84E75A1B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1765C-17A6-AF37-6329-9F92F377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060F5-33B4-7716-E010-A6FDD28D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81AFA8-E4A3-F61C-732B-D56C24B49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98D3C1-AB49-F3E5-96AA-9DB16D9FA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44A7B-FEF6-4F5B-874E-8C25E520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06088-2254-2E4D-C0D9-0A771F38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3A35B-12EF-B4FB-2B5D-FE090BA3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5DD47E-A522-4485-AFC6-9A240946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ACF2ED5F-30D5-46A4-8918-1B10B1CBCD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C293D3-8F33-4A27-B1A5-E1283496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307762" cy="4918075"/>
          </a:xfrm>
        </p:spPr>
        <p:txBody>
          <a:bodyPr/>
          <a:lstStyle>
            <a:lvl1pPr marL="355600" indent="-355600">
              <a:lnSpc>
                <a:spcPct val="100000"/>
              </a:lnSpc>
              <a:buFont typeface="Wingdings" panose="05000000000000000000" pitchFamily="2" charset="2"/>
              <a:buChar char="ü"/>
              <a:defRPr sz="2600" b="1" kern="1200" spc="0" baseline="0">
                <a:solidFill>
                  <a:srgbClr val="204F55"/>
                </a:solidFill>
              </a:defRPr>
            </a:lvl1pPr>
            <a:lvl2pPr marL="630238" indent="-274638">
              <a:lnSpc>
                <a:spcPct val="100000"/>
              </a:lnSpc>
              <a:buFont typeface="Wingdings" panose="05000000000000000000" pitchFamily="2" charset="2"/>
              <a:buChar char="§"/>
              <a:defRPr sz="2000" kern="1200" spc="0" baseline="0">
                <a:solidFill>
                  <a:srgbClr val="204F55"/>
                </a:solidFill>
              </a:defRPr>
            </a:lvl2pPr>
            <a:lvl3pPr marL="808038" indent="-177800">
              <a:lnSpc>
                <a:spcPct val="100000"/>
              </a:lnSpc>
              <a:defRPr sz="1800" kern="1200" spc="0" baseline="0">
                <a:solidFill>
                  <a:srgbClr val="204F55"/>
                </a:solidFill>
              </a:defRPr>
            </a:lvl3pPr>
            <a:lvl4pPr marL="1163638" indent="-266700">
              <a:lnSpc>
                <a:spcPct val="100000"/>
              </a:lnSpc>
              <a:buFont typeface="맑은 고딕" panose="020B0503020000020004" pitchFamily="50" charset="-127"/>
              <a:buChar char="–"/>
              <a:defRPr kern="1200" spc="0" baseline="0">
                <a:solidFill>
                  <a:srgbClr val="204F55"/>
                </a:solidFill>
              </a:defRPr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  <a:endParaRPr lang="en-US" altLang="ko-KR"/>
          </a:p>
          <a:p>
            <a:pPr lvl="3"/>
            <a:endParaRPr lang="ko-KR" altLang="en-US"/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524C5287-3EF0-46F1-9C8E-A153AC1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204F55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32601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6DD630-DA53-2376-DA43-EF83BAD17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20" y="6584360"/>
            <a:ext cx="547985" cy="273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1ED-C389-487E-B425-FD84659AE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85701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0653" y="2721937"/>
            <a:ext cx="10924930" cy="849463"/>
          </a:xfrm>
          <a:noFill/>
        </p:spPr>
        <p:txBody>
          <a:bodyPr wrap="square" tIns="91440" bIns="91440" anchor="ctr" anchorCtr="0">
            <a:spAutoFit/>
          </a:bodyPr>
          <a:lstStyle>
            <a:lvl1pPr>
              <a:defRPr sz="4800" b="1" spc="-98" baseline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/>
              <a:t>Section title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F92BF3-5D40-7642-0074-14B639DE069A}"/>
              </a:ext>
            </a:extLst>
          </p:cNvPr>
          <p:cNvCxnSpPr>
            <a:cxnSpLocks/>
          </p:cNvCxnSpPr>
          <p:nvPr userDrawn="1"/>
        </p:nvCxnSpPr>
        <p:spPr>
          <a:xfrm>
            <a:off x="1084243" y="2618075"/>
            <a:ext cx="0" cy="1019356"/>
          </a:xfrm>
          <a:prstGeom prst="line">
            <a:avLst/>
          </a:prstGeom>
          <a:noFill/>
          <a:ln w="1016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F3DE58-FBE7-ECF7-C83F-4887AD9A43E2}"/>
              </a:ext>
            </a:extLst>
          </p:cNvPr>
          <p:cNvCxnSpPr>
            <a:cxnSpLocks/>
          </p:cNvCxnSpPr>
          <p:nvPr userDrawn="1"/>
        </p:nvCxnSpPr>
        <p:spPr>
          <a:xfrm>
            <a:off x="392966" y="145435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8F99D7ED-920C-4D0A-87CF-1FDB1AC86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8073" y="6494146"/>
            <a:ext cx="2743200" cy="363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1ED-C389-487E-B425-FD84659AE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1701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B33C0E-A25F-5F96-5443-00E99958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91669-F0FD-2C0D-D066-791E23AA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9305AC-3065-9DA8-7051-6ECCC536A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77FD1903-5702-4792-9244-10F1FFA645C8}" type="datetimeFigureOut">
              <a:rPr lang="ko-KR" altLang="en-US" smtClean="0"/>
              <a:pPr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25104-5BB4-337D-3B01-533341DA3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0B4FC-57A1-F288-4A09-C1C84AB8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C9A3B64-3434-4367-A414-71197672860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1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6" r:id="rId13"/>
    <p:sldLayoutId id="2147483668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4C3C-9772-82E2-82DD-561940FC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E2014-1E50-93B4-F28D-55F6FFEA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1ED-C389-487E-B425-FD84659AE166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E90C315-A072-EF6E-0035-D74929BE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(Vision</a:t>
            </a:r>
            <a:r>
              <a:rPr lang="ko-KR" altLang="en-US" dirty="0"/>
              <a:t> </a:t>
            </a:r>
            <a:r>
              <a:rPr lang="en-US" altLang="ko-KR" dirty="0"/>
              <a:t>Transformer)</a:t>
            </a:r>
            <a:r>
              <a:rPr lang="ko-KR" altLang="en-US" dirty="0"/>
              <a:t>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9ABF8FE-6F60-73E2-EB6E-A027E8A7AB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047" y="955976"/>
            <a:ext cx="11307762" cy="517131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1. CNN</a:t>
            </a:r>
            <a:r>
              <a:rPr lang="ko-KR" altLang="en-US" sz="1800" dirty="0"/>
              <a:t>의 한계</a:t>
            </a:r>
            <a:endParaRPr lang="en-US" altLang="ko-KR" sz="1800" dirty="0"/>
          </a:p>
          <a:p>
            <a:pPr lvl="1"/>
            <a:r>
              <a:rPr lang="ko-KR" altLang="en-US" sz="1400" dirty="0"/>
              <a:t>지역적 패턴 중심 학습 → 전역 문맥</a:t>
            </a:r>
            <a:r>
              <a:rPr lang="en-US" altLang="ko-KR" sz="1400" dirty="0"/>
              <a:t> </a:t>
            </a:r>
            <a:r>
              <a:rPr lang="ko-KR" altLang="en-US" sz="1400" dirty="0"/>
              <a:t>학습에 약함</a:t>
            </a:r>
            <a:endParaRPr lang="en-US" altLang="ko-KR" sz="1400" dirty="0"/>
          </a:p>
          <a:p>
            <a:pPr lvl="1"/>
            <a:r>
              <a:rPr lang="ko-KR" altLang="en-US" sz="1400" dirty="0"/>
              <a:t>수용 영역</a:t>
            </a:r>
            <a:r>
              <a:rPr lang="en-US" altLang="ko-KR" sz="1400" dirty="0"/>
              <a:t>(Receptive Field)</a:t>
            </a:r>
            <a:r>
              <a:rPr lang="ko-KR" altLang="en-US" sz="1400" dirty="0"/>
              <a:t>은 깊어질수록 커지지만</a:t>
            </a:r>
            <a:r>
              <a:rPr lang="en-US" altLang="ko-KR" sz="1400" dirty="0"/>
              <a:t>,  </a:t>
            </a:r>
            <a:r>
              <a:rPr lang="ko-KR" altLang="en-US" sz="1400" dirty="0"/>
              <a:t>여전히 한계 존재</a:t>
            </a:r>
            <a:endParaRPr lang="en-US" altLang="ko-KR" sz="1400" dirty="0"/>
          </a:p>
          <a:p>
            <a:pPr lvl="1"/>
            <a:r>
              <a:rPr lang="ko-KR" altLang="en-US" sz="1400" dirty="0"/>
              <a:t>이미지 크기나 구조 변화 시 유연성이 낮음</a:t>
            </a:r>
            <a:endParaRPr lang="en-US" altLang="ko-KR" sz="1400" dirty="0"/>
          </a:p>
          <a:p>
            <a:r>
              <a:rPr lang="en-US" altLang="ko-KR" sz="1800" dirty="0"/>
              <a:t>2. Transformer</a:t>
            </a:r>
            <a:r>
              <a:rPr lang="ko-KR" altLang="en-US" sz="1800" dirty="0"/>
              <a:t>의 강점</a:t>
            </a:r>
            <a:endParaRPr lang="en-US" altLang="ko-KR" sz="1800" dirty="0"/>
          </a:p>
          <a:p>
            <a:pPr lvl="1"/>
            <a:r>
              <a:rPr lang="en-US" altLang="ko-KR" sz="1400" dirty="0"/>
              <a:t>Self-Attention → </a:t>
            </a:r>
            <a:r>
              <a:rPr lang="ko-KR" altLang="en-US" sz="1400" dirty="0"/>
              <a:t>전역 정보 학습 강점</a:t>
            </a:r>
            <a:endParaRPr lang="en-US" altLang="ko-KR" sz="1400" dirty="0"/>
          </a:p>
          <a:p>
            <a:pPr lvl="1"/>
            <a:r>
              <a:rPr lang="ko-KR" altLang="en-US" sz="1400" dirty="0"/>
              <a:t>병렬 처리</a:t>
            </a:r>
            <a:r>
              <a:rPr lang="en-US" altLang="ko-KR" sz="1400" dirty="0"/>
              <a:t> / BERT, GPT </a:t>
            </a:r>
            <a:r>
              <a:rPr lang="ko-KR" altLang="en-US" sz="1400" dirty="0"/>
              <a:t>등 </a:t>
            </a:r>
            <a:r>
              <a:rPr lang="en-US" altLang="ko-KR" sz="1400" dirty="0"/>
              <a:t>NLP</a:t>
            </a:r>
            <a:r>
              <a:rPr lang="ko-KR" altLang="en-US" sz="1400" dirty="0"/>
              <a:t>에서 혁신적인 성과</a:t>
            </a:r>
            <a:endParaRPr lang="en-US" altLang="ko-KR" sz="1400" dirty="0"/>
          </a:p>
          <a:p>
            <a:r>
              <a:rPr lang="en-US" altLang="ko-KR" sz="1800" dirty="0"/>
              <a:t>3. </a:t>
            </a:r>
            <a:r>
              <a:rPr lang="en-US" altLang="ko-KR" sz="1800" dirty="0" err="1"/>
              <a:t>ViT</a:t>
            </a:r>
            <a:r>
              <a:rPr lang="ko-KR" altLang="en-US" sz="1800" dirty="0"/>
              <a:t>의 핵심 개념</a:t>
            </a:r>
            <a:endParaRPr lang="en-US" altLang="ko-KR" sz="1800" dirty="0"/>
          </a:p>
          <a:p>
            <a:pPr lvl="1"/>
            <a:r>
              <a:rPr lang="ko-KR" altLang="en-US" sz="1400" dirty="0"/>
              <a:t>이미지를 다수의 패치</a:t>
            </a:r>
            <a:r>
              <a:rPr lang="en-US" altLang="ko-KR" sz="1400" dirty="0"/>
              <a:t>(patch)</a:t>
            </a:r>
            <a:r>
              <a:rPr lang="ko-KR" altLang="en-US" sz="1400" dirty="0"/>
              <a:t>로 분할 → 텍스트의 단어</a:t>
            </a:r>
            <a:r>
              <a:rPr lang="en-US" altLang="ko-KR" sz="1400" dirty="0"/>
              <a:t>(token)</a:t>
            </a:r>
            <a:r>
              <a:rPr lang="ko-KR" altLang="en-US" sz="1400" dirty="0"/>
              <a:t>처럼 처리</a:t>
            </a:r>
            <a:endParaRPr lang="en-US" altLang="ko-KR" sz="1400" dirty="0"/>
          </a:p>
          <a:p>
            <a:pPr lvl="1"/>
            <a:r>
              <a:rPr lang="ko-KR" altLang="en-US" sz="1400" dirty="0"/>
              <a:t>각 패치를 벡터로 전환 후 위치 정보를 더해 </a:t>
            </a:r>
            <a:r>
              <a:rPr lang="en-US" altLang="ko-KR" sz="1400" dirty="0"/>
              <a:t>Transformer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1"/>
            <a:r>
              <a:rPr lang="en-US" altLang="ko-KR" sz="1400" dirty="0"/>
              <a:t>Self-Attention</a:t>
            </a:r>
            <a:r>
              <a:rPr lang="ko-KR" altLang="en-US" sz="1400" dirty="0"/>
              <a:t>으로 패치 간 전역 관계를 직접 학습</a:t>
            </a:r>
          </a:p>
        </p:txBody>
      </p:sp>
      <p:pic>
        <p:nvPicPr>
          <p:cNvPr id="1029" name="Picture 5" descr="Operation of CNN and ViT. | Download Scientific Diagram">
            <a:extLst>
              <a:ext uri="{FF2B5EF4-FFF2-40B4-BE49-F238E27FC236}">
                <a16:creationId xmlns:a16="http://schemas.microsoft.com/office/drawing/2014/main" id="{EC2582A8-6D50-FAC1-2E73-8462A40D7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267" y="1116841"/>
            <a:ext cx="5237686" cy="325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4646E2-C857-59F6-6D13-68E32D91F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481046"/>
              </p:ext>
            </p:extLst>
          </p:nvPr>
        </p:nvGraphicFramePr>
        <p:xfrm>
          <a:off x="1612214" y="4577931"/>
          <a:ext cx="9450344" cy="2136034"/>
        </p:xfrm>
        <a:graphic>
          <a:graphicData uri="http://schemas.openxmlformats.org/drawingml/2006/table">
            <a:tbl>
              <a:tblPr/>
              <a:tblGrid>
                <a:gridCol w="2279566">
                  <a:extLst>
                    <a:ext uri="{9D8B030D-6E8A-4147-A177-3AD203B41FA5}">
                      <a16:colId xmlns:a16="http://schemas.microsoft.com/office/drawing/2014/main" val="3968849421"/>
                    </a:ext>
                  </a:extLst>
                </a:gridCol>
                <a:gridCol w="2337033">
                  <a:extLst>
                    <a:ext uri="{9D8B030D-6E8A-4147-A177-3AD203B41FA5}">
                      <a16:colId xmlns:a16="http://schemas.microsoft.com/office/drawing/2014/main" val="1943043078"/>
                    </a:ext>
                  </a:extLst>
                </a:gridCol>
                <a:gridCol w="4833745">
                  <a:extLst>
                    <a:ext uri="{9D8B030D-6E8A-4147-A177-3AD203B41FA5}">
                      <a16:colId xmlns:a16="http://schemas.microsoft.com/office/drawing/2014/main" val="2944079750"/>
                    </a:ext>
                  </a:extLst>
                </a:gridCol>
              </a:tblGrid>
              <a:tr h="894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역량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파라미터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백본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LLM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265505"/>
                  </a:ext>
                </a:extLst>
              </a:tr>
              <a:tr h="34621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이해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CNN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 한계를 넘어 전역 문맥 학습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패치를 토큰처럼 처리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245468"/>
                  </a:ext>
                </a:extLst>
              </a:tr>
              <a:tr h="3462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 융합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CLIP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이미지와 텍스트를 공통 임베딩 공간에 매핑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 검색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제로 샷 분류 가능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90528"/>
                  </a:ext>
                </a:extLst>
              </a:tr>
              <a:tr h="400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r>
                        <a:rPr lang="en-US" altLang="ko-KR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 확장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BLIP, LLaVA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설명 생성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(Image Captioning), VQA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LLaVA: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대화형 시각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+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언어 모델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(LLM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 결합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354998"/>
                  </a:ext>
                </a:extLst>
              </a:tr>
              <a:tr h="400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완전 멀티모달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Qwen2.5-omni, GPT-4o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오디오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영상까지 직접 처리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복합 모달 입력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출력을 통합적으로 처리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실시간 추론 및 생성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88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6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8fcf1b-9571-4d20-a8ff-81bee2907a75" xsi:nil="true"/>
    <lcf76f155ced4ddcb4097134ff3c332f xmlns="e4e13380-6049-4f59-9391-9958b2774ca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df186488202f13ed527723022e965c8a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4913c47d4635aa34f8e8f17db955c6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FA3EB7-585F-421B-AC3B-C1D727679BB4}">
  <ds:schemaRefs>
    <ds:schemaRef ds:uri="1f1919ae-71d8-4e78-b1bd-1ce78ec43a0b"/>
    <ds:schemaRef ds:uri="677f369c-0c7e-4879-9dfb-6cea400ef00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632AEA8-4717-44D5-8BE1-4874A89F10AE}"/>
</file>

<file path=customXml/itemProps3.xml><?xml version="1.0" encoding="utf-8"?>
<ds:datastoreItem xmlns:ds="http://schemas.openxmlformats.org/officeDocument/2006/customXml" ds:itemID="{77EF4BEE-B908-482F-A9DC-804AC3AB2B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Words>227</Words>
  <Application>Microsoft Office PowerPoint</Application>
  <PresentationFormat>와이드스크린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</vt:lpstr>
      <vt:lpstr>Arial</vt:lpstr>
      <vt:lpstr>Wingdings</vt:lpstr>
      <vt:lpstr>나눔스퀘어</vt:lpstr>
      <vt:lpstr>맑은 고딕</vt:lpstr>
      <vt:lpstr>Office 테마</vt:lpstr>
      <vt:lpstr>ViT (Vision Transformer) 개요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석지혜(AIVLE교육팀)</dc:creator>
  <cp:lastModifiedBy>한 기영</cp:lastModifiedBy>
  <cp:revision>34</cp:revision>
  <dcterms:created xsi:type="dcterms:W3CDTF">2025-02-05T05:12:41Z</dcterms:created>
  <dcterms:modified xsi:type="dcterms:W3CDTF">2025-10-03T02:52:44Z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MSIP_Label_b16c548c-0cd3-4220-987a-a58bfd9a89d4_Enabled">
    <vt:lpwstr>true</vt:lpwstr>
  </property>
  <property fmtid="{D5CDD505-2E9C-101B-9397-08002B2CF9AE}" pid="4" name="MSIP_Label_b16c548c-0cd3-4220-987a-a58bfd9a89d4_SetDate">
    <vt:lpwstr>2025-03-18T00:11:04Z</vt:lpwstr>
  </property>
  <property fmtid="{D5CDD505-2E9C-101B-9397-08002B2CF9AE}" pid="5" name="MSIP_Label_b16c548c-0cd3-4220-987a-a58bfd9a89d4_Method">
    <vt:lpwstr>Privileged</vt:lpwstr>
  </property>
  <property fmtid="{D5CDD505-2E9C-101B-9397-08002B2CF9AE}" pid="6" name="MSIP_Label_b16c548c-0cd3-4220-987a-a58bfd9a89d4_Name">
    <vt:lpwstr>b16c548c-0cd3-4220-987a-a58bfd9a89d4</vt:lpwstr>
  </property>
  <property fmtid="{D5CDD505-2E9C-101B-9397-08002B2CF9AE}" pid="7" name="MSIP_Label_b16c548c-0cd3-4220-987a-a58bfd9a89d4_SiteId">
    <vt:lpwstr>522a0f89-ae58-43b6-821b-2b06cecc7d8a</vt:lpwstr>
  </property>
  <property fmtid="{D5CDD505-2E9C-101B-9397-08002B2CF9AE}" pid="8" name="MSIP_Label_b16c548c-0cd3-4220-987a-a58bfd9a89d4_ActionId">
    <vt:lpwstr>58a531f8-a013-4ebc-82e3-536694e20eb5</vt:lpwstr>
  </property>
  <property fmtid="{D5CDD505-2E9C-101B-9397-08002B2CF9AE}" pid="9" name="MSIP_Label_b16c548c-0cd3-4220-987a-a58bfd9a89d4_ContentBits">
    <vt:lpwstr>0</vt:lpwstr>
  </property>
  <property fmtid="{D5CDD505-2E9C-101B-9397-08002B2CF9AE}" pid="10" name="MSIP_Label_b16c548c-0cd3-4220-987a-a58bfd9a89d4_Tag">
    <vt:lpwstr>10, 0, 1, 1</vt:lpwstr>
  </property>
</Properties>
</file>