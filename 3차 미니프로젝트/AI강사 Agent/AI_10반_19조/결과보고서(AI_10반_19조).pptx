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g67IlK8SfExzlHdE5sCVchOjLQ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FDDAE9-5DD1-4EBC-BF54-4870856CF79A}">
  <a:tblStyle styleId="{5AFDDAE9-5DD1-4EBC-BF54-4870856CF7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76" y="5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" name="Google Shape;4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a28891891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g3a288918913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g3a288918913_0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288918913_3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67" name="Google Shape;67;g3a288918913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288918913_3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86" name="Google Shape;86;g3a288918913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288918913_17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94" name="Google Shape;94;g3a288918913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288918913_17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01" name="Google Shape;101;g3a288918913_17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28891891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a2889189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288918913_1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29" name="Google Shape;129;g3a288918913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  <a:defRPr sz="180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9"/>
          <p:cNvPicPr preferRelativeResize="0"/>
          <p:nvPr/>
        </p:nvPicPr>
        <p:blipFill rotWithShape="1">
          <a:blip r:embed="rId2">
            <a:alphaModFix/>
          </a:blip>
          <a:srcRect t="67715" b="21944"/>
          <a:stretch/>
        </p:blipFill>
        <p:spPr>
          <a:xfrm>
            <a:off x="0" y="3596531"/>
            <a:ext cx="12192000" cy="2859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9"/>
          <p:cNvPicPr preferRelativeResize="0"/>
          <p:nvPr/>
        </p:nvPicPr>
        <p:blipFill rotWithShape="1">
          <a:blip r:embed="rId2">
            <a:alphaModFix/>
          </a:blip>
          <a:srcRect t="25551" b="21944"/>
          <a:stretch/>
        </p:blipFill>
        <p:spPr>
          <a:xfrm>
            <a:off x="0" y="0"/>
            <a:ext cx="12192000" cy="3600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 t="67715" b="21944"/>
          <a:stretch/>
        </p:blipFill>
        <p:spPr>
          <a:xfrm>
            <a:off x="0" y="6148873"/>
            <a:ext cx="12192000" cy="70912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532456" y="510866"/>
            <a:ext cx="10821346" cy="59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1" name="Google Shape;21;p9"/>
          <p:cNvCxnSpPr>
            <a:stCxn id="19" idx="1"/>
            <a:endCxn id="19" idx="3"/>
          </p:cNvCxnSpPr>
          <p:nvPr/>
        </p:nvCxnSpPr>
        <p:spPr>
          <a:xfrm>
            <a:off x="0" y="6503437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" name="Google Shape;22;p9"/>
          <p:cNvSpPr txBox="1"/>
          <p:nvPr/>
        </p:nvSpPr>
        <p:spPr>
          <a:xfrm>
            <a:off x="11266756" y="6559088"/>
            <a:ext cx="755737" cy="15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31"/>
              <a:buFont typeface="Arial"/>
              <a:buNone/>
            </a:pPr>
            <a:fld id="{00000000-1234-1234-1234-123412341234}" type="slidenum">
              <a:rPr lang="ko-KR" sz="1022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22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9"/>
          <p:cNvSpPr/>
          <p:nvPr/>
        </p:nvSpPr>
        <p:spPr>
          <a:xfrm>
            <a:off x="210470" y="6559088"/>
            <a:ext cx="355657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Arial"/>
              <a:buNone/>
            </a:pPr>
            <a:r>
              <a:rPr lang="ko-KR" sz="1292" b="1" i="0" u="none" strike="noStrike" cap="none">
                <a:solidFill>
                  <a:srgbClr val="34AEAA"/>
                </a:solidFill>
                <a:latin typeface="Arial"/>
                <a:ea typeface="Arial"/>
                <a:cs typeface="Arial"/>
                <a:sym typeface="Arial"/>
              </a:rPr>
              <a:t>KT AIVLE School</a:t>
            </a:r>
            <a:endParaRPr sz="1723" b="0" i="0" u="none" strike="noStrike" cap="none">
              <a:solidFill>
                <a:srgbClr val="34AEA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9"/>
          <p:cNvSpPr txBox="1">
            <a:spLocks noGrp="1"/>
          </p:cNvSpPr>
          <p:nvPr>
            <p:ph type="body" idx="1"/>
          </p:nvPr>
        </p:nvSpPr>
        <p:spPr>
          <a:xfrm>
            <a:off x="553369" y="1338454"/>
            <a:ext cx="10757098" cy="655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954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96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72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9"/>
          <p:cNvSpPr/>
          <p:nvPr/>
        </p:nvSpPr>
        <p:spPr>
          <a:xfrm>
            <a:off x="169507" y="1142862"/>
            <a:ext cx="11852986" cy="52747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26;p9"/>
          <p:cNvCxnSpPr/>
          <p:nvPr/>
        </p:nvCxnSpPr>
        <p:spPr>
          <a:xfrm rot="10800000">
            <a:off x="-5" y="1046297"/>
            <a:ext cx="12192005" cy="20820"/>
          </a:xfrm>
          <a:prstGeom prst="straightConnector1">
            <a:avLst/>
          </a:prstGeom>
          <a:noFill/>
          <a:ln w="28575" cap="flat" cmpd="thickThin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7" name="Google Shape;2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455" y="126128"/>
            <a:ext cx="1068038" cy="243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>
  <p:cSld name="End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37679" y="404873"/>
            <a:ext cx="1314508" cy="24324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0"/>
          <p:cNvSpPr/>
          <p:nvPr/>
        </p:nvSpPr>
        <p:spPr>
          <a:xfrm>
            <a:off x="7873572" y="3492799"/>
            <a:ext cx="2741372" cy="241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9"/>
              <a:buFont typeface="Arial"/>
              <a:buNone/>
            </a:pPr>
            <a:r>
              <a:rPr lang="ko-KR" sz="196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Make it possible</a:t>
            </a:r>
            <a:endParaRPr sz="172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10" descr="텍스트, 클립아트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52094" y="2907769"/>
            <a:ext cx="2372373" cy="496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24561"/>
            <a:ext cx="12192000" cy="7502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body" idx="1"/>
          </p:nvPr>
        </p:nvSpPr>
        <p:spPr>
          <a:xfrm>
            <a:off x="269241" y="1189178"/>
            <a:ext cx="11653522" cy="68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393700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2425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95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8645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3692308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54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56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70967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42"/>
              <a:buFont typeface="Arial"/>
              <a:buChar char="•"/>
              <a:defRPr sz="27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24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0042" algn="l" rtl="0">
              <a:lnSpc>
                <a:spcPct val="9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755"/>
              <a:buFont typeface="Arial"/>
              <a:buChar char="•"/>
              <a:defRPr sz="21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7660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–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7660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»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9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9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9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9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>
            <a:spLocks noGrp="1"/>
          </p:cNvSpPr>
          <p:nvPr>
            <p:ph type="title"/>
          </p:nvPr>
        </p:nvSpPr>
        <p:spPr>
          <a:xfrm>
            <a:off x="269241" y="2084172"/>
            <a:ext cx="11653522" cy="1162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35"/>
              <a:buFont typeface="Calibri"/>
              <a:buNone/>
              <a:defRPr sz="70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613" y="402965"/>
            <a:ext cx="1068038" cy="24324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"/>
          <p:cNvSpPr/>
          <p:nvPr/>
        </p:nvSpPr>
        <p:spPr>
          <a:xfrm>
            <a:off x="9765915" y="6335312"/>
            <a:ext cx="222736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Make it possible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p1" descr="텍스트, 클립아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10964" y="5829300"/>
            <a:ext cx="1927553" cy="4176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" name="Google Shape;50;p1"/>
          <p:cNvCxnSpPr/>
          <p:nvPr/>
        </p:nvCxnSpPr>
        <p:spPr>
          <a:xfrm>
            <a:off x="862205" y="2286000"/>
            <a:ext cx="0" cy="1069750"/>
          </a:xfrm>
          <a:prstGeom prst="straightConnector1">
            <a:avLst/>
          </a:prstGeom>
          <a:noFill/>
          <a:ln w="57150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1" name="Google Shape;51;p1"/>
          <p:cNvSpPr txBox="1"/>
          <p:nvPr/>
        </p:nvSpPr>
        <p:spPr>
          <a:xfrm>
            <a:off x="983632" y="2223951"/>
            <a:ext cx="8245702" cy="120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개발자 트랙 미니프로젝트  </a:t>
            </a:r>
            <a:r>
              <a:rPr lang="ko-KR" sz="2000"/>
              <a:t>3</a:t>
            </a:r>
            <a:r>
              <a:rPr lang="ko-KR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차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400" b="1"/>
              <a:t>AI 강사 Agent 구축</a:t>
            </a:r>
            <a:endParaRPr sz="4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983632" y="3444241"/>
            <a:ext cx="4202322" cy="644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 i="0" u="none" strike="noStrike" cap="none">
                <a:solidFill>
                  <a:srgbClr val="1F6765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sz="3200" b="1">
                <a:solidFill>
                  <a:srgbClr val="1F6765"/>
                </a:solidFill>
              </a:rPr>
              <a:t>10</a:t>
            </a:r>
            <a:r>
              <a:rPr lang="ko-KR" sz="3200" b="1" i="0" u="none" strike="noStrike" cap="none">
                <a:solidFill>
                  <a:srgbClr val="1F6765"/>
                </a:solidFill>
                <a:latin typeface="Arial"/>
                <a:ea typeface="Arial"/>
                <a:cs typeface="Arial"/>
                <a:sym typeface="Arial"/>
              </a:rPr>
              <a:t>반 </a:t>
            </a:r>
            <a:r>
              <a:rPr lang="ko-KR" sz="3200" b="1">
                <a:solidFill>
                  <a:srgbClr val="1F6765"/>
                </a:solidFill>
              </a:rPr>
              <a:t>19</a:t>
            </a:r>
            <a:r>
              <a:rPr lang="ko-KR" sz="3200" b="1" i="0" u="none" strike="noStrike" cap="none">
                <a:solidFill>
                  <a:srgbClr val="1F6765"/>
                </a:solidFill>
                <a:latin typeface="Arial"/>
                <a:ea typeface="Arial"/>
                <a:cs typeface="Arial"/>
                <a:sym typeface="Arial"/>
              </a:rPr>
              <a:t>조</a:t>
            </a:r>
            <a:endParaRPr sz="3200" b="1" i="0" u="none" strike="noStrike" cap="none">
              <a:solidFill>
                <a:srgbClr val="1F676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g3a288918913_0_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g3a288918913_0_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613" y="402965"/>
            <a:ext cx="1068038" cy="24324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g3a288918913_0_53"/>
          <p:cNvSpPr/>
          <p:nvPr/>
        </p:nvSpPr>
        <p:spPr>
          <a:xfrm>
            <a:off x="9765915" y="6335312"/>
            <a:ext cx="2227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Make it possible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g3a288918913_0_53" descr="텍스트, 클립아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10964" y="5829300"/>
            <a:ext cx="1927553" cy="4176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g3a288918913_0_53"/>
          <p:cNvCxnSpPr/>
          <p:nvPr/>
        </p:nvCxnSpPr>
        <p:spPr>
          <a:xfrm>
            <a:off x="983643" y="2857600"/>
            <a:ext cx="0" cy="1069800"/>
          </a:xfrm>
          <a:prstGeom prst="straightConnector1">
            <a:avLst/>
          </a:prstGeom>
          <a:noFill/>
          <a:ln w="57150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3" name="Google Shape;63;g3a288918913_0_53"/>
          <p:cNvSpPr txBox="1"/>
          <p:nvPr/>
        </p:nvSpPr>
        <p:spPr>
          <a:xfrm>
            <a:off x="1264075" y="2857600"/>
            <a:ext cx="8211000" cy="1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lang="ko-KR" sz="3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 차</a:t>
            </a:r>
            <a:endParaRPr sz="6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a288918913_0_53"/>
          <p:cNvSpPr txBox="1"/>
          <p:nvPr/>
        </p:nvSpPr>
        <p:spPr>
          <a:xfrm>
            <a:off x="3299900" y="1182175"/>
            <a:ext cx="7019700" cy="47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ctr" anchorCtr="0">
            <a:noAutofit/>
          </a:bodyPr>
          <a:lstStyle/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765"/>
              </a:buClr>
              <a:buSzPts val="3200"/>
              <a:buFont typeface="Arial"/>
              <a:buAutoNum type="arabicPeriod"/>
            </a:pPr>
            <a:r>
              <a:rPr lang="ko-KR" sz="3200" b="1" i="0" u="none" strike="noStrike" cap="none" dirty="0">
                <a:solidFill>
                  <a:srgbClr val="1F6765"/>
                </a:solidFill>
                <a:latin typeface="Arial"/>
                <a:ea typeface="Arial"/>
                <a:cs typeface="Arial"/>
                <a:sym typeface="Arial"/>
              </a:rPr>
              <a:t>프로젝트 개요</a:t>
            </a:r>
            <a:endParaRPr sz="3200" b="1" dirty="0">
              <a:solidFill>
                <a:srgbClr val="1F6765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solidFill>
                <a:srgbClr val="1F6765"/>
              </a:solidFill>
            </a:endParaRPr>
          </a:p>
          <a:p>
            <a:pPr marL="25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765"/>
              </a:buClr>
              <a:buSzPts val="3200"/>
            </a:pPr>
            <a:r>
              <a:rPr lang="en-US" altLang="ko-KR" sz="3200" b="1" dirty="0">
                <a:solidFill>
                  <a:srgbClr val="1F6765"/>
                </a:solidFill>
              </a:rPr>
              <a:t>2. </a:t>
            </a:r>
            <a:r>
              <a:rPr lang="ko-KR" sz="3200" b="1" dirty="0">
                <a:solidFill>
                  <a:srgbClr val="1F6765"/>
                </a:solidFill>
              </a:rPr>
              <a:t>시스템 개요</a:t>
            </a:r>
            <a:endParaRPr sz="3200" b="1" dirty="0">
              <a:solidFill>
                <a:srgbClr val="1F6765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3200" b="1" dirty="0">
              <a:solidFill>
                <a:srgbClr val="1F6765"/>
              </a:solidFill>
            </a:endParaRPr>
          </a:p>
          <a:p>
            <a:pPr marL="25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765"/>
              </a:buClr>
              <a:buSzPts val="3200"/>
            </a:pPr>
            <a:r>
              <a:rPr lang="en-US" altLang="ko-KR" sz="3200" b="1" dirty="0">
                <a:solidFill>
                  <a:srgbClr val="1F6765"/>
                </a:solidFill>
              </a:rPr>
              <a:t>3. </a:t>
            </a:r>
            <a:r>
              <a:rPr lang="ko-KR" sz="3200" b="1" dirty="0">
                <a:solidFill>
                  <a:srgbClr val="1F6765"/>
                </a:solidFill>
              </a:rPr>
              <a:t>프로젝트 결과</a:t>
            </a:r>
            <a:endParaRPr sz="3200" b="1" dirty="0">
              <a:solidFill>
                <a:srgbClr val="1F6765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solidFill>
                <a:srgbClr val="1F6765"/>
              </a:solidFill>
            </a:endParaRPr>
          </a:p>
          <a:p>
            <a:pPr marL="25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765"/>
              </a:buClr>
              <a:buSzPts val="3200"/>
            </a:pPr>
            <a:r>
              <a:rPr lang="en-US" altLang="ko-KR" sz="3200" b="1" dirty="0">
                <a:solidFill>
                  <a:srgbClr val="1F6765"/>
                </a:solidFill>
              </a:rPr>
              <a:t>4. </a:t>
            </a:r>
            <a:r>
              <a:rPr lang="ko-KR" sz="3200" b="1" dirty="0">
                <a:solidFill>
                  <a:srgbClr val="1F6765"/>
                </a:solidFill>
              </a:rPr>
              <a:t>종합결과</a:t>
            </a:r>
            <a:endParaRPr sz="3200" b="1" dirty="0">
              <a:solidFill>
                <a:srgbClr val="1F676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288918913_3_1"/>
          <p:cNvSpPr/>
          <p:nvPr/>
        </p:nvSpPr>
        <p:spPr>
          <a:xfrm>
            <a:off x="730504" y="7625700"/>
            <a:ext cx="10731000" cy="4338600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a288918913_3_1"/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프로젝트 개요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a288918913_3_1"/>
          <p:cNvSpPr/>
          <p:nvPr/>
        </p:nvSpPr>
        <p:spPr>
          <a:xfrm>
            <a:off x="162300" y="1281677"/>
            <a:ext cx="118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“ PPT 업로드만으로 강의 영상 자동 생성하는 AI 강사 Agent ”</a:t>
            </a:r>
            <a:endParaRPr sz="1800" b="1"/>
          </a:p>
        </p:txBody>
      </p:sp>
      <p:sp>
        <p:nvSpPr>
          <p:cNvPr id="72" name="Google Shape;72;g3a288918913_3_1"/>
          <p:cNvSpPr/>
          <p:nvPr/>
        </p:nvSpPr>
        <p:spPr>
          <a:xfrm>
            <a:off x="1245635" y="2047375"/>
            <a:ext cx="22485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/>
              <a:t>왜 필요한가?</a:t>
            </a:r>
            <a:endParaRPr sz="17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73" name="Google Shape;73;g3a288918913_3_1"/>
          <p:cNvSpPr/>
          <p:nvPr/>
        </p:nvSpPr>
        <p:spPr>
          <a:xfrm>
            <a:off x="1331775" y="2512975"/>
            <a:ext cx="44544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</a:rPr>
              <a:t>강의 및 영상 제작에 시간, 비용이 많이 소모됨</a:t>
            </a:r>
            <a:endParaRPr sz="16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</a:rPr>
              <a:t>빠르게 변화하는 정보에 즉시 대응 어려움</a:t>
            </a:r>
            <a:endParaRPr sz="16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</a:rPr>
              <a:t>자료는 PPT로 존재하지만, 영상화 과정은 수동</a:t>
            </a:r>
            <a:endParaRPr sz="16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74" name="Google Shape;74;g3a288918913_3_1"/>
          <p:cNvSpPr/>
          <p:nvPr/>
        </p:nvSpPr>
        <p:spPr>
          <a:xfrm>
            <a:off x="8276185" y="2704650"/>
            <a:ext cx="17241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/>
              <a:t>PPT 파일 업로드</a:t>
            </a:r>
            <a:endParaRPr sz="1500" b="1"/>
          </a:p>
        </p:txBody>
      </p:sp>
      <p:sp>
        <p:nvSpPr>
          <p:cNvPr id="75" name="Google Shape;75;g3a288918913_3_1"/>
          <p:cNvSpPr/>
          <p:nvPr/>
        </p:nvSpPr>
        <p:spPr>
          <a:xfrm>
            <a:off x="8276185" y="4511613"/>
            <a:ext cx="17241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/>
              <a:t>음성 변환</a:t>
            </a:r>
            <a:endParaRPr sz="1500" b="1"/>
          </a:p>
        </p:txBody>
      </p:sp>
      <p:sp>
        <p:nvSpPr>
          <p:cNvPr id="76" name="Google Shape;76;g3a288918913_3_1"/>
          <p:cNvSpPr/>
          <p:nvPr/>
        </p:nvSpPr>
        <p:spPr>
          <a:xfrm>
            <a:off x="8276185" y="5218028"/>
            <a:ext cx="17241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/>
              <a:t>영상 자동화</a:t>
            </a:r>
            <a:endParaRPr sz="1500" b="1"/>
          </a:p>
        </p:txBody>
      </p:sp>
      <p:grpSp>
        <p:nvGrpSpPr>
          <p:cNvPr id="77" name="Google Shape;77;g3a288918913_3_1"/>
          <p:cNvGrpSpPr/>
          <p:nvPr/>
        </p:nvGrpSpPr>
        <p:grpSpPr>
          <a:xfrm>
            <a:off x="8263064" y="3473525"/>
            <a:ext cx="2151000" cy="602061"/>
            <a:chOff x="8452876" y="3778325"/>
            <a:chExt cx="2151000" cy="602061"/>
          </a:xfrm>
        </p:grpSpPr>
        <p:sp>
          <p:nvSpPr>
            <p:cNvPr id="78" name="Google Shape;78;g3a288918913_3_1"/>
            <p:cNvSpPr/>
            <p:nvPr/>
          </p:nvSpPr>
          <p:spPr>
            <a:xfrm>
              <a:off x="8452876" y="3778325"/>
              <a:ext cx="2151000" cy="2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 b="1"/>
                <a:t>슬라이드 내용 분석</a:t>
              </a:r>
              <a:endParaRPr sz="1500" b="1"/>
            </a:p>
          </p:txBody>
        </p:sp>
        <p:sp>
          <p:nvSpPr>
            <p:cNvPr id="79" name="Google Shape;79;g3a288918913_3_1"/>
            <p:cNvSpPr/>
            <p:nvPr/>
          </p:nvSpPr>
          <p:spPr>
            <a:xfrm>
              <a:off x="8452876" y="4089386"/>
              <a:ext cx="2151000" cy="2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 b="1"/>
                <a:t>요약 생성</a:t>
              </a:r>
              <a:endParaRPr sz="1500" b="1"/>
            </a:p>
          </p:txBody>
        </p:sp>
      </p:grpSp>
      <p:pic>
        <p:nvPicPr>
          <p:cNvPr id="80" name="Google Shape;80;g3a288918913_3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8898" y="2436775"/>
            <a:ext cx="1157325" cy="342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a288918913_3_1"/>
          <p:cNvSpPr/>
          <p:nvPr/>
        </p:nvSpPr>
        <p:spPr>
          <a:xfrm>
            <a:off x="1245635" y="4243432"/>
            <a:ext cx="22485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/>
              <a:t>최종적인 목표는?</a:t>
            </a:r>
            <a:endParaRPr sz="17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82" name="Google Shape;82;g3a288918913_3_1"/>
          <p:cNvSpPr/>
          <p:nvPr/>
        </p:nvSpPr>
        <p:spPr>
          <a:xfrm>
            <a:off x="1331773" y="4715915"/>
            <a:ext cx="41016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solidFill>
                  <a:schemeClr val="dk1"/>
                </a:solidFill>
              </a:rPr>
              <a:t>PPT 업로드로 강의 대본, 음성, 영상을 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solidFill>
                  <a:schemeClr val="dk1"/>
                </a:solidFill>
              </a:rPr>
              <a:t>자동 생성하여 강의 제작 시간을 줄이고,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solidFill>
                  <a:schemeClr val="dk1"/>
                </a:solidFill>
              </a:rPr>
              <a:t>누구나 쉽게 교육 영상 제작 가능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83" name="Google Shape;83;g3a288918913_3_1"/>
          <p:cNvSpPr/>
          <p:nvPr/>
        </p:nvSpPr>
        <p:spPr>
          <a:xfrm>
            <a:off x="6684719" y="2047375"/>
            <a:ext cx="22485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/>
              <a:t>무엇을 만들었는가?</a:t>
            </a:r>
            <a:endParaRPr sz="1700" b="1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288918913_3_38"/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시스템 개요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a288918913_3_38"/>
          <p:cNvSpPr/>
          <p:nvPr/>
        </p:nvSpPr>
        <p:spPr>
          <a:xfrm>
            <a:off x="485454" y="1281663"/>
            <a:ext cx="26367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 b="1"/>
              <a:t>AI 강사 Agent 설계도</a:t>
            </a:r>
            <a:endParaRPr sz="1900" b="1" i="0" u="none" strike="noStrike" cap="none">
              <a:solidFill>
                <a:srgbClr val="000000"/>
              </a:solidFill>
            </a:endParaRPr>
          </a:p>
        </p:txBody>
      </p:sp>
      <p:pic>
        <p:nvPicPr>
          <p:cNvPr id="90" name="Google Shape;90;g3a288918913_3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5600" y="1784775"/>
            <a:ext cx="1111275" cy="42582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1" name="Google Shape;91;g3a288918913_3_38"/>
          <p:cNvGraphicFramePr/>
          <p:nvPr/>
        </p:nvGraphicFramePr>
        <p:xfrm>
          <a:off x="3937376" y="1678284"/>
          <a:ext cx="7750825" cy="4299495"/>
        </p:xfrm>
        <a:graphic>
          <a:graphicData uri="http://schemas.openxmlformats.org/drawingml/2006/table">
            <a:tbl>
              <a:tblPr>
                <a:noFill/>
                <a:tableStyleId>{5AFDDAE9-5DD1-4EBC-BF54-4870856CF79A}</a:tableStyleId>
              </a:tblPr>
              <a:tblGrid>
                <a:gridCol w="239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b="1">
                          <a:solidFill>
                            <a:schemeClr val="dk1"/>
                          </a:solidFill>
                        </a:rPr>
                        <a:t>단계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D9EEE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b="1"/>
                        <a:t>설명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D9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parse_ppt</a:t>
                      </a:r>
                      <a:endParaRPr sz="15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/>
                        <a:t>PPT에서 텍스트, 표, 이미지를 페이지별로 추출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/>
                        <a:t>각 슬라이드 PNG도 생성하여 리스트로 저장</a:t>
                      </a:r>
                      <a:endParaRPr sz="13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tool_search</a:t>
                      </a:r>
                      <a:endParaRPr sz="15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/>
                        <a:t>각 슬라이드의 대표 텍스트(제목, 긴 텍스트)를 기반으로 검색 수행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/>
                        <a:t>PPT 내용과 관련 없는 검색 결과 자동 제외</a:t>
                      </a:r>
                      <a:endParaRPr sz="13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generate_page</a:t>
                      </a:r>
                      <a:endParaRPr sz="15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/>
                        <a:t>추출된 텍스트, 표, 이미지, 검색 요약을 기반으로 각 슬라이드 별 요약 생성</a:t>
                      </a:r>
                      <a:endParaRPr sz="13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generate_script</a:t>
                      </a:r>
                      <a:endParaRPr sz="1500" b="1"/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/>
                        <a:t>슬라이드별 요약을 기반으로 스크립트 생성 및 파일 저장</a:t>
                      </a:r>
                      <a:endParaRPr sz="13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tts_mp3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/>
                        <a:t>슬라이드별 스크립트를 TTS 변환 -&gt; MP3 생성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/>
                        <a:t>지정한 톤에 따라 어울리는 음성을 자동 선택</a:t>
                      </a:r>
                      <a:endParaRPr sz="13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make_video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/>
                        <a:t>슬라이드 이미지와 음성을 합쳐 슬라이드별 MP4 영상 생성</a:t>
                      </a:r>
                      <a:endParaRPr sz="13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concat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/>
                        <a:t>슬라이드별 영상들을 하나로 병합하여 최종 영상을 생성</a:t>
                      </a:r>
                      <a:endParaRPr sz="13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288918913_17_4"/>
          <p:cNvSpPr txBox="1">
            <a:spLocks noGrp="1"/>
          </p:cNvSpPr>
          <p:nvPr>
            <p:ph type="title"/>
          </p:nvPr>
        </p:nvSpPr>
        <p:spPr>
          <a:xfrm>
            <a:off x="315685" y="246783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프로젝트 결과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a288918913_17_4"/>
          <p:cNvSpPr/>
          <p:nvPr/>
        </p:nvSpPr>
        <p:spPr>
          <a:xfrm>
            <a:off x="7335440" y="1464440"/>
            <a:ext cx="4222576" cy="47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  <a:p>
            <a:pPr marL="457200" marR="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ko-KR" altLang="ko-KR" sz="1900" dirty="0"/>
              <a:t>평균 5 분의 짧은 시간 내에 손쉽게 참고 자료 생성</a:t>
            </a:r>
            <a:endParaRPr lang="en-US" altLang="ko-KR" sz="1900" dirty="0"/>
          </a:p>
          <a:p>
            <a:pPr marL="457200" marR="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endParaRPr lang="en-US" altLang="ko-KR" sz="2400" dirty="0"/>
          </a:p>
          <a:p>
            <a:pPr marL="457200" marR="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ko-KR" sz="1900" dirty="0">
                <a:solidFill>
                  <a:schemeClr val="dk1"/>
                </a:solidFill>
              </a:rPr>
              <a:t>옵션 설정을 통한 사용자 맞춤 스타일 발표 영상 제작</a:t>
            </a:r>
            <a:r>
              <a:rPr lang="en-US" altLang="ko-KR" sz="1900" dirty="0">
                <a:solidFill>
                  <a:schemeClr val="dk1"/>
                </a:solidFill>
              </a:rPr>
              <a:t> </a:t>
            </a:r>
          </a:p>
          <a:p>
            <a:pPr marL="457200" marR="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endParaRPr lang="en-US" altLang="ko-KR" sz="2400" dirty="0">
              <a:solidFill>
                <a:schemeClr val="dk1"/>
              </a:solidFill>
            </a:endParaRPr>
          </a:p>
          <a:p>
            <a:pPr marL="457200" marR="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ko-KR" sz="1900" dirty="0"/>
              <a:t>검색 &amp; 관련성 검토를</a:t>
            </a:r>
            <a:r>
              <a:rPr lang="en-US" altLang="ko-KR" sz="1900" dirty="0"/>
              <a:t> </a:t>
            </a:r>
            <a:r>
              <a:rPr lang="ko-KR" altLang="en-US" sz="1900" dirty="0"/>
              <a:t>통해</a:t>
            </a:r>
            <a:r>
              <a:rPr lang="ko-KR" sz="1900" dirty="0"/>
              <a:t> 대본 품질 향상</a:t>
            </a:r>
            <a:endParaRPr lang="en-US" altLang="ko-KR" sz="1900" dirty="0"/>
          </a:p>
          <a:p>
            <a:pPr marL="457200" marR="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endParaRPr lang="en-US" altLang="ko-KR" sz="2400" dirty="0"/>
          </a:p>
          <a:p>
            <a:pPr marL="457200" marR="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ko-KR" sz="1900" dirty="0"/>
              <a:t>영상 미리보기, 영상 &amp; 스크립트 저장 기능 제공</a:t>
            </a:r>
            <a:br>
              <a:rPr lang="ko-KR" sz="1900" dirty="0"/>
            </a:br>
            <a:br>
              <a:rPr lang="ko-KR" sz="1900" dirty="0"/>
            </a:br>
            <a:endParaRPr sz="1900" dirty="0"/>
          </a:p>
        </p:txBody>
      </p:sp>
      <p:pic>
        <p:nvPicPr>
          <p:cNvPr id="98" name="Google Shape;98;g3a288918913_17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600" y="1586875"/>
            <a:ext cx="6966851" cy="437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288918913_17_30"/>
          <p:cNvSpPr txBox="1">
            <a:spLocks noGrp="1"/>
          </p:cNvSpPr>
          <p:nvPr>
            <p:ph type="title"/>
          </p:nvPr>
        </p:nvSpPr>
        <p:spPr>
          <a:xfrm>
            <a:off x="315685" y="246783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프로젝트 결과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g3a288918913_17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600" y="1586875"/>
            <a:ext cx="6755574" cy="3957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a288918913_17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425" y="1464450"/>
            <a:ext cx="7130501" cy="45614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g3a288918913_17_4">
            <a:extLst>
              <a:ext uri="{FF2B5EF4-FFF2-40B4-BE49-F238E27FC236}">
                <a16:creationId xmlns:a16="http://schemas.microsoft.com/office/drawing/2014/main" id="{BCB2CFFC-C8CC-4D8B-9E9D-1FB34424D27F}"/>
              </a:ext>
            </a:extLst>
          </p:cNvPr>
          <p:cNvSpPr/>
          <p:nvPr/>
        </p:nvSpPr>
        <p:spPr>
          <a:xfrm>
            <a:off x="7335440" y="1464440"/>
            <a:ext cx="4189800" cy="47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  <a:p>
            <a:pPr marL="457200" marR="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ko-KR" sz="1900" dirty="0"/>
              <a:t>평균 5 분의 짧은 시간 내에 손쉽게 참고 자료 생성</a:t>
            </a:r>
            <a:endParaRPr lang="en-US" altLang="ko-KR" sz="1900" dirty="0"/>
          </a:p>
          <a:p>
            <a:pPr marL="457200" marR="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endParaRPr lang="en-US" altLang="ko-KR" sz="2400" dirty="0"/>
          </a:p>
          <a:p>
            <a:pPr marL="457200" marR="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ko-KR" sz="1900" dirty="0">
                <a:solidFill>
                  <a:schemeClr val="dk1"/>
                </a:solidFill>
              </a:rPr>
              <a:t>옵션 설정을 통한 사용자 맞춤 스타일 발표 영상 제작</a:t>
            </a:r>
            <a:r>
              <a:rPr lang="en-US" altLang="ko-KR" sz="1900" dirty="0">
                <a:solidFill>
                  <a:schemeClr val="dk1"/>
                </a:solidFill>
              </a:rPr>
              <a:t> </a:t>
            </a:r>
          </a:p>
          <a:p>
            <a:pPr marL="457200" marR="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endParaRPr lang="en-US" altLang="ko-KR" sz="2400" dirty="0">
              <a:solidFill>
                <a:schemeClr val="dk1"/>
              </a:solidFill>
            </a:endParaRPr>
          </a:p>
          <a:p>
            <a:pPr marL="457200" marR="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ko-KR" sz="1900" dirty="0"/>
              <a:t>검색 &amp; 관련성 검토를 </a:t>
            </a:r>
            <a:r>
              <a:rPr lang="ko-KR" altLang="en-US" sz="1900" dirty="0"/>
              <a:t>통해</a:t>
            </a:r>
            <a:r>
              <a:rPr lang="ko-KR" sz="1900" dirty="0"/>
              <a:t> 대본 품질 향상</a:t>
            </a:r>
            <a:endParaRPr lang="en-US" altLang="ko-KR" sz="1900" dirty="0"/>
          </a:p>
          <a:p>
            <a:pPr marL="457200" marR="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endParaRPr lang="en-US" altLang="ko-KR" sz="2400" dirty="0"/>
          </a:p>
          <a:p>
            <a:pPr marL="457200" marR="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ko-KR" sz="1900" dirty="0"/>
              <a:t>영상 미리보기, 영상 &amp; 스크립트 저장 기능 제공</a:t>
            </a:r>
            <a:br>
              <a:rPr lang="ko-KR" sz="1900" dirty="0"/>
            </a:br>
            <a:br>
              <a:rPr lang="ko-KR" sz="1900" dirty="0"/>
            </a:br>
            <a:endParaRPr sz="1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288918913_0_0"/>
          <p:cNvSpPr txBox="1">
            <a:spLocks noGrp="1"/>
          </p:cNvSpPr>
          <p:nvPr>
            <p:ph type="title"/>
          </p:nvPr>
        </p:nvSpPr>
        <p:spPr>
          <a:xfrm>
            <a:off x="315682" y="287375"/>
            <a:ext cx="23643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종합 결과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a288918913_0_0"/>
          <p:cNvSpPr/>
          <p:nvPr/>
        </p:nvSpPr>
        <p:spPr>
          <a:xfrm>
            <a:off x="315676" y="1931865"/>
            <a:ext cx="5731200" cy="4219200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a288918913_0_0"/>
          <p:cNvSpPr/>
          <p:nvPr/>
        </p:nvSpPr>
        <p:spPr>
          <a:xfrm>
            <a:off x="175950" y="1352550"/>
            <a:ext cx="118401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>
                <a:solidFill>
                  <a:schemeClr val="dk1"/>
                </a:solidFill>
              </a:rPr>
              <a:t>“ PPT 하나로 요약·대본·음성·영상이 자동 생성되는 통합 시스템 ”</a:t>
            </a:r>
            <a:endParaRPr sz="2100" b="1"/>
          </a:p>
        </p:txBody>
      </p:sp>
      <p:sp>
        <p:nvSpPr>
          <p:cNvPr id="114" name="Google Shape;114;g3a288918913_0_0"/>
          <p:cNvSpPr/>
          <p:nvPr/>
        </p:nvSpPr>
        <p:spPr>
          <a:xfrm>
            <a:off x="6158575" y="2009575"/>
            <a:ext cx="5857475" cy="40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dirty="0">
                <a:solidFill>
                  <a:schemeClr val="dk1"/>
                </a:solidFill>
              </a:rPr>
              <a:t>기대 효과 </a:t>
            </a:r>
            <a:endParaRPr sz="18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ko-KR" sz="1700" b="1" dirty="0">
                <a:solidFill>
                  <a:schemeClr val="dk1"/>
                </a:solidFill>
              </a:rPr>
              <a:t>강의 제작 시간 및 비용 절감</a:t>
            </a:r>
            <a:br>
              <a:rPr lang="ko-KR" sz="1700" b="1" dirty="0">
                <a:solidFill>
                  <a:schemeClr val="dk1"/>
                </a:solidFill>
              </a:rPr>
            </a:br>
            <a:br>
              <a:rPr lang="ko-KR" sz="1700" b="1" dirty="0">
                <a:solidFill>
                  <a:schemeClr val="dk1"/>
                </a:solidFill>
              </a:rPr>
            </a:br>
            <a:r>
              <a:rPr lang="ko-KR" sz="1600" dirty="0">
                <a:solidFill>
                  <a:schemeClr val="dk1"/>
                </a:solidFill>
              </a:rPr>
              <a:t>업무 부담을 줄이고, 인력 및 비용 효율 향상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</a:endParaRPr>
          </a:p>
          <a:p>
            <a:pPr marL="13335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</a:pPr>
            <a:r>
              <a:rPr lang="en-US" altLang="ko-KR" sz="1700" b="1" dirty="0">
                <a:solidFill>
                  <a:schemeClr val="dk1"/>
                </a:solidFill>
              </a:rPr>
              <a:t>2.  </a:t>
            </a:r>
            <a:r>
              <a:rPr lang="ko-KR" sz="1700" b="1" dirty="0">
                <a:solidFill>
                  <a:schemeClr val="dk1"/>
                </a:solidFill>
              </a:rPr>
              <a:t>강의 품질 및 목소리의 일관성 확보 </a:t>
            </a:r>
            <a:br>
              <a:rPr lang="ko-KR" sz="1700" b="1" dirty="0">
                <a:solidFill>
                  <a:schemeClr val="dk1"/>
                </a:solidFill>
              </a:rPr>
            </a:br>
            <a:br>
              <a:rPr lang="ko-KR" sz="1700" b="1" dirty="0">
                <a:solidFill>
                  <a:schemeClr val="dk1"/>
                </a:solidFill>
              </a:rPr>
            </a:br>
            <a:r>
              <a:rPr lang="en-US" altLang="ko-KR" sz="1700" b="1" dirty="0">
                <a:solidFill>
                  <a:schemeClr val="dk1"/>
                </a:solidFill>
              </a:rPr>
              <a:t>     </a:t>
            </a:r>
            <a:r>
              <a:rPr lang="ko-KR" sz="1600" dirty="0">
                <a:solidFill>
                  <a:schemeClr val="dk1"/>
                </a:solidFill>
              </a:rPr>
              <a:t>설정된 목소리와 스타일을 기반으로, 언제 제작하더라도 </a:t>
            </a:r>
            <a:endParaRPr lang="ko-KR" altLang="en-US" sz="16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chemeClr val="dk1"/>
                </a:solidFill>
              </a:rPr>
              <a:t>일정한 품질의 강의 영상 제공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C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dirty="0">
                <a:solidFill>
                  <a:schemeClr val="dk1"/>
                </a:solidFill>
              </a:rPr>
              <a:t>개선 사항 </a:t>
            </a:r>
            <a:endParaRPr sz="18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ko-KR" sz="1700" b="1" dirty="0">
                <a:solidFill>
                  <a:schemeClr val="dk1"/>
                </a:solidFill>
              </a:rPr>
              <a:t>목소리 톤의 일관성</a:t>
            </a:r>
            <a:endParaRPr sz="17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dirty="0">
                <a:solidFill>
                  <a:schemeClr val="dk1"/>
                </a:solidFill>
              </a:rPr>
              <a:t>         </a:t>
            </a:r>
            <a:r>
              <a:rPr lang="ko-KR" sz="1600" dirty="0">
                <a:solidFill>
                  <a:schemeClr val="dk1"/>
                </a:solidFill>
              </a:rPr>
              <a:t>페이지별 스크립트, 언어 차이에도 일관된 목소리 톤 유지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</p:txBody>
      </p:sp>
      <p:pic>
        <p:nvPicPr>
          <p:cNvPr id="2" name="영상.">
            <a:hlinkClick r:id="" action="ppaction://media"/>
            <a:extLst>
              <a:ext uri="{FF2B5EF4-FFF2-40B4-BE49-F238E27FC236}">
                <a16:creationId xmlns:a16="http://schemas.microsoft.com/office/drawing/2014/main" id="{04B26FA3-FF7C-495C-B0EB-477F249DBA1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15676" y="2343357"/>
            <a:ext cx="5717750" cy="32162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351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참조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673" y="1827650"/>
            <a:ext cx="4410925" cy="454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274444" y="1309275"/>
            <a:ext cx="214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/>
              <a:t>State 정의</a:t>
            </a:r>
            <a:endParaRPr sz="2000" b="1"/>
          </a:p>
        </p:txBody>
      </p:sp>
      <p:pic>
        <p:nvPicPr>
          <p:cNvPr id="123" name="Google Shape;12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373" y="1827650"/>
            <a:ext cx="6808600" cy="1593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8375" y="3469774"/>
            <a:ext cx="6808600" cy="28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4776530" y="1309275"/>
            <a:ext cx="347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/>
              <a:t>gradio 커스텀 설정</a:t>
            </a:r>
            <a:endParaRPr sz="2000" b="1"/>
          </a:p>
        </p:txBody>
      </p:sp>
      <p:sp>
        <p:nvSpPr>
          <p:cNvPr id="126" name="Google Shape;126;p5"/>
          <p:cNvSpPr/>
          <p:nvPr/>
        </p:nvSpPr>
        <p:spPr>
          <a:xfrm>
            <a:off x="2364544" y="1238500"/>
            <a:ext cx="214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288918913_1_27"/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참조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a288918913_1_27"/>
          <p:cNvSpPr/>
          <p:nvPr/>
        </p:nvSpPr>
        <p:spPr>
          <a:xfrm>
            <a:off x="298424" y="1309275"/>
            <a:ext cx="341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/>
              <a:t>검색 내용 관련도 판별</a:t>
            </a:r>
            <a:endParaRPr sz="2000" b="1"/>
          </a:p>
        </p:txBody>
      </p:sp>
      <p:sp>
        <p:nvSpPr>
          <p:cNvPr id="133" name="Google Shape;133;g3a288918913_1_27"/>
          <p:cNvSpPr/>
          <p:nvPr/>
        </p:nvSpPr>
        <p:spPr>
          <a:xfrm>
            <a:off x="4828874" y="1309275"/>
            <a:ext cx="341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1"/>
          </a:p>
        </p:txBody>
      </p:sp>
      <p:sp>
        <p:nvSpPr>
          <p:cNvPr id="134" name="Google Shape;134;g3a288918913_1_27"/>
          <p:cNvSpPr/>
          <p:nvPr/>
        </p:nvSpPr>
        <p:spPr>
          <a:xfrm>
            <a:off x="5242123" y="1336762"/>
            <a:ext cx="341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/>
              <a:t>사용자 입력 판별</a:t>
            </a:r>
            <a:endParaRPr sz="2000" b="1"/>
          </a:p>
        </p:txBody>
      </p:sp>
      <p:pic>
        <p:nvPicPr>
          <p:cNvPr id="135" name="Google Shape;135;g3a288918913_1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675" y="1861875"/>
            <a:ext cx="4873599" cy="434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a288918913_1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8950" y="1861875"/>
            <a:ext cx="6360300" cy="434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/>
        </p:nvSpPr>
        <p:spPr>
          <a:xfrm>
            <a:off x="3168600" y="1416925"/>
            <a:ext cx="9840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411</Words>
  <Application>Microsoft Office PowerPoint</Application>
  <PresentationFormat>와이드스크린</PresentationFormat>
  <Paragraphs>100</Paragraphs>
  <Slides>10</Slides>
  <Notes>10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Noto Sans Symbols</vt:lpstr>
      <vt:lpstr>Malgun Gothic</vt:lpstr>
      <vt:lpstr>Arial</vt:lpstr>
      <vt:lpstr>Calibri</vt:lpstr>
      <vt:lpstr>Office 테마</vt:lpstr>
      <vt:lpstr>PowerPoint 프레젠테이션</vt:lpstr>
      <vt:lpstr>PowerPoint 프레젠테이션</vt:lpstr>
      <vt:lpstr>1. 프로젝트 개요</vt:lpstr>
      <vt:lpstr>2. 시스템 개요</vt:lpstr>
      <vt:lpstr>3. 프로젝트 결과</vt:lpstr>
      <vt:lpstr>3. 프로젝트 결과</vt:lpstr>
      <vt:lpstr>4. 종합 결과</vt:lpstr>
      <vt:lpstr>참조</vt:lpstr>
      <vt:lpstr>참조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양시현</cp:lastModifiedBy>
  <cp:revision>4</cp:revision>
  <dcterms:modified xsi:type="dcterms:W3CDTF">2025-11-12T07:16:50Z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6c548c-0cd3-4220-987a-a58bfd9a89d4_Enabled">
    <vt:lpwstr>true</vt:lpwstr>
  </property>
  <property fmtid="{D5CDD505-2E9C-101B-9397-08002B2CF9AE}" pid="3" name="MSIP_Label_b16c548c-0cd3-4220-987a-a58bfd9a89d4_SetDate">
    <vt:lpwstr>2022-01-28T12:25:58Z</vt:lpwstr>
  </property>
  <property fmtid="{D5CDD505-2E9C-101B-9397-08002B2CF9AE}" pid="4" name="MSIP_Label_b16c548c-0cd3-4220-987a-a58bfd9a89d4_Method">
    <vt:lpwstr>Privileged</vt:lpwstr>
  </property>
  <property fmtid="{D5CDD505-2E9C-101B-9397-08002B2CF9AE}" pid="5" name="MSIP_Label_b16c548c-0cd3-4220-987a-a58bfd9a89d4_Name">
    <vt:lpwstr>b16c548c-0cd3-4220-987a-a58bfd9a89d4</vt:lpwstr>
  </property>
  <property fmtid="{D5CDD505-2E9C-101B-9397-08002B2CF9AE}" pid="6" name="MSIP_Label_b16c548c-0cd3-4220-987a-a58bfd9a89d4_SiteId">
    <vt:lpwstr>522a0f89-ae58-43b6-821b-2b06cecc7d8a</vt:lpwstr>
  </property>
  <property fmtid="{D5CDD505-2E9C-101B-9397-08002B2CF9AE}" pid="7" name="MSIP_Label_b16c548c-0cd3-4220-987a-a58bfd9a89d4_ActionId">
    <vt:lpwstr>0e831c6a-4daf-459e-a66c-38ad3bcc73cf</vt:lpwstr>
  </property>
  <property fmtid="{D5CDD505-2E9C-101B-9397-08002B2CF9AE}" pid="8" name="MSIP_Label_b16c548c-0cd3-4220-987a-a58bfd9a89d4_ContentBits">
    <vt:lpwstr>0</vt:lpwstr>
  </property>
  <property fmtid="{D5CDD505-2E9C-101B-9397-08002B2CF9AE}" pid="9" name="ContentTypeId">
    <vt:lpwstr>0x010100EEFD2EC9AE4E1C4E97A968ACD5F6A537</vt:lpwstr>
  </property>
  <property fmtid="{D5CDD505-2E9C-101B-9397-08002B2CF9AE}" pid="10" name="MediaServiceImageTags">
    <vt:lpwstr/>
  </property>
  <property fmtid="{D5CDD505-2E9C-101B-9397-08002B2CF9AE}" pid="11" name="Order">
    <vt:r8>126500</vt:r8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_ExtendedDescription">
    <vt:lpwstr/>
  </property>
  <property fmtid="{D5CDD505-2E9C-101B-9397-08002B2CF9AE}" pid="19" name="TriggerFlowInfo">
    <vt:lpwstr/>
  </property>
</Properties>
</file>