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1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3" autoAdjust="0"/>
    <p:restoredTop sz="96308" autoAdjust="0"/>
  </p:normalViewPr>
  <p:slideViewPr>
    <p:cSldViewPr snapToGrid="0">
      <p:cViewPr>
        <p:scale>
          <a:sx n="75" d="100"/>
          <a:sy n="75" d="100"/>
        </p:scale>
        <p:origin x="-13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53B18-47CF-44D9-9F0B-48048A136B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AE84D-0294-4BAD-8595-41CE6C39AD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9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4636-FED6-76AF-19BD-ABCC1782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C635-A223-4EA9-27CF-C9A6A075E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71DB6-2431-E89B-BE71-0CD8C354B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9AD14-8CB6-4A27-28F4-DEFBFD0D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B42A7-B73D-4614-9565-A5D40EC6072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86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7C4B0-C63A-461E-92C3-73A47967E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5AC385-88F4-4CAB-AF0E-0462DA7B5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809D83-1B4A-4FEA-98D3-979F28050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01F658-2578-4840-B545-02321ACE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22CA0-9A99-429D-A6F3-40EDFCF2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1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2D12E-DF70-44E3-8F7E-07ECD05A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1710E0-96DD-4C4A-AF43-7F728E4A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317F1-1EF9-4422-B908-AF33DC75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C537C-52F0-4A35-BFFD-01B98A5F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48A42-401E-4F85-AAD6-ADF731C9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60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1CE38-8260-4ED3-81E5-AB750B6B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FB02B-A4E8-4E36-9297-2AE63DD9E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5DF09-E5B6-4943-9274-844D401C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4BD8F-D4B6-42E1-A94C-4BD6BA81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2C157-F5CA-401E-BA99-A88E3759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89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0E1C-B312-4710-9358-FFBBFD3B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1C3FCE-5E7D-4B4A-8F4F-7ACC084A0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AC1A09-83CE-456E-BA03-1E120359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E2434-356F-4FA0-86DB-264514D6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07C0FF-F853-45AD-A485-3767E479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7B4594-B147-4C56-9A98-E578AE5F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08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3BDDE-2F0F-4092-B8A7-0BF0FCDC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FC4297-072D-4964-AEB4-A94E163D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454032-A98C-4A85-8D7F-88CC20789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6134F3-1975-44EB-BA14-D4A9A3C1A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61D761-5B5B-4C31-A5A4-10BB8730F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DDD575-ADAF-4A51-BD03-AFF94982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B7F1F-4D20-42E0-8269-0E910F18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677AB0-D27D-40F8-821A-775E435C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49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67015-C8A0-48DF-87A1-20A7619A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6AFF4B-0A51-4934-A36B-6174D74E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70CC12-1FC3-4B19-AAE0-67D3CEF5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98BB2B-8A26-44DF-B06C-5E483459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3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757959-17F9-4B92-A5D5-2CCB86DC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A7FB40-9BF8-46CB-AC24-00876A45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F0D8C-CA32-4973-BF4D-AAD72133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2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5561B-25B4-48D5-B0B7-7E5391FB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937E0-5448-45A7-AA0A-D38B114F6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9B9BE9-D0D3-4414-A124-0D2EE56EC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A915EB-081B-40BC-9496-772E5F50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A6B9A3-DC96-46D0-9D68-0CD2F36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E6961-B59C-4253-8BB0-6E9A71A2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99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DEA7D-9FCF-4ED6-9528-59D1047B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009AE8-0453-4FA0-B9EE-AE2FA205A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22B604-563A-426A-9176-ABF23B335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E37A86-ADBC-4F68-9B3D-00C95CF8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15C36F-18DD-4502-BAE2-103D9EC5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F45473-91DD-4F0A-B305-1151BE14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4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67736-C356-4128-8EA2-D8B2CF5B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AF9753-4F2E-4C96-BD44-74532CC5E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0B919E-91D9-4875-96A7-FC5A21B7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08CF8-2F60-4A5E-B030-E2B7247C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C1458-DB60-46DC-962E-EF2AC825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50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78D847-E13E-4032-B853-B4226D4DF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304ECE-FD08-4F3B-8089-A1BCE4167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DBA7D2-E609-47EB-9E2B-DA28CA44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81C85-7502-4FA0-9FF5-ED5F154B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197DD-0C43-4116-9B7C-D7C7943E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71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115330" y="1145059"/>
            <a:ext cx="11949670" cy="5347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122EFC-3B07-4178-A4AC-1F20091743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5DD47E-A522-4485-AFC6-9A240946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492875"/>
            <a:ext cx="2743200" cy="365125"/>
          </a:xfrm>
        </p:spPr>
        <p:txBody>
          <a:bodyPr/>
          <a:lstStyle/>
          <a:p>
            <a:fld id="{ACF2ED5F-30D5-46A4-8918-1B10B1CBCD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C293D3-8F33-4A27-B1A5-E1283496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307762" cy="4918075"/>
          </a:xfrm>
        </p:spPr>
        <p:txBody>
          <a:bodyPr/>
          <a:lstStyle>
            <a:lvl1pPr marL="0" indent="0">
              <a:buNone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04D7BD2C-A2D0-43AE-9801-01FB4870A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89BD57-C38F-4A22-B221-1D748B660B6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98DD4D61-B78F-4DE4-B542-FA722C9CF0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524C5287-3EF0-46F1-9C8E-A153AC1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</p:spPr>
        <p:txBody>
          <a:bodyPr>
            <a:normAutofit/>
          </a:bodyPr>
          <a:lstStyle>
            <a:lvl1pPr>
              <a:defRPr sz="3600" b="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1103457" y="1594968"/>
            <a:ext cx="720000" cy="720000"/>
          </a:xfrm>
          <a:prstGeom prst="roundRect">
            <a:avLst>
              <a:gd name="adj" fmla="val 0"/>
            </a:avLst>
          </a:pr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사각형: 둥근 모서리 19">
            <a:extLst>
              <a:ext uri="{FF2B5EF4-FFF2-40B4-BE49-F238E27FC236}">
                <a16:creationId xmlns:a16="http://schemas.microsoft.com/office/drawing/2014/main" id="{4F230E01-A89F-4EDB-BB4B-5ADAE1D315AF}"/>
              </a:ext>
            </a:extLst>
          </p:cNvPr>
          <p:cNvSpPr/>
          <p:nvPr userDrawn="1"/>
        </p:nvSpPr>
        <p:spPr>
          <a:xfrm>
            <a:off x="-1103457" y="674020"/>
            <a:ext cx="720000" cy="720000"/>
          </a:xfrm>
          <a:prstGeom prst="roundRect">
            <a:avLst>
              <a:gd name="adj" fmla="val 0"/>
            </a:avLst>
          </a:prstGeom>
          <a:solidFill>
            <a:srgbClr val="204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1103457" y="2515916"/>
            <a:ext cx="720000" cy="720000"/>
          </a:xfrm>
          <a:prstGeom prst="roundRect">
            <a:avLst>
              <a:gd name="adj" fmla="val 0"/>
            </a:avLst>
          </a:prstGeom>
          <a:solidFill>
            <a:srgbClr val="C7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1103457" y="3436864"/>
            <a:ext cx="720000" cy="720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1103457" y="4357812"/>
            <a:ext cx="720000" cy="720000"/>
          </a:xfrm>
          <a:prstGeom prst="roundRect">
            <a:avLst>
              <a:gd name="adj" fmla="val 0"/>
            </a:avLst>
          </a:prstGeom>
          <a:solidFill>
            <a:srgbClr val="FF5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076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28339C-08BD-4273-B1BB-FCAAC21B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9DD561-DD5A-484F-9235-B203D9B6E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50930-3312-4709-BE66-73FF504B1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F03A9-5470-45CC-BD03-62EDD8251AC2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BCBF9-BDF9-438E-B192-05999999D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FBC76C-CD1D-45BC-9CA0-1D3E7EAE8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41D17-26DB-47E9-A6E5-2282389A3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DC4FB-5C92-A738-9122-991E0792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AE8EDF-D60E-DB2A-034B-46C90E7C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나눔스퀘어 ExtraBold"/>
              </a:rPr>
              <a:t>빅프로젝트</a:t>
            </a:r>
            <a:r>
              <a:rPr lang="ko-KR" altLang="en-US" dirty="0">
                <a:ea typeface="나눔스퀘어 ExtraBold"/>
              </a:rPr>
              <a:t> </a:t>
            </a:r>
            <a:r>
              <a:rPr lang="en-US" altLang="ko-KR" dirty="0">
                <a:ea typeface="나눔스퀘어 ExtraBold"/>
              </a:rPr>
              <a:t>case study </a:t>
            </a:r>
            <a:r>
              <a:rPr lang="ko-KR" altLang="en-US" dirty="0">
                <a:ea typeface="나눔스퀘어 ExtraBold"/>
              </a:rPr>
              <a:t>결과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45E997-5A38-7A47-868E-412773E33C1D}"/>
              </a:ext>
            </a:extLst>
          </p:cNvPr>
          <p:cNvSpPr txBox="1"/>
          <p:nvPr/>
        </p:nvSpPr>
        <p:spPr>
          <a:xfrm>
            <a:off x="177799" y="2735361"/>
            <a:ext cx="5795173" cy="37274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06DF768D-B6E7-B6DF-EC11-E4BB98501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050812"/>
              </p:ext>
            </p:extLst>
          </p:nvPr>
        </p:nvGraphicFramePr>
        <p:xfrm>
          <a:off x="177799" y="1255663"/>
          <a:ext cx="11740303" cy="12553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12725">
                  <a:extLst>
                    <a:ext uri="{9D8B030D-6E8A-4147-A177-3AD203B41FA5}">
                      <a16:colId xmlns:a16="http://schemas.microsoft.com/office/drawing/2014/main" val="862164936"/>
                    </a:ext>
                  </a:extLst>
                </a:gridCol>
                <a:gridCol w="1036838">
                  <a:extLst>
                    <a:ext uri="{9D8B030D-6E8A-4147-A177-3AD203B41FA5}">
                      <a16:colId xmlns:a16="http://schemas.microsoft.com/office/drawing/2014/main" val="3061724768"/>
                    </a:ext>
                  </a:extLst>
                </a:gridCol>
                <a:gridCol w="927697">
                  <a:extLst>
                    <a:ext uri="{9D8B030D-6E8A-4147-A177-3AD203B41FA5}">
                      <a16:colId xmlns:a16="http://schemas.microsoft.com/office/drawing/2014/main" val="2540710567"/>
                    </a:ext>
                  </a:extLst>
                </a:gridCol>
                <a:gridCol w="2494812">
                  <a:extLst>
                    <a:ext uri="{9D8B030D-6E8A-4147-A177-3AD203B41FA5}">
                      <a16:colId xmlns:a16="http://schemas.microsoft.com/office/drawing/2014/main" val="3573119198"/>
                    </a:ext>
                  </a:extLst>
                </a:gridCol>
                <a:gridCol w="1976034">
                  <a:extLst>
                    <a:ext uri="{9D8B030D-6E8A-4147-A177-3AD203B41FA5}">
                      <a16:colId xmlns:a16="http://schemas.microsoft.com/office/drawing/2014/main" val="3637560672"/>
                    </a:ext>
                  </a:extLst>
                </a:gridCol>
                <a:gridCol w="1204470">
                  <a:extLst>
                    <a:ext uri="{9D8B030D-6E8A-4147-A177-3AD203B41FA5}">
                      <a16:colId xmlns:a16="http://schemas.microsoft.com/office/drawing/2014/main" val="705016129"/>
                    </a:ext>
                  </a:extLst>
                </a:gridCol>
                <a:gridCol w="2987727">
                  <a:extLst>
                    <a:ext uri="{9D8B030D-6E8A-4147-A177-3AD203B41FA5}">
                      <a16:colId xmlns:a16="http://schemas.microsoft.com/office/drawing/2014/main" val="63699008"/>
                    </a:ext>
                  </a:extLst>
                </a:gridCol>
              </a:tblGrid>
              <a:tr h="46562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기수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트랙</a:t>
                      </a: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조</a:t>
                      </a: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effectLst/>
                          <a:ea typeface="나눔스퀘어" panose="020B0600000101010101"/>
                        </a:rPr>
                        <a:t>과제명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ea typeface="나눔스퀘어" panose="020B0600000101010101"/>
                        </a:rPr>
                        <a:t> 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고객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</a:rPr>
                        <a:t>타겟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나눔스퀘어" panose="020B0600000101010101"/>
                        </a:rPr>
                        <a:t>BM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나눔스퀘어" panose="020B0600000101010101"/>
                        </a:rPr>
                        <a:t>AI 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ea typeface="나눔스퀘어" panose="020B0600000101010101"/>
                        </a:rPr>
                        <a:t>기능 상세 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나눔스퀘어" panose="020B0600000101010101"/>
                        </a:rPr>
                        <a:t>/ 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ea typeface="나눔스퀘어" panose="020B0600000101010101"/>
                        </a:rPr>
                        <a:t>참고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76593"/>
                  </a:ext>
                </a:extLst>
              </a:tr>
              <a:tr h="618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effectLst/>
                        </a:rPr>
                        <a:t>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effectLst/>
                        </a:rPr>
                        <a:t>AI</a:t>
                      </a:r>
                      <a:endParaRPr lang="ko-KR" alt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ko-KR" alt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altLang="ko-KR" sz="1100" dirty="0"/>
                        <a:t>AI </a:t>
                      </a:r>
                      <a:r>
                        <a:rPr lang="ko-KR" altLang="en-US" sz="1100" dirty="0"/>
                        <a:t>기반 자동차 스마트 팩토리 공정별 결함 탐지 및 모니터링 플랫폼</a:t>
                      </a:r>
                      <a:endParaRPr lang="ko-KR" alt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effectLst/>
                        </a:rPr>
                        <a:t>현대 자동차</a:t>
                      </a: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effectLst/>
                        </a:rPr>
                        <a:t>스마트 공간</a:t>
                      </a: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/>
                        <a:t>ㅇ</a:t>
                      </a:r>
                      <a:r>
                        <a:rPr lang="ko-KR" altLang="en-US" sz="1100" dirty="0"/>
                        <a:t> 공정 유압 펌프 및 생산품 결함 탐지 </a:t>
                      </a:r>
                      <a:endParaRPr lang="en-US" altLang="ko-KR" sz="1100" dirty="0"/>
                    </a:p>
                    <a:p>
                      <a:pPr marL="0" lvl="0" indent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/>
                        <a:t>ㅇ</a:t>
                      </a:r>
                      <a:r>
                        <a:rPr lang="ko-KR" altLang="en-US" sz="1100" dirty="0"/>
                        <a:t> 로봇 </a:t>
                      </a:r>
                      <a:r>
                        <a:rPr lang="ko-KR" altLang="en-US" sz="1100" dirty="0" err="1"/>
                        <a:t>용접기</a:t>
                      </a:r>
                      <a:r>
                        <a:rPr lang="ko-KR" altLang="en-US" sz="1100" dirty="0"/>
                        <a:t> 및 의장 부품 품질 결함 탐지 </a:t>
                      </a:r>
                      <a:endParaRPr lang="en-US" altLang="ko-KR" sz="1100" dirty="0"/>
                    </a:p>
                    <a:p>
                      <a:pPr marL="0" lvl="0" indent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/>
                        <a:t>ㅇ</a:t>
                      </a:r>
                      <a:r>
                        <a:rPr lang="ko-KR" altLang="en-US" sz="1100" dirty="0"/>
                        <a:t> 도장 공정 표면 및 공정 설비 이상 탐지 </a:t>
                      </a:r>
                      <a:endParaRPr lang="en-US" altLang="ko-KR" sz="1100" dirty="0"/>
                    </a:p>
                    <a:p>
                      <a:pPr marL="0" lvl="0" indent="0" fontAlgn="base">
                        <a:lnSpc>
                          <a:spcPts val="13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/>
                        <a:t>ㅇ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챗봇을</a:t>
                      </a:r>
                      <a:r>
                        <a:rPr lang="ko-KR" altLang="en-US" sz="1100" dirty="0"/>
                        <a:t> 통한 결함 탐지 리포트 생성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41291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9CE627B-7D70-0292-AC89-21C37C547FAA}"/>
              </a:ext>
            </a:extLst>
          </p:cNvPr>
          <p:cNvSpPr txBox="1"/>
          <p:nvPr/>
        </p:nvSpPr>
        <p:spPr>
          <a:xfrm>
            <a:off x="5927060" y="2735361"/>
            <a:ext cx="5843491" cy="369331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40B37F-95A5-A71E-CE56-41870FAA910D}"/>
              </a:ext>
            </a:extLst>
          </p:cNvPr>
          <p:cNvSpPr txBox="1"/>
          <p:nvPr/>
        </p:nvSpPr>
        <p:spPr>
          <a:xfrm>
            <a:off x="1378616" y="2550695"/>
            <a:ext cx="3140243" cy="369332"/>
          </a:xfrm>
          <a:prstGeom prst="rect">
            <a:avLst/>
          </a:prstGeom>
          <a:solidFill>
            <a:srgbClr val="30AE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내가 이 과제에서 배운 점</a:t>
            </a:r>
            <a:r>
              <a:rPr lang="en-US" altLang="ko-KR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r>
              <a:rPr lang="ko-KR" altLang="en-US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6B3580-5028-7D9E-3D81-1040EF8003A8}"/>
              </a:ext>
            </a:extLst>
          </p:cNvPr>
          <p:cNvSpPr txBox="1"/>
          <p:nvPr/>
        </p:nvSpPr>
        <p:spPr>
          <a:xfrm>
            <a:off x="7553157" y="2550695"/>
            <a:ext cx="3140243" cy="369332"/>
          </a:xfrm>
          <a:prstGeom prst="rect">
            <a:avLst/>
          </a:prstGeom>
          <a:solidFill>
            <a:srgbClr val="30AE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내가 이 과제를 보완한다면</a:t>
            </a:r>
            <a:r>
              <a:rPr lang="en-US" altLang="ko-KR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?]</a:t>
            </a:r>
            <a:endParaRPr lang="ko-KR" altLang="en-US" b="1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AE747-E217-995D-588D-C5EC44A308C0}"/>
              </a:ext>
            </a:extLst>
          </p:cNvPr>
          <p:cNvSpPr txBox="1"/>
          <p:nvPr/>
        </p:nvSpPr>
        <p:spPr>
          <a:xfrm>
            <a:off x="252509" y="2920027"/>
            <a:ext cx="55483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명확한 문제 정의와 비즈니스 연계성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en-US" altLang="ko-KR" sz="1600" dirty="0"/>
              <a:t>“</a:t>
            </a:r>
            <a:r>
              <a:rPr lang="ko-KR" altLang="en-US" sz="1600" dirty="0"/>
              <a:t>시간당 </a:t>
            </a:r>
            <a:r>
              <a:rPr lang="en-US" altLang="ko-KR" sz="1600" dirty="0"/>
              <a:t>230</a:t>
            </a:r>
            <a:r>
              <a:rPr lang="ko-KR" altLang="en-US" sz="1600" dirty="0"/>
              <a:t>만 달러 손실</a:t>
            </a:r>
            <a:r>
              <a:rPr lang="en-US" altLang="ko-KR" sz="1600" dirty="0"/>
              <a:t>”, “</a:t>
            </a:r>
            <a:r>
              <a:rPr lang="ko-KR" altLang="en-US" sz="1600" dirty="0"/>
              <a:t>가동 중단 </a:t>
            </a:r>
            <a:r>
              <a:rPr lang="en-US" altLang="ko-KR" sz="1600" dirty="0"/>
              <a:t>23% </a:t>
            </a:r>
            <a:r>
              <a:rPr lang="ko-KR" altLang="en-US" sz="1600" dirty="0"/>
              <a:t>인적 오류</a:t>
            </a:r>
            <a:r>
              <a:rPr lang="en-US" altLang="ko-KR" sz="1600" dirty="0"/>
              <a:t>”</a:t>
            </a:r>
            <a:r>
              <a:rPr lang="ko-KR" altLang="en-US" sz="1600" dirty="0"/>
              <a:t> 등 수치 기반으로 문제를 구체화하고</a:t>
            </a:r>
            <a:r>
              <a:rPr lang="en-US" altLang="ko-KR" sz="1600" dirty="0"/>
              <a:t>, </a:t>
            </a:r>
            <a:r>
              <a:rPr lang="ko-KR" altLang="en-US" sz="1600" b="1" dirty="0"/>
              <a:t>비용 절감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오류 감소</a:t>
            </a:r>
            <a:r>
              <a:rPr lang="ko-KR" altLang="en-US" sz="1600" dirty="0"/>
              <a:t>라는 명확한 비즈니스 목표 정함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전체 공정 흐름 기반의 분석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ko-KR" altLang="en-US" sz="1600" dirty="0"/>
              <a:t>자동차 제조의 핵심 공정</a:t>
            </a:r>
            <a:r>
              <a:rPr lang="en-US" altLang="ko-KR" sz="1600" dirty="0"/>
              <a:t>(</a:t>
            </a:r>
            <a:r>
              <a:rPr lang="ko-KR" altLang="en-US" sz="1600" dirty="0"/>
              <a:t>프레스</a:t>
            </a:r>
            <a:r>
              <a:rPr lang="en-US" altLang="ko-KR" sz="1600" dirty="0"/>
              <a:t>, </a:t>
            </a:r>
            <a:r>
              <a:rPr lang="ko-KR" altLang="en-US" sz="1600" dirty="0"/>
              <a:t>차체</a:t>
            </a:r>
            <a:r>
              <a:rPr lang="en-US" altLang="ko-KR" sz="1600" dirty="0"/>
              <a:t>, </a:t>
            </a:r>
            <a:r>
              <a:rPr lang="ko-KR" altLang="en-US" sz="1600" dirty="0"/>
              <a:t>도장</a:t>
            </a:r>
            <a:r>
              <a:rPr lang="en-US" altLang="ko-KR" sz="1600" dirty="0"/>
              <a:t>, </a:t>
            </a:r>
            <a:r>
              <a:rPr lang="ko-KR" altLang="en-US" sz="1600" dirty="0"/>
              <a:t>의장</a:t>
            </a:r>
            <a:r>
              <a:rPr lang="en-US" altLang="ko-KR" sz="1600" dirty="0"/>
              <a:t>)</a:t>
            </a:r>
            <a:r>
              <a:rPr lang="ko-KR" altLang="en-US" sz="1600" dirty="0"/>
              <a:t> 모두를 대상으로 </a:t>
            </a:r>
            <a:r>
              <a:rPr lang="ko-KR" altLang="en-US" sz="1600" b="1" dirty="0"/>
              <a:t>전체 생산 라인을 통합적으로 분석</a:t>
            </a:r>
            <a:r>
              <a:rPr lang="ko-KR" altLang="en-US" sz="1600" dirty="0"/>
              <a:t>하여 기존 서비스의 문제를 해결하려 함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AI </a:t>
            </a:r>
            <a:r>
              <a:rPr lang="ko-KR" altLang="en-US" sz="1600" b="1" dirty="0"/>
              <a:t>기반 워크플로우 개선 제안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ko-KR" altLang="en-US" sz="1600" dirty="0"/>
              <a:t>단순한 결함 탐지를 넘어</a:t>
            </a:r>
            <a:r>
              <a:rPr lang="en-US" altLang="ko-KR" sz="1600" dirty="0"/>
              <a:t>, </a:t>
            </a:r>
            <a:r>
              <a:rPr lang="ko-KR" altLang="en-US" sz="1600" b="1" dirty="0"/>
              <a:t>수동 대응</a:t>
            </a:r>
            <a:r>
              <a:rPr lang="ko-KR" altLang="en-US" sz="1600" dirty="0"/>
              <a:t>과 </a:t>
            </a:r>
            <a:r>
              <a:rPr lang="ko-KR" altLang="en-US" sz="1600" b="1" dirty="0"/>
              <a:t>정보 단절</a:t>
            </a:r>
            <a:r>
              <a:rPr lang="ko-KR" altLang="en-US" sz="1600" dirty="0"/>
              <a:t> 문제를 해결하기 위해 </a:t>
            </a:r>
            <a:r>
              <a:rPr lang="ko-KR" altLang="en-US" sz="1600" dirty="0" err="1"/>
              <a:t>챗봇을</a:t>
            </a:r>
            <a:r>
              <a:rPr lang="ko-KR" altLang="en-US" sz="1600" dirty="0"/>
              <a:t> </a:t>
            </a:r>
            <a:r>
              <a:rPr lang="ko-KR" altLang="en-US" sz="1600" b="1" dirty="0"/>
              <a:t>통합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안전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기술문의형</a:t>
            </a:r>
            <a:r>
              <a:rPr lang="ko-KR" altLang="en-US" sz="1600" dirty="0"/>
              <a:t>으로 세분화하여 가이드를 제공해 사용자의 접근성을 높임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2F278-D597-4791-212A-778B14C90F1F}"/>
              </a:ext>
            </a:extLst>
          </p:cNvPr>
          <p:cNvSpPr txBox="1"/>
          <p:nvPr/>
        </p:nvSpPr>
        <p:spPr>
          <a:xfrm>
            <a:off x="6222158" y="2939149"/>
            <a:ext cx="55483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기대 효과 구체화</a:t>
            </a:r>
            <a:r>
              <a:rPr lang="en-US" altLang="ko-KR" sz="1600" b="1" dirty="0"/>
              <a:t>:</a:t>
            </a:r>
            <a:br>
              <a:rPr lang="ko-KR" altLang="en-US" sz="1600" dirty="0"/>
            </a:br>
            <a:r>
              <a:rPr lang="ko-KR" altLang="en-US" sz="1600" dirty="0"/>
              <a:t>현재 문제는 구체적으로 제시되어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적용시 기대효과가 불량률 </a:t>
            </a:r>
            <a:r>
              <a:rPr lang="en-US" altLang="ko-KR" sz="1600" dirty="0"/>
              <a:t>85% </a:t>
            </a:r>
            <a:r>
              <a:rPr lang="ko-KR" altLang="en-US" sz="1600" dirty="0"/>
              <a:t>감소라고 만 적혀 있지만 </a:t>
            </a:r>
            <a:r>
              <a:rPr lang="en-US" altLang="ko-KR" sz="1600" b="1" dirty="0"/>
              <a:t>AI </a:t>
            </a:r>
            <a:r>
              <a:rPr lang="ko-KR" altLang="en-US" sz="1600" b="1" dirty="0" err="1"/>
              <a:t>탐지율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95% </a:t>
            </a:r>
            <a:r>
              <a:rPr lang="ko-KR" altLang="en-US" sz="1600" b="1" dirty="0"/>
              <a:t>달성을 통한 불량률 </a:t>
            </a:r>
            <a:r>
              <a:rPr lang="en-US" altLang="ko-KR" sz="1600" b="1" dirty="0"/>
              <a:t>85% </a:t>
            </a:r>
            <a:r>
              <a:rPr lang="ko-KR" altLang="en-US" sz="1600" b="1" dirty="0"/>
              <a:t>감소로</a:t>
            </a:r>
            <a:r>
              <a:rPr lang="en-US" altLang="ko-KR" sz="1600" dirty="0"/>
              <a:t> </a:t>
            </a:r>
            <a:r>
              <a:rPr lang="ko-KR" altLang="en-US" sz="1600" b="1" dirty="0"/>
              <a:t>연간 </a:t>
            </a:r>
            <a:r>
              <a:rPr lang="en-US" altLang="ko-KR" sz="1600" b="1" dirty="0"/>
              <a:t>OO</a:t>
            </a:r>
            <a:r>
              <a:rPr lang="ko-KR" altLang="en-US" sz="1600" b="1" dirty="0"/>
              <a:t>억 원 절감</a:t>
            </a:r>
            <a:r>
              <a:rPr lang="ko-KR" altLang="en-US" sz="1600" dirty="0"/>
              <a:t> 등으로 </a:t>
            </a:r>
            <a:r>
              <a:rPr lang="ko-KR" altLang="en-US" sz="1600" b="1" dirty="0"/>
              <a:t>절감 비용을 구체적인 수치로 표현</a:t>
            </a:r>
            <a:r>
              <a:rPr lang="ko-KR" altLang="en-US" sz="1600" dirty="0"/>
              <a:t>하면 프로젝트의 실질적 효과와 설득력이 크게 강화될 것임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통합 공정 분석 강화</a:t>
            </a:r>
            <a:br>
              <a:rPr lang="ko-KR" altLang="en-US" sz="1600" dirty="0"/>
            </a:br>
            <a:r>
              <a:rPr lang="en-US" altLang="ko-KR" sz="1600" dirty="0"/>
              <a:t>AI </a:t>
            </a:r>
            <a:r>
              <a:rPr lang="ko-KR" altLang="en-US" sz="1600" dirty="0"/>
              <a:t>모델은 각 공정에서 독립적으로 작동지만 </a:t>
            </a:r>
            <a:r>
              <a:rPr lang="ko-KR" altLang="en-US" sz="1600" b="1" dirty="0"/>
              <a:t>프레스 공정의 결함 데이터가 차체 공정 모델 분석에 반영</a:t>
            </a:r>
            <a:r>
              <a:rPr lang="ko-KR" altLang="en-US" sz="1600" dirty="0"/>
              <a:t>되는 식으로</a:t>
            </a:r>
            <a:r>
              <a:rPr lang="en-US" altLang="ko-KR" sz="1600" dirty="0"/>
              <a:t>, </a:t>
            </a:r>
            <a:r>
              <a:rPr lang="ko-KR" altLang="en-US" sz="1600" b="1" dirty="0"/>
              <a:t>공정 간 데이터를 연결</a:t>
            </a:r>
            <a:r>
              <a:rPr lang="ko-KR" altLang="en-US" sz="1600" dirty="0"/>
              <a:t>했다면</a:t>
            </a:r>
            <a:r>
              <a:rPr lang="en-US" altLang="ko-KR" sz="1600" dirty="0"/>
              <a:t>, </a:t>
            </a:r>
            <a:r>
              <a:rPr lang="ko-KR" altLang="en-US" sz="1600" dirty="0"/>
              <a:t>보다 차별화된 </a:t>
            </a:r>
            <a:r>
              <a:rPr lang="ko-KR" altLang="en-US" sz="1600" b="1" dirty="0"/>
              <a:t>스마트 팩토리 솔루션</a:t>
            </a:r>
            <a:r>
              <a:rPr lang="ko-KR" altLang="en-US" sz="1600" dirty="0"/>
              <a:t>이 될 수 </a:t>
            </a:r>
            <a:r>
              <a:rPr lang="ko-KR" altLang="en-US" sz="1600"/>
              <a:t>있었을 것으로 보임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8677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54F1DDE2E9E6041BD9B0202DD7C046A" ma:contentTypeVersion="3" ma:contentTypeDescription="새 문서를 만듭니다." ma:contentTypeScope="" ma:versionID="b20fbd9255eb0e6a140ba9c791532538">
  <xsd:schema xmlns:xsd="http://www.w3.org/2001/XMLSchema" xmlns:xs="http://www.w3.org/2001/XMLSchema" xmlns:p="http://schemas.microsoft.com/office/2006/metadata/properties" xmlns:ns2="8565d203-b98e-4f74-a725-581e0c199b66" targetNamespace="http://schemas.microsoft.com/office/2006/metadata/properties" ma:root="true" ma:fieldsID="de045fe1b40ce59b81daa3ba7fedea46" ns2:_="">
    <xsd:import namespace="8565d203-b98e-4f74-a725-581e0c199b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5d203-b98e-4f74-a725-581e0c199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E848D2-C779-499A-B395-D076BB8186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AFF1A0-4D7A-46D1-B339-FD46197002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ED0245E-CE52-4263-8D40-A21458D04A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65d203-b98e-4f74-a725-581e0c199b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270</Words>
  <Application>Microsoft Office PowerPoint</Application>
  <PresentationFormat>와이드스크린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</vt:lpstr>
      <vt:lpstr>나눔스퀘어 ExtraBold</vt:lpstr>
      <vt:lpstr>맑은 고딕</vt:lpstr>
      <vt:lpstr>Arial</vt:lpstr>
      <vt:lpstr>Calibri</vt:lpstr>
      <vt:lpstr>Office 테마</vt:lpstr>
      <vt:lpstr>빅프로젝트 case study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빅프로젝트 case study 결과(양식)</dc:title>
  <dc:creator>매니저 정하늘</dc:creator>
  <cp:lastModifiedBy>양시현</cp:lastModifiedBy>
  <cp:revision>12</cp:revision>
  <dcterms:created xsi:type="dcterms:W3CDTF">2025-11-05T07:28:23Z</dcterms:created>
  <dcterms:modified xsi:type="dcterms:W3CDTF">2025-11-13T01:43:15Z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0x010100D54F1DDE2E9E6041BD9B0202DD7C046A</vt:lpwstr>
  </property>
</Properties>
</file>