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5dtef3wi9CpkcSHKbp8cMKbbu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C6DBE3-3472-4BB2-93E2-59B8FC69BEC3}">
  <a:tblStyle styleId="{3EC6DBE3-3472-4BB2-93E2-59B8FC69BE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D46ECFF-8A94-4A8C-8B25-9E2163D7412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204" y="8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" name="Google Shape;4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d064bc89b_7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g36d064bc89b_7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g36d064bc89b_7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839867623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67" name="Google Shape;67;g3983986762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839867623_1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73" name="Google Shape;73;g39839867623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839867623_1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latin typeface="Arial"/>
                <a:ea typeface="Arial"/>
                <a:cs typeface="Arial"/>
                <a:sym typeface="Arial"/>
              </a:rPr>
              <a:t>3.    리뷰, 게시글, 고객센터 데이터를 실시간 분석해 속성별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latin typeface="Arial"/>
                <a:ea typeface="Arial"/>
                <a:cs typeface="Arial"/>
                <a:sym typeface="Arial"/>
              </a:rPr>
              <a:t>       감정 모니터링 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latin typeface="Arial"/>
                <a:ea typeface="Arial"/>
                <a:cs typeface="Arial"/>
                <a:sym typeface="Arial"/>
              </a:rPr>
              <a:t>      -&gt; 수작업에서 자동화 시스템으로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79" name="Google Shape;79;g39839867623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  <a:defRPr sz="180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9"/>
          <p:cNvPicPr preferRelativeResize="0"/>
          <p:nvPr/>
        </p:nvPicPr>
        <p:blipFill rotWithShape="1">
          <a:blip r:embed="rId2">
            <a:alphaModFix/>
          </a:blip>
          <a:srcRect t="67715" b="21944"/>
          <a:stretch/>
        </p:blipFill>
        <p:spPr>
          <a:xfrm>
            <a:off x="0" y="3596531"/>
            <a:ext cx="12192000" cy="2859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9"/>
          <p:cNvPicPr preferRelativeResize="0"/>
          <p:nvPr/>
        </p:nvPicPr>
        <p:blipFill rotWithShape="1">
          <a:blip r:embed="rId2">
            <a:alphaModFix/>
          </a:blip>
          <a:srcRect t="25551" b="21944"/>
          <a:stretch/>
        </p:blipFill>
        <p:spPr>
          <a:xfrm>
            <a:off x="0" y="0"/>
            <a:ext cx="12192000" cy="3600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 t="67715" b="21944"/>
          <a:stretch/>
        </p:blipFill>
        <p:spPr>
          <a:xfrm>
            <a:off x="0" y="6148873"/>
            <a:ext cx="12192000" cy="70912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532456" y="510866"/>
            <a:ext cx="10821346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1" name="Google Shape;21;p9"/>
          <p:cNvCxnSpPr>
            <a:stCxn id="19" idx="1"/>
            <a:endCxn id="19" idx="3"/>
          </p:cNvCxnSpPr>
          <p:nvPr/>
        </p:nvCxnSpPr>
        <p:spPr>
          <a:xfrm>
            <a:off x="0" y="6503437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" name="Google Shape;22;p9"/>
          <p:cNvSpPr txBox="1"/>
          <p:nvPr/>
        </p:nvSpPr>
        <p:spPr>
          <a:xfrm>
            <a:off x="11266756" y="6559088"/>
            <a:ext cx="755737" cy="15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ko-KR" sz="1022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22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9"/>
          <p:cNvSpPr/>
          <p:nvPr/>
        </p:nvSpPr>
        <p:spPr>
          <a:xfrm>
            <a:off x="210470" y="6559088"/>
            <a:ext cx="355657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Arial"/>
              <a:buNone/>
            </a:pPr>
            <a:r>
              <a:rPr lang="ko-KR" sz="1292" b="1" i="0" u="none" strike="noStrike" cap="none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KT AIVLE School</a:t>
            </a:r>
            <a:endParaRPr sz="1723" b="0" i="0" u="none" strike="noStrike" cap="none">
              <a:solidFill>
                <a:srgbClr val="34AE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9"/>
          <p:cNvSpPr txBox="1">
            <a:spLocks noGrp="1"/>
          </p:cNvSpPr>
          <p:nvPr>
            <p:ph type="body" idx="1"/>
          </p:nvPr>
        </p:nvSpPr>
        <p:spPr>
          <a:xfrm>
            <a:off x="553369" y="1338454"/>
            <a:ext cx="10757098" cy="65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954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9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72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9"/>
          <p:cNvSpPr/>
          <p:nvPr/>
        </p:nvSpPr>
        <p:spPr>
          <a:xfrm>
            <a:off x="169507" y="1142862"/>
            <a:ext cx="11852986" cy="52747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26;p9"/>
          <p:cNvCxnSpPr/>
          <p:nvPr/>
        </p:nvCxnSpPr>
        <p:spPr>
          <a:xfrm rot="10800000">
            <a:off x="-5" y="1046297"/>
            <a:ext cx="12192005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7" name="Google Shape;2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455" y="126128"/>
            <a:ext cx="1068038" cy="24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37679" y="404873"/>
            <a:ext cx="131450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0"/>
          <p:cNvSpPr/>
          <p:nvPr/>
        </p:nvSpPr>
        <p:spPr>
          <a:xfrm>
            <a:off x="7873572" y="3492799"/>
            <a:ext cx="2741372" cy="24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9"/>
              <a:buFont typeface="Arial"/>
              <a:buNone/>
            </a:pPr>
            <a:r>
              <a:rPr lang="ko-KR" sz="196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Make it possible</a:t>
            </a:r>
            <a:endParaRPr sz="172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0" descr="텍스트, 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2094" y="2907769"/>
            <a:ext cx="2372373" cy="496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24561"/>
            <a:ext cx="12192000" cy="7502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269241" y="1189178"/>
            <a:ext cx="11653522" cy="68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393700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8645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3692308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54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56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70967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sz="27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0042" algn="l" rtl="0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sz="21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7660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7660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>
            <a:spLocks noGrp="1"/>
          </p:cNvSpPr>
          <p:nvPr>
            <p:ph type="title"/>
          </p:nvPr>
        </p:nvSpPr>
        <p:spPr>
          <a:xfrm>
            <a:off x="269241" y="2084172"/>
            <a:ext cx="11653522" cy="116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sz="70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613" y="402965"/>
            <a:ext cx="106803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"/>
          <p:cNvSpPr/>
          <p:nvPr/>
        </p:nvSpPr>
        <p:spPr>
          <a:xfrm>
            <a:off x="9765915" y="6335312"/>
            <a:ext cx="222736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Make it possible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1" descr="텍스트, 클립아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10964" y="5829300"/>
            <a:ext cx="1927553" cy="4176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" name="Google Shape;50;p1"/>
          <p:cNvCxnSpPr/>
          <p:nvPr/>
        </p:nvCxnSpPr>
        <p:spPr>
          <a:xfrm>
            <a:off x="862205" y="2286000"/>
            <a:ext cx="0" cy="1069750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" name="Google Shape;51;p1"/>
          <p:cNvSpPr txBox="1"/>
          <p:nvPr/>
        </p:nvSpPr>
        <p:spPr>
          <a:xfrm>
            <a:off x="983632" y="2223951"/>
            <a:ext cx="8245702" cy="120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개발자 트랙 미니프로젝트  2차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1"/>
              <a:t>2차 미니프로젝트</a:t>
            </a:r>
            <a:r>
              <a:rPr lang="ko-KR"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발표</a:t>
            </a:r>
            <a:endParaRPr sz="4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983632" y="3444241"/>
            <a:ext cx="4202322" cy="644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 i="0" u="none" strike="noStrike" cap="none">
                <a:solidFill>
                  <a:srgbClr val="1F6765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sz="3200" b="1">
                <a:solidFill>
                  <a:srgbClr val="1F6765"/>
                </a:solidFill>
              </a:rPr>
              <a:t>10</a:t>
            </a:r>
            <a:r>
              <a:rPr lang="ko-KR" sz="3200" b="1" i="0" u="none" strike="noStrike" cap="none">
                <a:solidFill>
                  <a:srgbClr val="1F6765"/>
                </a:solidFill>
                <a:latin typeface="Arial"/>
                <a:ea typeface="Arial"/>
                <a:cs typeface="Arial"/>
                <a:sym typeface="Arial"/>
              </a:rPr>
              <a:t>반 </a:t>
            </a:r>
            <a:r>
              <a:rPr lang="ko-KR" sz="3200" b="1">
                <a:solidFill>
                  <a:srgbClr val="1F6765"/>
                </a:solidFill>
              </a:rPr>
              <a:t>19</a:t>
            </a:r>
            <a:r>
              <a:rPr lang="ko-KR" sz="3200" b="1" i="0" u="none" strike="noStrike" cap="none">
                <a:solidFill>
                  <a:srgbClr val="1F6765"/>
                </a:solidFill>
                <a:latin typeface="Arial"/>
                <a:ea typeface="Arial"/>
                <a:cs typeface="Arial"/>
                <a:sym typeface="Arial"/>
              </a:rPr>
              <a:t>조</a:t>
            </a:r>
            <a:endParaRPr sz="3200" b="1" i="0" u="none" strike="noStrike" cap="none">
              <a:solidFill>
                <a:srgbClr val="1F676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g36d064bc89b_7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g36d064bc89b_7_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613" y="402965"/>
            <a:ext cx="106803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36d064bc89b_7_36"/>
          <p:cNvSpPr/>
          <p:nvPr/>
        </p:nvSpPr>
        <p:spPr>
          <a:xfrm>
            <a:off x="9765915" y="6335312"/>
            <a:ext cx="2227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Make it possible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g36d064bc89b_7_36" descr="텍스트, 클립아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10964" y="5829300"/>
            <a:ext cx="1927553" cy="4176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g36d064bc89b_7_36"/>
          <p:cNvCxnSpPr/>
          <p:nvPr/>
        </p:nvCxnSpPr>
        <p:spPr>
          <a:xfrm>
            <a:off x="983643" y="1181225"/>
            <a:ext cx="0" cy="690300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" name="Google Shape;63;g36d064bc89b_7_36"/>
          <p:cNvSpPr txBox="1"/>
          <p:nvPr/>
        </p:nvSpPr>
        <p:spPr>
          <a:xfrm>
            <a:off x="1053825" y="1181225"/>
            <a:ext cx="1496100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700" b="1"/>
              <a:t>목차</a:t>
            </a:r>
            <a:endParaRPr sz="37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6d064bc89b_7_36"/>
          <p:cNvSpPr txBox="1">
            <a:spLocks noGrp="1"/>
          </p:cNvSpPr>
          <p:nvPr>
            <p:ph type="title"/>
          </p:nvPr>
        </p:nvSpPr>
        <p:spPr>
          <a:xfrm>
            <a:off x="2691760" y="2204433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ko-KR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파인튜닝</a:t>
            </a:r>
            <a:r>
              <a:rPr lang="ko-KR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모델 결과</a:t>
            </a: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50800" lvl="0" algn="l" rtl="0">
              <a:spcBef>
                <a:spcPts val="0"/>
              </a:spcBef>
              <a:spcAft>
                <a:spcPts val="0"/>
              </a:spcAft>
              <a:buSzPts val="2800"/>
            </a:pPr>
            <a:r>
              <a:rPr lang="en-US" altLang="ko-KR" sz="2800" dirty="0">
                <a:solidFill>
                  <a:schemeClr val="dk1"/>
                </a:solidFill>
              </a:rPr>
              <a:t>2. </a:t>
            </a:r>
            <a:r>
              <a:rPr lang="ko-KR" sz="2800" dirty="0">
                <a:solidFill>
                  <a:schemeClr val="dk1"/>
                </a:solidFill>
              </a:rPr>
              <a:t>비즈니스 </a:t>
            </a:r>
            <a:r>
              <a:rPr lang="ko-KR" sz="2800" dirty="0" err="1">
                <a:solidFill>
                  <a:schemeClr val="dk1"/>
                </a:solidFill>
              </a:rPr>
              <a:t>적용점</a:t>
            </a:r>
            <a:endParaRPr sz="28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  <a:p>
            <a:pPr marL="508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ko-KR" sz="2800" dirty="0">
                <a:solidFill>
                  <a:schemeClr val="dk1"/>
                </a:solidFill>
              </a:rPr>
              <a:t>3. </a:t>
            </a:r>
            <a:r>
              <a:rPr lang="ko-KR" sz="2800" dirty="0">
                <a:solidFill>
                  <a:schemeClr val="dk1"/>
                </a:solidFill>
              </a:rPr>
              <a:t>시스템 구축 관련 개선사항</a:t>
            </a:r>
            <a:endParaRPr sz="2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  <a:p>
            <a:pPr marL="508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ko-KR" sz="2800" dirty="0">
                <a:solidFill>
                  <a:schemeClr val="dk1"/>
                </a:solidFill>
              </a:rPr>
              <a:t>4. </a:t>
            </a:r>
            <a:r>
              <a:rPr lang="ko-KR" sz="2800" dirty="0">
                <a:solidFill>
                  <a:schemeClr val="dk1"/>
                </a:solidFill>
              </a:rPr>
              <a:t>참고</a:t>
            </a:r>
            <a:endParaRPr sz="2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839867623_1_0"/>
          <p:cNvSpPr txBox="1">
            <a:spLocks noGrp="1"/>
          </p:cNvSpPr>
          <p:nvPr>
            <p:ph type="title"/>
          </p:nvPr>
        </p:nvSpPr>
        <p:spPr>
          <a:xfrm>
            <a:off x="315675" y="287375"/>
            <a:ext cx="76413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파인튜닝 모델 결과 - STEP3 모델 별 성능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0" name="Google Shape;70;g39839867623_1_0"/>
          <p:cNvGraphicFramePr/>
          <p:nvPr/>
        </p:nvGraphicFramePr>
        <p:xfrm>
          <a:off x="521150" y="1594100"/>
          <a:ext cx="11149675" cy="4340886"/>
        </p:xfrm>
        <a:graphic>
          <a:graphicData uri="http://schemas.openxmlformats.org/drawingml/2006/table">
            <a:tbl>
              <a:tblPr>
                <a:noFill/>
                <a:tableStyleId>{3EC6DBE3-3472-4BB2-93E2-59B8FC69BEC3}</a:tableStyleId>
              </a:tblPr>
              <a:tblGrid>
                <a:gridCol w="111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4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4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16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1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모델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전처리 케이스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Precision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Recall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F1-score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Accuracy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해석 요약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BERT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Case1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0.93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0.90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0.91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0.93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부정 감성 탐지력이 다소 낮음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기본 구조에서는 약간 불균형한 감성 분류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RoBERTa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Case1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0.92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0.92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0.92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0.94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BERT 대비 긍정/부정 균형 향상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전반적 안정성 확보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BERT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Case2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0.92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0.91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0.91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0.93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유지되었지만 향상폭은 제한적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문맥 파악 능력은 소폭 개선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2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RoBERTa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Case2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0.94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0.92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0.93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0.94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Precision, Recall 모두 가장 높음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문맥 기반 감성 식별력 가장 우수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839867623_1_43"/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파인튜닝 모델 결과 - 정리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6" name="Google Shape;76;g39839867623_1_43"/>
          <p:cNvGraphicFramePr/>
          <p:nvPr/>
        </p:nvGraphicFramePr>
        <p:xfrm>
          <a:off x="422350" y="1383000"/>
          <a:ext cx="11347300" cy="4369550"/>
        </p:xfrm>
        <a:graphic>
          <a:graphicData uri="http://schemas.openxmlformats.org/drawingml/2006/table">
            <a:tbl>
              <a:tblPr>
                <a:noFill/>
                <a:tableStyleId>{3EC6DBE3-3472-4BB2-93E2-59B8FC69BEC3}</a:tableStyleId>
              </a:tblPr>
              <a:tblGrid>
                <a:gridCol w="228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1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구분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내용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의미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9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정확도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모든 모델이 0.93~0.94로 안정적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어느 모델을 사용하더라도 신뢰성에는 큰 문제가 없음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9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실질적 개선효과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>
                          <a:highlight>
                            <a:schemeClr val="lt2"/>
                          </a:highlight>
                        </a:rPr>
                        <a:t>RoBERTa Case2에서 가장 높은 F1 = 0.93</a:t>
                      </a:r>
                      <a:endParaRPr sz="1500">
                        <a:highlight>
                          <a:schemeClr val="lt2"/>
                        </a:highlight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“RoBERTa + Case2” 조합이 소폭 우세를 보이나, </a:t>
                      </a:r>
                      <a:endParaRPr sz="15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>
                          <a:solidFill>
                            <a:schemeClr val="dk1"/>
                          </a:solidFill>
                        </a:rPr>
                        <a:t>실무 환경에서의 </a:t>
                      </a:r>
                      <a:r>
                        <a:rPr lang="ko-KR" sz="1500"/>
                        <a:t>결정적 차이에 대해서는 회의적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9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모델 선택 관점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>
                          <a:highlight>
                            <a:schemeClr val="lt2"/>
                          </a:highlight>
                        </a:rPr>
                        <a:t>BERT: 가벼움 / RoBERTa: 해석력 우수</a:t>
                      </a:r>
                      <a:endParaRPr sz="1500">
                        <a:highlight>
                          <a:schemeClr val="lt2"/>
                        </a:highlight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성능이 유사하므로 </a:t>
                      </a:r>
                      <a:endParaRPr sz="15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“운영 효율성(BERT)</a:t>
                      </a:r>
                      <a:r>
                        <a:rPr lang="ko-KR" sz="1500">
                          <a:solidFill>
                            <a:schemeClr val="dk1"/>
                          </a:solidFill>
                        </a:rPr>
                        <a:t>”</a:t>
                      </a:r>
                      <a:r>
                        <a:rPr lang="ko-KR" sz="1500"/>
                        <a:t> vs “분석 정밀도(RoBERTa)” 기준으로 선택 권장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9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비즈니스 적용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실시간 분석 -&gt; BERT / 리포트,심층분석 -&gt; RoBERTa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상황에 따른 </a:t>
                      </a:r>
                      <a:r>
                        <a:rPr lang="ko-KR" sz="1500" b="1"/>
                        <a:t>모델 이원화 전략</a:t>
                      </a:r>
                      <a:r>
                        <a:rPr lang="ko-KR" sz="1500"/>
                        <a:t> 적용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839867623_1_10"/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비즈니스 적용점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9839867623_1_10"/>
          <p:cNvSpPr txBox="1"/>
          <p:nvPr/>
        </p:nvSpPr>
        <p:spPr>
          <a:xfrm>
            <a:off x="608900" y="1184350"/>
            <a:ext cx="5238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 b="1">
                <a:solidFill>
                  <a:schemeClr val="dk1"/>
                </a:solidFill>
              </a:rPr>
              <a:t>VOC 분석 활용 - 부서별 활용 사례</a:t>
            </a:r>
            <a:endParaRPr sz="2300"/>
          </a:p>
        </p:txBody>
      </p:sp>
      <p:graphicFrame>
        <p:nvGraphicFramePr>
          <p:cNvPr id="83" name="Google Shape;83;g39839867623_1_10"/>
          <p:cNvGraphicFramePr/>
          <p:nvPr/>
        </p:nvGraphicFramePr>
        <p:xfrm>
          <a:off x="1490175" y="1849450"/>
          <a:ext cx="9211650" cy="4169300"/>
        </p:xfrm>
        <a:graphic>
          <a:graphicData uri="http://schemas.openxmlformats.org/drawingml/2006/table">
            <a:tbl>
              <a:tblPr>
                <a:noFill/>
                <a:tableStyleId>{CD46ECFF-8A94-4A8C-8B25-9E2163D7412D}</a:tableStyleId>
              </a:tblPr>
              <a:tblGrid>
                <a:gridCol w="26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b="1"/>
                        <a:t>부서</a:t>
                      </a:r>
                      <a:endParaRPr sz="17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b="1"/>
                        <a:t>예시</a:t>
                      </a:r>
                      <a:endParaRPr sz="17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dk1"/>
                          </a:solidFill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          </a:ext>
                          </a:extLst>
                        </a:rPr>
                        <a:t>R&amp;D / 상품 기획팀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-"/>
                      </a:pPr>
                      <a:r>
                        <a:rPr lang="ko-KR" sz="1500">
                          <a:solidFill>
                            <a:schemeClr val="dk1"/>
                          </a:solidFill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          </a:ext>
                          </a:extLst>
                        </a:rPr>
                        <a:t>모델이 분류한 속성</a:t>
                      </a:r>
                      <a:r>
                        <a:rPr lang="ko-KR" sz="1500">
                          <a:solidFill>
                            <a:schemeClr val="dk1"/>
                          </a:solidFill>
                        </a:rPr>
                        <a:t>별 부정 피드백 중심으로 제품 개선 우선순위 결정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dk1"/>
                          </a:solidFill>
                        </a:rPr>
                        <a:t>마케팅팀 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-"/>
                      </a:pPr>
                      <a:r>
                        <a:rPr lang="ko-KR" sz="1500">
                          <a:solidFill>
                            <a:schemeClr val="dk1"/>
                          </a:solidFill>
                        </a:rPr>
                        <a:t>감성 분석에서 도출된 긍정 키워드를 광고에 반영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dk1"/>
                          </a:solidFill>
                        </a:rPr>
                        <a:t>고객센터(CS)팀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-"/>
                      </a:pPr>
                      <a:r>
                        <a:rPr lang="ko-KR" sz="1500">
                          <a:solidFill>
                            <a:schemeClr val="dk1"/>
                          </a:solidFill>
                        </a:rPr>
                        <a:t>VOC 분석 시스템에서 부정 리뷰를 실시간 감지하고 자동 알림, 고객 불만 대응 시간 단축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dk1"/>
                          </a:solidFill>
                        </a:rPr>
                        <a:t>경영진/브랜드 매니지먼트 팀</a:t>
                      </a:r>
                      <a:endParaRPr sz="15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23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-"/>
                      </a:pPr>
                      <a:r>
                        <a:rPr lang="ko-KR" sz="1500">
                          <a:solidFill>
                            <a:schemeClr val="dk1"/>
                          </a:solidFill>
                        </a:rPr>
                        <a:t>브랜드 전체 평판 흐름을 실시간으로 모니터링, 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>
                          <a:solidFill>
                            <a:schemeClr val="dk1"/>
                          </a:solidFill>
                        </a:rPr>
                        <a:t>여러 이슈들을 종합적으로 파악, 브랜드 전략 및 의사결정에 반영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비즈니스 적용점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97100" y="1370550"/>
            <a:ext cx="6545400" cy="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 b="1"/>
              <a:t>예시: &lt; 화장품 브랜드 A사의 속성 감정 분석&gt; </a:t>
            </a:r>
            <a:endParaRPr sz="2300" b="1" i="0" u="none" strike="noStrike" cap="none">
              <a:solidFill>
                <a:srgbClr val="000000"/>
              </a:solidFill>
            </a:endParaRPr>
          </a:p>
        </p:txBody>
      </p:sp>
      <p:graphicFrame>
        <p:nvGraphicFramePr>
          <p:cNvPr id="90" name="Google Shape;90;p3"/>
          <p:cNvGraphicFramePr/>
          <p:nvPr/>
        </p:nvGraphicFramePr>
        <p:xfrm>
          <a:off x="663563" y="2866650"/>
          <a:ext cx="5289925" cy="2069875"/>
        </p:xfrm>
        <a:graphic>
          <a:graphicData uri="http://schemas.openxmlformats.org/drawingml/2006/table">
            <a:tbl>
              <a:tblPr>
                <a:noFill/>
                <a:tableStyleId>{CD46ECFF-8A94-4A8C-8B25-9E2163D7412D}</a:tableStyleId>
              </a:tblPr>
              <a:tblGrid>
                <a:gridCol w="173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속성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긍정률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부정률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보습 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92%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8%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향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85%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15%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가격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40%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60%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포장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35%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65%</a:t>
                      </a:r>
                      <a:endParaRPr sz="15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1" name="Google Shape;91;p3"/>
          <p:cNvSpPr txBox="1"/>
          <p:nvPr/>
        </p:nvSpPr>
        <p:spPr>
          <a:xfrm>
            <a:off x="6322000" y="2240503"/>
            <a:ext cx="5559000" cy="40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ko-KR" sz="1800" b="1">
                <a:solidFill>
                  <a:srgbClr val="000000"/>
                </a:solidFill>
              </a:rPr>
              <a:t>제품 개선: </a:t>
            </a:r>
            <a:r>
              <a:rPr lang="ko-KR" sz="1800" b="1"/>
              <a:t>부정률 높은 속성 우선 개선</a:t>
            </a:r>
            <a:endParaRPr sz="1800" b="1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1500"/>
              <a:t>- 가격 (부정률 60%): 유통망 개선 및 할인/번들 판매 전략 수립</a:t>
            </a:r>
            <a:endParaRPr sz="1500"/>
          </a:p>
          <a:p>
            <a:pPr marL="45720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</a:rPr>
              <a:t>- 포장 (부정률 65%): 패키지 디자인 및 패키징 방식 개선</a:t>
            </a:r>
            <a:endParaRPr sz="1500"/>
          </a:p>
          <a:p>
            <a:pPr marL="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4290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ko-KR" sz="1800" b="1">
                <a:solidFill>
                  <a:srgbClr val="000000"/>
                </a:solidFill>
              </a:rPr>
              <a:t>마케팅</a:t>
            </a:r>
            <a:r>
              <a:rPr lang="ko-KR" sz="1800" b="1"/>
              <a:t> 전략: 긍정률 높은 속성 강조</a:t>
            </a:r>
            <a:endParaRPr sz="1800" b="1"/>
          </a:p>
          <a:p>
            <a:pPr marL="45720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dk1"/>
                </a:solidFill>
              </a:rPr>
              <a:t>- 보습 (긍정률 92%): “보습력” 을 강조하는 광고 문구</a:t>
            </a: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ko-KR" sz="1500">
                <a:solidFill>
                  <a:schemeClr val="dk1"/>
                </a:solidFill>
              </a:rPr>
              <a:t>- 향 (긍정률 85%): “촉촉함·은은한 향” 등의 강점을 타깃 세분화 및 브랜딩에 반영</a:t>
            </a:r>
            <a:endParaRPr sz="1202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514300" y="1315474"/>
            <a:ext cx="5669400" cy="4863000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시스템 구축 관련 개선사항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090543" y="3609260"/>
            <a:ext cx="24537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(ex. 코드 캡쳐본 등)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None/>
            </a:pPr>
            <a:r>
              <a:rPr lang="ko-KR" sz="14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없으면 안 넣으셔도 됩니다.</a:t>
            </a:r>
            <a:endParaRPr sz="14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8312475" y="10106875"/>
            <a:ext cx="28440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0" name="Google Shape;10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00" y="1315475"/>
            <a:ext cx="5669399" cy="4862999"/>
          </a:xfrm>
          <a:prstGeom prst="rect">
            <a:avLst/>
          </a:prstGeom>
          <a:solidFill>
            <a:srgbClr val="D9EDEA"/>
          </a:solidFill>
          <a:ln>
            <a:noFill/>
          </a:ln>
        </p:spPr>
      </p:pic>
      <p:sp>
        <p:nvSpPr>
          <p:cNvPr id="101" name="Google Shape;101;p4"/>
          <p:cNvSpPr txBox="1"/>
          <p:nvPr/>
        </p:nvSpPr>
        <p:spPr>
          <a:xfrm>
            <a:off x="6602425" y="1250200"/>
            <a:ext cx="5244000" cy="48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ko-KR" sz="7200" b="1">
                <a:solidFill>
                  <a:srgbClr val="000000"/>
                </a:solidFill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리뷰 데이터 자동 수집 파이프라인 구축</a:t>
            </a:r>
            <a:endParaRPr sz="7200" b="1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ko-KR" sz="5200">
                <a:solidFill>
                  <a:srgbClr val="000000"/>
                </a:solidFill>
              </a:rPr>
              <a:t>현재는 수동으로 리뷰 데이터를 전처리하고 업로드하는 구조 → </a:t>
            </a:r>
            <a:r>
              <a:rPr lang="ko-KR" sz="5200" b="1">
                <a:solidFill>
                  <a:srgbClr val="000000"/>
                </a:solidFill>
              </a:rPr>
              <a:t>자동화 필요</a:t>
            </a:r>
            <a:endParaRPr sz="5200" b="1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ko-KR" sz="5200">
                <a:solidFill>
                  <a:srgbClr val="000000"/>
                </a:solidFill>
              </a:rPr>
              <a:t>쇼핑몰/자사몰 리뷰를 API나 스케줄러로 주기적 수집</a:t>
            </a:r>
            <a:endParaRPr sz="5200"/>
          </a:p>
          <a:p>
            <a:pPr marL="45720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5200" b="1" i="1">
                <a:solidFill>
                  <a:srgbClr val="000000"/>
                </a:solidFill>
              </a:rPr>
              <a:t>효과:</a:t>
            </a:r>
            <a:r>
              <a:rPr lang="ko-KR" sz="5200" b="1">
                <a:solidFill>
                  <a:srgbClr val="000000"/>
                </a:solidFill>
              </a:rPr>
              <a:t> </a:t>
            </a:r>
            <a:r>
              <a:rPr lang="ko-KR" sz="5200">
                <a:solidFill>
                  <a:srgbClr val="000000"/>
                </a:solidFill>
              </a:rPr>
              <a:t>최신 VOC 데이터를 실시간 반영 </a:t>
            </a:r>
            <a:endParaRPr sz="5200">
              <a:solidFill>
                <a:srgbClr val="000000"/>
              </a:solidFill>
            </a:endParaRPr>
          </a:p>
          <a:p>
            <a:pPr marL="457200" lvl="0" indent="4572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5200">
                <a:solidFill>
                  <a:srgbClr val="000000"/>
                </a:solidFill>
              </a:rPr>
              <a:t>→ 분석 결과 신뢰성 상승</a:t>
            </a:r>
            <a:endParaRPr sz="5200"/>
          </a:p>
          <a:p>
            <a:pPr marL="457200" lvl="0" indent="-3429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ko-KR" sz="7200" b="1">
                <a:solidFill>
                  <a:srgbClr val="000000"/>
                </a:solidFill>
              </a:rPr>
              <a:t>지속적 모델 업데이트 체계</a:t>
            </a:r>
            <a:endParaRPr sz="7200" b="1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ko-KR" sz="5200">
                <a:solidFill>
                  <a:srgbClr val="000000"/>
                </a:solidFill>
              </a:rPr>
              <a:t>신규 리뷰 데이터가 꾸준히 발생 → 주기적 재학습 자동화 필요</a:t>
            </a:r>
            <a:endParaRPr sz="52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ko-KR" sz="5200">
                <a:solidFill>
                  <a:srgbClr val="000000"/>
                </a:solidFill>
              </a:rPr>
              <a:t>MLOps 기반 파이프라인 구축 (모델 성능 모니터링 포함)</a:t>
            </a:r>
            <a:endParaRPr sz="52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5200" b="1" i="1">
                <a:solidFill>
                  <a:srgbClr val="000000"/>
                </a:solidFill>
              </a:rPr>
              <a:t>효과:</a:t>
            </a:r>
            <a:r>
              <a:rPr lang="ko-KR" sz="5200" b="1">
                <a:solidFill>
                  <a:srgbClr val="000000"/>
                </a:solidFill>
              </a:rPr>
              <a:t> </a:t>
            </a:r>
            <a:r>
              <a:rPr lang="ko-KR" sz="5200">
                <a:solidFill>
                  <a:srgbClr val="000000"/>
                </a:solidFill>
              </a:rPr>
              <a:t>최신 트렌드 반영, 모델 노후화 방지</a:t>
            </a:r>
            <a:endParaRPr sz="5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800">
              <a:solidFill>
                <a:srgbClr val="595959"/>
              </a:solidFill>
              <a:highlight>
                <a:schemeClr val="lt2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>
            <a:spLocks noGrp="1"/>
          </p:cNvSpPr>
          <p:nvPr>
            <p:ph type="title"/>
          </p:nvPr>
        </p:nvSpPr>
        <p:spPr>
          <a:xfrm>
            <a:off x="315688" y="287375"/>
            <a:ext cx="90462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참고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21825" y="1220882"/>
            <a:ext cx="521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/>
              <a:t>STEP 1. 상품 리뷰 긍정/부정 분류</a:t>
            </a:r>
            <a:endParaRPr b="1"/>
          </a:p>
        </p:txBody>
      </p:sp>
      <p:sp>
        <p:nvSpPr>
          <p:cNvPr id="108" name="Google Shape;108;p2"/>
          <p:cNvSpPr/>
          <p:nvPr/>
        </p:nvSpPr>
        <p:spPr>
          <a:xfrm>
            <a:off x="450033" y="4166088"/>
            <a:ext cx="515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dk1"/>
                </a:solidFill>
              </a:rPr>
              <a:t>STEP 2. 상품 리뷰 </a:t>
            </a:r>
            <a:r>
              <a:rPr lang="ko-KR" b="1"/>
              <a:t>속성 검출</a:t>
            </a:r>
            <a:endParaRPr b="1"/>
          </a:p>
        </p:txBody>
      </p:sp>
      <p:sp>
        <p:nvSpPr>
          <p:cNvPr id="109" name="Google Shape;109;p2"/>
          <p:cNvSpPr/>
          <p:nvPr/>
        </p:nvSpPr>
        <p:spPr>
          <a:xfrm>
            <a:off x="9431025" y="1227675"/>
            <a:ext cx="2399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(기반 모델 : klue/bert-base)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377717" y="1525602"/>
            <a:ext cx="182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/>
              <a:t>일반 파인튜닝</a:t>
            </a:r>
            <a:endParaRPr sz="1200"/>
          </a:p>
        </p:txBody>
      </p:sp>
      <p:sp>
        <p:nvSpPr>
          <p:cNvPr id="111" name="Google Shape;111;p2"/>
          <p:cNvSpPr/>
          <p:nvPr/>
        </p:nvSpPr>
        <p:spPr>
          <a:xfrm>
            <a:off x="6138818" y="1530488"/>
            <a:ext cx="16239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/>
              <a:t>LoRA 파인튜닝</a:t>
            </a:r>
            <a:endParaRPr sz="1200"/>
          </a:p>
        </p:txBody>
      </p:sp>
      <p:sp>
        <p:nvSpPr>
          <p:cNvPr id="112" name="Google Shape;112;p2"/>
          <p:cNvSpPr/>
          <p:nvPr/>
        </p:nvSpPr>
        <p:spPr>
          <a:xfrm>
            <a:off x="455590" y="1833396"/>
            <a:ext cx="5073300" cy="2139900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904" y="2342318"/>
            <a:ext cx="2458902" cy="104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1279" y="1924368"/>
            <a:ext cx="2093466" cy="1880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/>
          <p:nvPr/>
        </p:nvSpPr>
        <p:spPr>
          <a:xfrm>
            <a:off x="6235238" y="1828896"/>
            <a:ext cx="5255400" cy="2139900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5033" y="2465714"/>
            <a:ext cx="2399811" cy="838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39531" y="1922094"/>
            <a:ext cx="2093460" cy="192534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"/>
          <p:cNvSpPr/>
          <p:nvPr/>
        </p:nvSpPr>
        <p:spPr>
          <a:xfrm>
            <a:off x="455605" y="4406440"/>
            <a:ext cx="18231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/>
              <a:t>일반 파인튜닝</a:t>
            </a:r>
            <a:endParaRPr sz="1200"/>
          </a:p>
        </p:txBody>
      </p:sp>
      <p:sp>
        <p:nvSpPr>
          <p:cNvPr id="119" name="Google Shape;119;p2"/>
          <p:cNvSpPr/>
          <p:nvPr/>
        </p:nvSpPr>
        <p:spPr>
          <a:xfrm>
            <a:off x="6138837" y="4406432"/>
            <a:ext cx="16239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/>
              <a:t>LoRA 파인튜닝</a:t>
            </a:r>
            <a:endParaRPr sz="1200"/>
          </a:p>
        </p:txBody>
      </p:sp>
      <p:sp>
        <p:nvSpPr>
          <p:cNvPr id="120" name="Google Shape;120;p2"/>
          <p:cNvSpPr/>
          <p:nvPr/>
        </p:nvSpPr>
        <p:spPr>
          <a:xfrm>
            <a:off x="533452" y="4697006"/>
            <a:ext cx="5073300" cy="1551300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6283457" y="4693744"/>
            <a:ext cx="5255400" cy="1551300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5721" y="4727777"/>
            <a:ext cx="4012970" cy="148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17440" y="4724489"/>
            <a:ext cx="4431721" cy="1489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</Words>
  <Application>Microsoft Office PowerPoint</Application>
  <PresentationFormat>와이드스크린</PresentationFormat>
  <Paragraphs>136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Noto Sans Symbols</vt:lpstr>
      <vt:lpstr>Malgun Gothic</vt:lpstr>
      <vt:lpstr>Arial</vt:lpstr>
      <vt:lpstr>Calibri</vt:lpstr>
      <vt:lpstr>Office 테마</vt:lpstr>
      <vt:lpstr>PowerPoint 프레젠테이션</vt:lpstr>
      <vt:lpstr>파인튜닝 모델 결과  2. 비즈니스 적용점  3. 시스템 구축 관련 개선사항  4. 참고</vt:lpstr>
      <vt:lpstr>파인튜닝 모델 결과 - STEP3 모델 별 성능</vt:lpstr>
      <vt:lpstr>파인튜닝 모델 결과 - 정리</vt:lpstr>
      <vt:lpstr>2. 비즈니스 적용점</vt:lpstr>
      <vt:lpstr>2. 비즈니스 적용점</vt:lpstr>
      <vt:lpstr>3. 시스템 구축 관련 개선사항</vt:lpstr>
      <vt:lpstr>4. 참고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양시현</cp:lastModifiedBy>
  <cp:revision>1</cp:revision>
  <dcterms:modified xsi:type="dcterms:W3CDTF">2025-10-29T07:05:33Z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2022-01-28T12:25:58Z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0e831c6a-4daf-459e-a66c-38ad3bcc73cf</vt:lpwstr>
  </property>
  <property fmtid="{D5CDD505-2E9C-101B-9397-08002B2CF9AE}" pid="8" name="MSIP_Label_b16c548c-0cd3-4220-987a-a58bfd9a89d4_ContentBits">
    <vt:lpwstr>0</vt:lpwstr>
  </property>
  <property fmtid="{D5CDD505-2E9C-101B-9397-08002B2CF9AE}" pid="9" name="ContentTypeId">
    <vt:lpwstr>0x010100EEFD2EC9AE4E1C4E97A968ACD5F6A537</vt:lpwstr>
  </property>
  <property fmtid="{D5CDD505-2E9C-101B-9397-08002B2CF9AE}" pid="10" name="MediaServiceImageTags">
    <vt:lpwstr/>
  </property>
  <property fmtid="{D5CDD505-2E9C-101B-9397-08002B2CF9AE}" pid="11" name="Order">
    <vt:r8>126500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</Properties>
</file>