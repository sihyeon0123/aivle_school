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7" r:id="rId5"/>
    <p:sldId id="4006" r:id="rId6"/>
    <p:sldId id="4007" r:id="rId7"/>
    <p:sldId id="4008" r:id="rId8"/>
    <p:sldId id="4009" r:id="rId9"/>
    <p:sldId id="4010" r:id="rId10"/>
    <p:sldId id="4011" r:id="rId11"/>
    <p:sldId id="4012" r:id="rId12"/>
    <p:sldId id="4016" r:id="rId13"/>
    <p:sldId id="4013" r:id="rId14"/>
    <p:sldId id="4014" r:id="rId15"/>
    <p:sldId id="401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템플릿" id="{CB574C3C-4378-4F24-8F0A-CBBA62E24DBD}">
          <p14:sldIdLst>
            <p14:sldId id="257"/>
          </p14:sldIdLst>
        </p14:section>
        <p14:section name="Day 1" id="{EA9F21E3-6A76-4AD9-A32E-7D1CE482B776}">
          <p14:sldIdLst>
            <p14:sldId id="4006"/>
            <p14:sldId id="4007"/>
          </p14:sldIdLst>
        </p14:section>
        <p14:section name="Day 2" id="{F64E96F4-DAD5-4160-A554-34EEB8F55DDA}">
          <p14:sldIdLst>
            <p14:sldId id="4008"/>
            <p14:sldId id="4009"/>
          </p14:sldIdLst>
        </p14:section>
        <p14:section name="Day 3" id="{E205EAFF-1E8C-464C-A38A-D77F487D4B64}">
          <p14:sldIdLst>
            <p14:sldId id="4010"/>
            <p14:sldId id="4011"/>
            <p14:sldId id="4012"/>
            <p14:sldId id="4016"/>
          </p14:sldIdLst>
        </p14:section>
        <p14:section name="Day 4" id="{D3B2E361-8F3E-49D0-AC80-8A0334C34597}">
          <p14:sldIdLst>
            <p14:sldId id="4013"/>
            <p14:sldId id="4014"/>
            <p14:sldId id="40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F55"/>
    <a:srgbClr val="C8E7E6"/>
    <a:srgbClr val="F7F7F7"/>
    <a:srgbClr val="F9C668"/>
    <a:srgbClr val="F2F2F2"/>
    <a:srgbClr val="C00000"/>
    <a:srgbClr val="FFFFFF"/>
    <a:srgbClr val="6AE2C9"/>
    <a:srgbClr val="30AEAA"/>
    <a:srgbClr val="39B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52C12D-2A67-6071-8034-052AA8E14E73}" v="1" dt="2025-12-15T07:56:18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958" autoAdjust="0"/>
  </p:normalViewPr>
  <p:slideViewPr>
    <p:cSldViewPr snapToGrid="0">
      <p:cViewPr varScale="1">
        <p:scale>
          <a:sx n="100" d="100"/>
          <a:sy n="100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매니저 원지영" userId="S::c020050@aivle.kt.co.kr::527bb6cc-48b3-4e6a-b3ba-2f5fcc93fe73" providerId="AD" clId="Web-{F752C12D-2A67-6071-8034-052AA8E14E73}"/>
    <pc:docChg chg="sldOrd">
      <pc:chgData name="매니저 원지영" userId="S::c020050@aivle.kt.co.kr::527bb6cc-48b3-4e6a-b3ba-2f5fcc93fe73" providerId="AD" clId="Web-{F752C12D-2A67-6071-8034-052AA8E14E73}" dt="2025-12-15T07:56:18.027" v="0"/>
      <pc:docMkLst>
        <pc:docMk/>
      </pc:docMkLst>
      <pc:sldChg chg="ord">
        <pc:chgData name="매니저 원지영" userId="S::c020050@aivle.kt.co.kr::527bb6cc-48b3-4e6a-b3ba-2f5fcc93fe73" providerId="AD" clId="Web-{F752C12D-2A67-6071-8034-052AA8E14E73}" dt="2025-12-15T07:56:18.027" v="0"/>
        <pc:sldMkLst>
          <pc:docMk/>
          <pc:sldMk cId="4387266" sldId="40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B4F44D9B-87D9-4A9A-A8E0-A548B755B657}" type="datetimeFigureOut">
              <a:rPr lang="ko-KR" altLang="en-US" smtClean="0"/>
              <a:pPr/>
              <a:t>2025-12-16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BCFCF90D-E503-4B43-A793-63B9CCFE65F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371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Bold" panose="020B0600000101010101" pitchFamily="50" charset="-127"/>
        <a:ea typeface="나눔스퀘어 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표지</a:t>
            </a:r>
            <a:r>
              <a:rPr lang="en-US" altLang="ko-KR" dirty="0"/>
              <a:t> : </a:t>
            </a:r>
            <a:r>
              <a:rPr lang="ko-KR" altLang="en-US" dirty="0"/>
              <a:t>이미지 교체</a:t>
            </a:r>
            <a:r>
              <a:rPr lang="en-US" altLang="ko-KR" dirty="0"/>
              <a:t> </a:t>
            </a:r>
            <a:r>
              <a:rPr lang="ko-KR" altLang="en-US" dirty="0"/>
              <a:t>예정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59E83-DD15-49A5-B765-19F21DF4BB13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6092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FCF90D-E503-4B43-A793-63B9CCFE65F8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343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EB23F-CC83-3521-57B7-F278548B53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3E2012-C98B-F72B-552D-CE4F06769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38746-BD44-9573-3CC4-8407D427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D5DDF-4894-4DEE-9B01-D571710FDC8F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A9AB6E-2D9F-D7C5-2760-0F6486EC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192235-898E-65E1-8621-9F2E7CD5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576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936BB-F62D-546B-DF17-915B3BBD3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779A2-0BFA-B4B1-9E01-750D1256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D041CC-6A3F-9549-F79D-FB255E6A4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C4E44-7A01-482E-9E2D-3A04C917C6EC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A91CE-0B13-71FA-EF55-3930CF37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0B0C3-4C7C-372B-9275-AA3300D8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1821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9F4E9-DB3F-FB80-B2F7-9FBE3487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4BCC0B-7395-F3B5-5E54-8CE68D24C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AC7CC3-3935-97EF-7338-05977485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11184-F701-48B4-B6C3-403B854BA1F7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85344D-947A-BADF-15FE-173EBD5F1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77065-69DA-D424-5606-D5AB9C24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837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4FCA1-CC0C-D48C-9BA2-A01375A0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ABC5DC-DE8A-2210-9F59-DC028090E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06A075-3552-1539-E7D5-04EB145E9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874631-1020-8E4A-F1AE-84F1530F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965A-61B5-4319-A72D-9F97D6CDBBD9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72BD20-80AE-F701-B752-8C1FB9101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09F75-75FA-49EA-91FB-E687DA61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9946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EABFCD-F385-3132-4B55-0942A946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9B77F7-9496-D378-AEFF-CD2AAE338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0656B0-7768-F024-7592-8FBB7181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D949FEE-6732-6E15-81C2-C9F26404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4D426DC-C346-2F4A-1D89-4FAAC9E1A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B0A506E-143B-CA7F-590B-2B40061B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C8F85-6ECC-4E1C-A0F6-A61E762A6489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074FDA6-6BCB-6892-F5E6-C5D6A7CF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A2FFD0-D19B-6BB9-E1C9-615C64E0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6380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8A716-6A55-7F54-D4CC-BC16157E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47F9D9-8913-F8CA-2036-F52D1F34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90DFB-8E04-48E9-8974-F54AFA66AFCC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74C719-A5EE-9403-FF1F-08E0D5A5A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D21DEC-5DA2-7504-3B8C-FF1E3C9C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225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CD42B3-12B6-1686-EA80-1957234E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D7ADA-F81D-41FE-827C-4C984C671451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C58179B-268C-DAE3-3B6F-6DF007FF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97303-EE10-5596-969F-F34354C8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476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04A93-1E25-4EF6-902B-C57F13956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93FA96-E889-282A-87E6-81C7B51F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15034A-721E-6839-D5D9-86289F42E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BBB0E1-57D6-634E-ACF0-94C753D3E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812EF-FE99-4E41-903E-A9E2C806D2AC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3EAFCA-15E7-AE59-9B6B-B13C483DE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9322CD-3B72-3EF6-52E0-2232059CC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9897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72794-E7BD-5BF9-52AB-9FD5A945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3D5E2B-A48C-A2C1-6930-947D8B8BF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A9E7EA-62B5-CDCF-38B9-1CABC2B57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B0A2F0-1501-76DF-90A6-D60E1CA6B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F1258-5AAF-46FE-B568-B85781CCE314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A8E038-A45E-DD36-E1A5-D6F68415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AA15A0-E624-3F9C-2235-95D4AE9B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5090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83244-56FC-7565-DBEE-E5BE42B0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60E250-AB1F-8944-6905-0D4EFB36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6967D7-6DD9-A5C1-1593-84E75A1B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C834B-BB53-457F-B524-C7E351727516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1765C-17A6-AF37-6329-9F92F3773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4060F5-33B4-7716-E010-A6FDD28DE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243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81AFA8-E4A3-F61C-732B-D56C24B49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98D3C1-AB49-F3E5-96AA-9DB16D9FA8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944A7B-FEF6-4F5B-874E-8C25E520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A521D-EA70-4F3C-A13E-0CECA2EFEE79}" type="datetime1">
              <a:rPr lang="ko-KR" altLang="en-US" smtClean="0"/>
              <a:t>2025-12-16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406088-2254-2E4D-C0D9-0A771F38A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D3A35B-12EF-B4FB-2B5D-FE090BA3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A3B64-3434-4367-A414-71197672860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647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D999E1-258C-069F-B86A-6232DD34FA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Google Shape;43;p42">
            <a:extLst>
              <a:ext uri="{FF2B5EF4-FFF2-40B4-BE49-F238E27FC236}">
                <a16:creationId xmlns:a16="http://schemas.microsoft.com/office/drawing/2014/main" id="{A1CA6195-DA48-4D27-B667-218BC9E3AEFF}"/>
              </a:ext>
            </a:extLst>
          </p:cNvPr>
          <p:cNvCxnSpPr>
            <a:cxnSpLocks/>
          </p:cNvCxnSpPr>
          <p:nvPr userDrawn="1"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57;p11">
            <a:extLst>
              <a:ext uri="{FF2B5EF4-FFF2-40B4-BE49-F238E27FC236}">
                <a16:creationId xmlns:a16="http://schemas.microsoft.com/office/drawing/2014/main" id="{CA5F837B-AAE4-477D-81BA-C18784B728C7}"/>
              </a:ext>
            </a:extLst>
          </p:cNvPr>
          <p:cNvSpPr txBox="1">
            <a:spLocks/>
          </p:cNvSpPr>
          <p:nvPr userDrawn="1"/>
        </p:nvSpPr>
        <p:spPr>
          <a:xfrm>
            <a:off x="983632" y="2095201"/>
            <a:ext cx="8245702" cy="1451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/>
            <a:r>
              <a:rPr lang="en-US" altLang="ko-KR" sz="900" b="1" dirty="0">
                <a:solidFill>
                  <a:srgbClr val="67BD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400" b="1" dirty="0">
                <a:solidFill>
                  <a:srgbClr val="67BDC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sz="2800" b="1" dirty="0">
                <a:solidFill>
                  <a:srgbClr val="02BDB6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KT AIVLE School</a:t>
            </a:r>
          </a:p>
        </p:txBody>
      </p:sp>
      <p:sp>
        <p:nvSpPr>
          <p:cNvPr id="11" name="Google Shape;40;p42">
            <a:extLst>
              <a:ext uri="{FF2B5EF4-FFF2-40B4-BE49-F238E27FC236}">
                <a16:creationId xmlns:a16="http://schemas.microsoft.com/office/drawing/2014/main" id="{257A3FF8-0923-4282-A567-EF1BFBF47EE1}"/>
              </a:ext>
            </a:extLst>
          </p:cNvPr>
          <p:cNvSpPr/>
          <p:nvPr userDrawn="1"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/>
                <a:sym typeface="Malgun Gothic"/>
              </a:rPr>
              <a:t>Make it possible</a:t>
            </a:r>
            <a:endParaRPr sz="1400" b="0" i="0" u="none" strike="noStrike" cap="non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sym typeface="Arial"/>
            </a:endParaRPr>
          </a:p>
        </p:txBody>
      </p:sp>
      <p:pic>
        <p:nvPicPr>
          <p:cNvPr id="12" name="Google Shape;41;p42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57560E-3BFC-450A-8DFF-F178AB45C414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9E7F6888-DD09-453C-AA8B-B8F6AE18F2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6002" y="2732724"/>
            <a:ext cx="8402637" cy="823986"/>
          </a:xfrm>
        </p:spPr>
        <p:txBody>
          <a:bodyPr>
            <a:normAutofit/>
          </a:bodyPr>
          <a:lstStyle>
            <a:lvl1pPr marL="0" indent="0">
              <a:buNone/>
              <a:defRPr sz="4400" b="1"/>
            </a:lvl1pPr>
          </a:lstStyle>
          <a:p>
            <a:pPr lvl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332260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C122EFC-3B07-4178-A4AC-1F20091743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C293D3-8F33-4A27-B1A5-E12834969C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307762" cy="4918075"/>
          </a:xfrm>
        </p:spPr>
        <p:txBody>
          <a:bodyPr/>
          <a:lstStyle>
            <a:lvl1pPr marL="355600" indent="-355600">
              <a:lnSpc>
                <a:spcPct val="100000"/>
              </a:lnSpc>
              <a:buFont typeface="Wingdings" panose="05000000000000000000" pitchFamily="2" charset="2"/>
              <a:buChar char="ü"/>
              <a:defRPr sz="2600" b="1" kern="1200" spc="0" baseline="0">
                <a:solidFill>
                  <a:srgbClr val="204F55"/>
                </a:solidFill>
              </a:defRPr>
            </a:lvl1pPr>
            <a:lvl2pPr marL="630238" indent="-274638">
              <a:lnSpc>
                <a:spcPct val="100000"/>
              </a:lnSpc>
              <a:buFont typeface="Wingdings" panose="05000000000000000000" pitchFamily="2" charset="2"/>
              <a:buChar char="§"/>
              <a:defRPr sz="2000" kern="1200" spc="0" baseline="0">
                <a:solidFill>
                  <a:srgbClr val="204F55"/>
                </a:solidFill>
              </a:defRPr>
            </a:lvl2pPr>
            <a:lvl3pPr marL="808038" indent="-177800">
              <a:lnSpc>
                <a:spcPct val="100000"/>
              </a:lnSpc>
              <a:defRPr sz="1800" kern="1200" spc="0" baseline="0">
                <a:solidFill>
                  <a:srgbClr val="204F55"/>
                </a:solidFill>
              </a:defRPr>
            </a:lvl3pPr>
            <a:lvl4pPr marL="1163638" indent="-266700">
              <a:lnSpc>
                <a:spcPct val="100000"/>
              </a:lnSpc>
              <a:buFont typeface="맑은 고딕" panose="020B0503020000020004" pitchFamily="50" charset="-127"/>
              <a:buChar char="–"/>
              <a:defRPr kern="1200" spc="0" baseline="0">
                <a:solidFill>
                  <a:srgbClr val="204F55"/>
                </a:solidFill>
              </a:defRPr>
            </a:lvl4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14" name="제목 13">
            <a:extLst>
              <a:ext uri="{FF2B5EF4-FFF2-40B4-BE49-F238E27FC236}">
                <a16:creationId xmlns:a16="http://schemas.microsoft.com/office/drawing/2014/main" id="{524C5287-3EF0-46F1-9C8E-A153AC1F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44035"/>
            <a:ext cx="10515600" cy="751840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204F55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6F24748-470E-DCCC-1ED1-D6DB0109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260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69241" y="1372096"/>
            <a:ext cx="11653523" cy="1936941"/>
          </a:xfrm>
          <a:prstGeom prst="rect">
            <a:avLst/>
          </a:prstGeom>
        </p:spPr>
        <p:txBody>
          <a:bodyPr>
            <a:spAutoFit/>
          </a:bodyPr>
          <a:lstStyle>
            <a:lvl1pPr marL="336142" indent="-336142">
              <a:lnSpc>
                <a:spcPct val="100000"/>
              </a:lnSpc>
              <a:buFont typeface="Wingdings" panose="05000000000000000000" pitchFamily="2" charset="2"/>
              <a:buChar char="ü"/>
              <a:defRPr sz="2880" b="1">
                <a:solidFill>
                  <a:srgbClr val="224D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572684" indent="-236544">
              <a:lnSpc>
                <a:spcPct val="100000"/>
              </a:lnSpc>
              <a:buFont typeface="Wingdings" panose="05000000000000000000" pitchFamily="2" charset="2"/>
              <a:buChar char="§"/>
              <a:defRPr sz="2160">
                <a:solidFill>
                  <a:srgbClr val="224D60"/>
                </a:solidFill>
              </a:defRPr>
            </a:lvl2pPr>
            <a:lvl3pPr>
              <a:lnSpc>
                <a:spcPct val="100000"/>
              </a:lnSpc>
              <a:defRPr sz="1920">
                <a:solidFill>
                  <a:srgbClr val="224D60"/>
                </a:solidFill>
              </a:defRPr>
            </a:lvl3pPr>
            <a:lvl4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4pPr>
            <a:lvl5pPr>
              <a:lnSpc>
                <a:spcPct val="100000"/>
              </a:lnSpc>
              <a:defRPr sz="1680">
                <a:solidFill>
                  <a:srgbClr val="224D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69240" y="282049"/>
            <a:ext cx="11655840" cy="899665"/>
          </a:xfrm>
        </p:spPr>
        <p:txBody>
          <a:bodyPr anchor="ctr" anchorCtr="0"/>
          <a:lstStyle>
            <a:lvl1pPr>
              <a:defRPr sz="3840" b="1">
                <a:solidFill>
                  <a:srgbClr val="224D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4F0E002-2986-B5D4-354A-EFA985E4FE63}"/>
              </a:ext>
            </a:extLst>
          </p:cNvPr>
          <p:cNvCxnSpPr>
            <a:cxnSpLocks/>
          </p:cNvCxnSpPr>
          <p:nvPr userDrawn="1"/>
        </p:nvCxnSpPr>
        <p:spPr>
          <a:xfrm>
            <a:off x="392966" y="1181713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5E3A30D-2201-2D15-22A6-6EDE1161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8570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70653" y="2721937"/>
            <a:ext cx="10924930" cy="849463"/>
          </a:xfrm>
          <a:noFill/>
        </p:spPr>
        <p:txBody>
          <a:bodyPr wrap="square" tIns="91440" bIns="91440" anchor="ctr" anchorCtr="0">
            <a:spAutoFit/>
          </a:bodyPr>
          <a:lstStyle>
            <a:lvl1pPr>
              <a:defRPr sz="4800" b="1" spc="-98" baseline="0">
                <a:solidFill>
                  <a:srgbClr val="224D6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r>
              <a:rPr lang="en-US" dirty="0"/>
              <a:t>Section title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FF92BF3-5D40-7642-0074-14B639DE069A}"/>
              </a:ext>
            </a:extLst>
          </p:cNvPr>
          <p:cNvCxnSpPr>
            <a:cxnSpLocks/>
          </p:cNvCxnSpPr>
          <p:nvPr userDrawn="1"/>
        </p:nvCxnSpPr>
        <p:spPr>
          <a:xfrm>
            <a:off x="1084243" y="2618075"/>
            <a:ext cx="0" cy="1019356"/>
          </a:xfrm>
          <a:prstGeom prst="line">
            <a:avLst/>
          </a:prstGeom>
          <a:noFill/>
          <a:ln w="1016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F3DE58-FBE7-ECF7-C83F-4887AD9A43E2}"/>
              </a:ext>
            </a:extLst>
          </p:cNvPr>
          <p:cNvCxnSpPr>
            <a:cxnSpLocks/>
          </p:cNvCxnSpPr>
          <p:nvPr userDrawn="1"/>
        </p:nvCxnSpPr>
        <p:spPr>
          <a:xfrm>
            <a:off x="392966" y="145435"/>
            <a:ext cx="11799034" cy="0"/>
          </a:xfrm>
          <a:prstGeom prst="line">
            <a:avLst/>
          </a:prstGeom>
          <a:noFill/>
          <a:ln w="76200" cap="flat" cmpd="sng" algn="ctr">
            <a:solidFill>
              <a:srgbClr val="224D60"/>
            </a:solidFill>
            <a:prstDash val="solid"/>
            <a:miter lim="800000"/>
          </a:ln>
          <a:effectLst/>
        </p:spPr>
      </p:cxn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8F99D7ED-920C-4D0A-87CF-1FDB1AC86F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8073" y="6494146"/>
            <a:ext cx="2743200" cy="363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C61ED-C389-487E-B425-FD84659AE16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317015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B33C0E-A25F-5F96-5443-00E99958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91669-F0FD-2C0D-D066-791E23AAA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9305AC-3065-9DA8-7051-6ECCC536A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1F232C84-9E74-4268-BD7A-04D848ED3F1C}" type="datetime1">
              <a:rPr lang="ko-KR" altLang="en-US" smtClean="0"/>
              <a:pPr/>
              <a:t>2025-12-16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25104-5BB4-337D-3B01-533341DA3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F0B4FC-57A1-F288-4A09-C1C84AB89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8C9A3B64-3434-4367-A414-71197672860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1110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6" r:id="rId14"/>
    <p:sldLayoutId id="2147483668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ExtraBold" panose="020B0600000101010101" pitchFamily="50" charset="-127"/>
          <a:ea typeface="나눔스퀘어 Extra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ExtraBold" panose="020B0600000101010101" pitchFamily="50" charset="-127"/>
          <a:ea typeface="나눔스퀘어 Extra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Bold" panose="020B0600000101010101" pitchFamily="50" charset="-127"/>
          <a:ea typeface="나눔스퀘어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A3E487-D8AD-4CA7-8C41-F51CEDDAA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6001" y="2732724"/>
            <a:ext cx="10263369" cy="823986"/>
          </a:xfrm>
        </p:spPr>
        <p:txBody>
          <a:bodyPr>
            <a:normAutofit/>
          </a:bodyPr>
          <a:lstStyle/>
          <a:p>
            <a:r>
              <a:rPr lang="ko-KR" altLang="en-US" dirty="0"/>
              <a:t>미니프로젝트 </a:t>
            </a:r>
            <a:r>
              <a:rPr lang="en-US" altLang="ko-KR" dirty="0"/>
              <a:t>5</a:t>
            </a:r>
            <a:r>
              <a:rPr lang="ko-KR" altLang="en-US" dirty="0"/>
              <a:t>차</a:t>
            </a:r>
          </a:p>
        </p:txBody>
      </p:sp>
    </p:spTree>
    <p:extLst>
      <p:ext uri="{BB962C8B-B14F-4D97-AF65-F5344CB8AC3E}">
        <p14:creationId xmlns:p14="http://schemas.microsoft.com/office/powerpoint/2010/main" val="385289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4C3C-9772-82E2-82DD-561940FC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5E2014-1E50-93B4-F28D-55F6FFEA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2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E90C315-A072-EF6E-0035-D74929BE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1. CI/CD </a:t>
            </a:r>
            <a:r>
              <a:rPr lang="ko-KR" altLang="en-US" sz="3000" dirty="0">
                <a:ea typeface="나눔스퀘어 ExtraBold" panose="020B0600000101010101"/>
              </a:rPr>
              <a:t>기본 구축 </a:t>
            </a:r>
            <a:r>
              <a:rPr lang="en-US" altLang="ko-KR" sz="3000" dirty="0">
                <a:ea typeface="나눔스퀘어 ExtraBold" panose="020B0600000101010101"/>
              </a:rPr>
              <a:t>&amp; </a:t>
            </a:r>
            <a:r>
              <a:rPr lang="ko-KR" altLang="en-US" sz="3000" dirty="0">
                <a:ea typeface="나눔스퀘어 ExtraBold" panose="020B0600000101010101"/>
              </a:rPr>
              <a:t>코드 기반 파이프라인 설계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2EEEC8EF-F8C9-6847-3657-31E87A611D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GitHub</a:t>
            </a:r>
            <a:r>
              <a:rPr lang="ko-KR" altLang="en-US" sz="2000" b="0" dirty="0"/>
              <a:t>에 저장된 </a:t>
            </a:r>
            <a:r>
              <a:rPr lang="en-US" altLang="ko-KR" sz="2000" b="0" dirty="0" err="1"/>
              <a:t>buildspec.yml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파일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303398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43BBD-A59C-4EA1-9147-28B853C0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70B11A-EF89-FD16-A6DF-EEE3D9A3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3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78ED2F0E-FEF4-FA91-7002-B5590DB42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1. CI/CD </a:t>
            </a:r>
            <a:r>
              <a:rPr lang="ko-KR" altLang="en-US" sz="3000" dirty="0">
                <a:ea typeface="나눔스퀘어 ExtraBold" panose="020B0600000101010101"/>
              </a:rPr>
              <a:t>기본 구축 </a:t>
            </a:r>
            <a:r>
              <a:rPr lang="en-US" altLang="ko-KR" sz="3000" dirty="0">
                <a:ea typeface="나눔스퀘어 ExtraBold" panose="020B0600000101010101"/>
              </a:rPr>
              <a:t>&amp; </a:t>
            </a:r>
            <a:r>
              <a:rPr lang="ko-KR" altLang="en-US" sz="3000" dirty="0">
                <a:ea typeface="나눔스퀘어 ExtraBold" panose="020B0600000101010101"/>
              </a:rPr>
              <a:t>코드 기반 파이프라인 설계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91189D18-4EA0-9C51-EA3C-8B77123742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AWS </a:t>
            </a:r>
            <a:r>
              <a:rPr lang="en-US" altLang="ko-KR" sz="2000" b="0" dirty="0" err="1"/>
              <a:t>CodePipeline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성공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151758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B18E-771E-21DB-2C49-99DD4BBF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E245FE-0215-4ED5-580A-F3F13FAB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4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8A772469-43EB-6527-3361-79581DF5D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2. </a:t>
            </a:r>
            <a:r>
              <a:rPr lang="ko-KR" altLang="en-US" sz="3000" dirty="0">
                <a:ea typeface="나눔스퀘어 ExtraBold" panose="020B0600000101010101"/>
              </a:rPr>
              <a:t>자동</a:t>
            </a:r>
            <a:r>
              <a:rPr lang="en-US" altLang="ko-KR" sz="3000" dirty="0">
                <a:ea typeface="나눔스퀘어 ExtraBold" panose="020B0600000101010101"/>
              </a:rPr>
              <a:t> </a:t>
            </a:r>
            <a:r>
              <a:rPr lang="ko-KR" altLang="en-US" sz="3000" dirty="0">
                <a:ea typeface="나눔스퀘어 ExtraBold" panose="020B0600000101010101"/>
              </a:rPr>
              <a:t>배포 환경 구축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187912B5-FDEE-EF3B-A287-216D085CC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ko-KR" altLang="en-US" sz="2000" b="0" dirty="0"/>
              <a:t>생성된 인스턴스의 목록 스크린샷</a:t>
            </a:r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  <a:p>
            <a:endParaRPr lang="en-US" altLang="ko-KR" sz="2000" b="0" dirty="0"/>
          </a:p>
          <a:p>
            <a:r>
              <a:rPr lang="ko-KR" altLang="en-US" sz="2000" b="0" dirty="0"/>
              <a:t>인스턴스에서 동작 중인 </a:t>
            </a:r>
            <a:r>
              <a:rPr lang="en-US" altLang="ko-KR" sz="2000" b="0" dirty="0" err="1"/>
              <a:t>CodeDeploy</a:t>
            </a:r>
            <a:r>
              <a:rPr lang="en-US" altLang="ko-KR" sz="2000" b="0" dirty="0"/>
              <a:t> Agent </a:t>
            </a:r>
            <a:r>
              <a:rPr lang="ko-KR" altLang="en-US" sz="2000" b="0" dirty="0"/>
              <a:t>화면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26066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C0B6B-33C9-853C-E39B-8BEE8F346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3A8B40-2631-A407-45D9-08A96AF15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5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097B9C2C-5B1C-A299-C2AF-4793BF1E8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2. </a:t>
            </a:r>
            <a:r>
              <a:rPr lang="ko-KR" altLang="en-US" sz="3000" dirty="0">
                <a:ea typeface="나눔스퀘어 ExtraBold" panose="020B0600000101010101"/>
              </a:rPr>
              <a:t>자동</a:t>
            </a:r>
            <a:r>
              <a:rPr lang="en-US" altLang="ko-KR" sz="3000" dirty="0">
                <a:ea typeface="나눔스퀘어 ExtraBold" panose="020B0600000101010101"/>
              </a:rPr>
              <a:t> </a:t>
            </a:r>
            <a:r>
              <a:rPr lang="ko-KR" altLang="en-US" sz="3000" dirty="0">
                <a:ea typeface="나눔스퀘어 ExtraBold" panose="020B0600000101010101"/>
              </a:rPr>
              <a:t>배포 환경 구축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3B5B19B9-A3E2-E695-D244-B77E7F287B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ko-KR" altLang="en-US" sz="2000" b="0" dirty="0"/>
              <a:t>인스턴스에서 실행 중인 웹 서비스 화면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371901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EE96-C279-504E-61B3-57F64DD6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750B3-6089-922F-7F74-62BE0A89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6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E0B48571-5F29-E7A3-43B0-B1B7F2D63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3. Auto Scaling + Load Balancer + CloudWatch</a:t>
            </a:r>
            <a:endParaRPr lang="ko-KR" altLang="en-US" sz="3000" dirty="0">
              <a:ea typeface="나눔스퀘어 ExtraBold" panose="020B0600000101010101"/>
            </a:endParaRP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453F08DA-7F40-33C4-1C32-CCB0A56D7C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CloudWatch Agent</a:t>
            </a:r>
            <a:r>
              <a:rPr lang="ko-KR" altLang="en-US" sz="2000" b="0" dirty="0"/>
              <a:t>의 상태 확인 및 수집된 로그 그룹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1777731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C353-1E84-FE18-6E88-6D72B84F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6871DC-25D1-335F-8612-EF25DA99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7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CDCD7698-87EB-1C40-89E4-A72898CCF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3. Auto Scaling + Load Balancer + CloudWatch</a:t>
            </a:r>
            <a:endParaRPr lang="ko-KR" altLang="en-US" sz="3000" dirty="0">
              <a:ea typeface="나눔스퀘어 ExtraBold" panose="020B0600000101010101"/>
            </a:endParaRP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D66EAC6B-418E-3B32-49AB-EC9CD27EBC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Deploy </a:t>
            </a:r>
            <a:r>
              <a:rPr lang="ko-KR" altLang="en-US" sz="2000" b="0" dirty="0"/>
              <a:t>단계에서</a:t>
            </a:r>
            <a:r>
              <a:rPr lang="en-US" altLang="ko-KR" sz="2000" b="0" dirty="0"/>
              <a:t> Auto Scaling</a:t>
            </a:r>
            <a:r>
              <a:rPr lang="ko-KR" altLang="en-US" sz="2000" b="0" dirty="0"/>
              <a:t>이 적용된 성공된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파이프라인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205838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90810-BFFD-0E4D-28C9-5ECF6CB5C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6249B5-CDB8-4C4F-B28D-0F46931CA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8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E453C0D9-09D9-B00E-800E-F03E4909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3. Auto Scaling + Load Balancer + CloudWatch</a:t>
            </a:r>
            <a:endParaRPr lang="ko-KR" altLang="en-US" sz="3000" dirty="0">
              <a:ea typeface="나눔스퀘어 ExtraBold" panose="020B0600000101010101"/>
            </a:endParaRP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2A6EA8FC-E3C6-832F-DBC3-52E3EF01E2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Auto Scaling</a:t>
            </a:r>
            <a:r>
              <a:rPr lang="ko-KR" altLang="en-US" sz="2000" b="0" dirty="0"/>
              <a:t>의 크기만큼 실행 중인 인스턴스의 목록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272915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EE96-C279-504E-61B3-57F64DD6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750B3-6089-922F-7F74-62BE0A894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9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E0B48571-5F29-E7A3-43B0-B1B7F2D63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3. Auto Scaling + Load Balancer + CloudWatch</a:t>
            </a:r>
            <a:endParaRPr lang="ko-KR" altLang="en-US" sz="3000" dirty="0">
              <a:ea typeface="나눔스퀘어 ExtraBold" panose="020B0600000101010101"/>
            </a:endParaRP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453F08DA-7F40-33C4-1C32-CCB0A56D7C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CloudWatch</a:t>
            </a:r>
            <a:r>
              <a:rPr lang="ko-KR" altLang="en-US" sz="2000" b="0" dirty="0"/>
              <a:t>를 통한 로그 </a:t>
            </a:r>
            <a:r>
              <a:rPr lang="ko-KR" altLang="en-US" sz="2000" b="0"/>
              <a:t>수집된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667011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7CC3-FEEC-8ED1-A464-8DB1E9E9C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79F10D-8565-0652-3FCF-D1DDD2746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10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35E548BD-6986-D4E9-68B7-51314B663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4. </a:t>
            </a:r>
            <a:r>
              <a:rPr lang="ko-KR" altLang="en-US" sz="3000" dirty="0">
                <a:ea typeface="나눔스퀘어 ExtraBold" panose="020B0600000101010101"/>
              </a:rPr>
              <a:t>운영 자동화 </a:t>
            </a:r>
            <a:r>
              <a:rPr lang="en-US" altLang="ko-KR" sz="3000" dirty="0">
                <a:ea typeface="나눔스퀘어 ExtraBold" panose="020B0600000101010101"/>
              </a:rPr>
              <a:t>+ </a:t>
            </a:r>
            <a:r>
              <a:rPr lang="ko-KR" altLang="en-US" sz="3000" dirty="0">
                <a:ea typeface="나눔스퀘어 ExtraBold" panose="020B0600000101010101"/>
              </a:rPr>
              <a:t>프로젝트 완성 </a:t>
            </a:r>
            <a:r>
              <a:rPr lang="en-US" altLang="ko-KR" sz="3000" dirty="0">
                <a:ea typeface="나눔스퀘어 ExtraBold" panose="020B0600000101010101"/>
              </a:rPr>
              <a:t>+ </a:t>
            </a:r>
            <a:r>
              <a:rPr lang="ko-KR" altLang="en-US" sz="3000" dirty="0">
                <a:ea typeface="나눔스퀘어 ExtraBold" panose="020B0600000101010101"/>
              </a:rPr>
              <a:t>조별 발표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FBD20DA0-2D12-58A3-B416-E0E8F34346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en-US" altLang="ko-KR" sz="2000" b="0" dirty="0"/>
              <a:t>SNS </a:t>
            </a:r>
            <a:r>
              <a:rPr lang="ko-KR" altLang="en-US" sz="2000" b="0" dirty="0"/>
              <a:t>구독 생성된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438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AB5D3-8090-A7F6-28AE-02D4E0FE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9A6665-67DC-F649-72FC-9090FBDD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11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21313A56-FE9E-D8F8-C610-624F920AC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4. </a:t>
            </a:r>
            <a:r>
              <a:rPr lang="ko-KR" altLang="en-US" sz="3000" dirty="0">
                <a:ea typeface="나눔스퀘어 ExtraBold" panose="020B0600000101010101"/>
              </a:rPr>
              <a:t>운영 자동화 </a:t>
            </a:r>
            <a:r>
              <a:rPr lang="en-US" altLang="ko-KR" sz="3000" dirty="0">
                <a:ea typeface="나눔스퀘어 ExtraBold" panose="020B0600000101010101"/>
              </a:rPr>
              <a:t>+ </a:t>
            </a:r>
            <a:r>
              <a:rPr lang="ko-KR" altLang="en-US" sz="3000" dirty="0">
                <a:ea typeface="나눔스퀘어 ExtraBold" panose="020B0600000101010101"/>
              </a:rPr>
              <a:t>프로젝트 완성 </a:t>
            </a:r>
            <a:r>
              <a:rPr lang="en-US" altLang="ko-KR" sz="3000" dirty="0">
                <a:ea typeface="나눔스퀘어 ExtraBold" panose="020B0600000101010101"/>
              </a:rPr>
              <a:t>+ </a:t>
            </a:r>
            <a:r>
              <a:rPr lang="ko-KR" altLang="en-US" sz="3000" dirty="0">
                <a:ea typeface="나눔스퀘어 ExtraBold" panose="020B0600000101010101"/>
              </a:rPr>
              <a:t>조별 발표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2F3F6DBD-A673-0B36-3980-7C105A46CC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ko-KR" altLang="en-US" sz="2000" b="0"/>
              <a:t>파이프라인에서 수동승인 단계가 추가된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312111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6F8B-BF37-A6A7-A2A3-B35B62C1B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BEBD09-6BBF-4EE3-73BB-9C71FBB7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9950" y="6492875"/>
            <a:ext cx="595050" cy="365125"/>
          </a:xfrm>
        </p:spPr>
        <p:txBody>
          <a:bodyPr/>
          <a:lstStyle/>
          <a:p>
            <a:fld id="{FCFC61ED-C389-487E-B425-FD84659AE166}" type="slidenum">
              <a:rPr lang="ko-KR" altLang="en-US" smtClean="0">
                <a:ea typeface="나눔스퀘어 ExtraBold" panose="020B0600000101010101"/>
              </a:rPr>
              <a:t>12</a:t>
            </a:fld>
            <a:endParaRPr lang="ko-KR" altLang="en-US" dirty="0">
              <a:ea typeface="나눔스퀘어 ExtraBold" panose="020B0600000101010101"/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96502974-B787-BE89-81A6-C9B5083A8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000" dirty="0">
                <a:ea typeface="나눔스퀘어 ExtraBold" panose="020B0600000101010101"/>
              </a:rPr>
              <a:t>Day 4. </a:t>
            </a:r>
            <a:r>
              <a:rPr lang="ko-KR" altLang="en-US" sz="3000" dirty="0">
                <a:ea typeface="나눔스퀘어 ExtraBold" panose="020B0600000101010101"/>
              </a:rPr>
              <a:t>운영 자동화 </a:t>
            </a:r>
            <a:r>
              <a:rPr lang="en-US" altLang="ko-KR" sz="3000" dirty="0">
                <a:ea typeface="나눔스퀘어 ExtraBold" panose="020B0600000101010101"/>
              </a:rPr>
              <a:t>+ </a:t>
            </a:r>
            <a:r>
              <a:rPr lang="ko-KR" altLang="en-US" sz="3000" dirty="0">
                <a:ea typeface="나눔스퀘어 ExtraBold" panose="020B0600000101010101"/>
              </a:rPr>
              <a:t>프로젝트 완성 </a:t>
            </a:r>
            <a:r>
              <a:rPr lang="en-US" altLang="ko-KR" sz="3000" dirty="0">
                <a:ea typeface="나눔스퀘어 ExtraBold" panose="020B0600000101010101"/>
              </a:rPr>
              <a:t>+ </a:t>
            </a:r>
            <a:r>
              <a:rPr lang="ko-KR" altLang="en-US" sz="3000" dirty="0">
                <a:ea typeface="나눔스퀘어 ExtraBold" panose="020B0600000101010101"/>
              </a:rPr>
              <a:t>조별 발표</a:t>
            </a:r>
          </a:p>
        </p:txBody>
      </p:sp>
      <p:sp>
        <p:nvSpPr>
          <p:cNvPr id="3" name="텍스트 개체 틀 5">
            <a:extLst>
              <a:ext uri="{FF2B5EF4-FFF2-40B4-BE49-F238E27FC236}">
                <a16:creationId xmlns:a16="http://schemas.microsoft.com/office/drawing/2014/main" id="{0A8EFA97-49A7-83AE-DF78-4405B6622F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7038" y="1401763"/>
            <a:ext cx="11241221" cy="5091112"/>
          </a:xfrm>
        </p:spPr>
        <p:txBody>
          <a:bodyPr>
            <a:normAutofit/>
          </a:bodyPr>
          <a:lstStyle/>
          <a:p>
            <a:r>
              <a:rPr lang="ko-KR" altLang="en-US" sz="2000" b="0"/>
              <a:t>파이프라인에서 수동승인에 대한 이메일 및 검토 화면 스크린샷</a:t>
            </a:r>
            <a:endParaRPr lang="en-US" altLang="ko-KR" sz="2000" b="0" dirty="0"/>
          </a:p>
        </p:txBody>
      </p:sp>
    </p:spTree>
    <p:extLst>
      <p:ext uri="{BB962C8B-B14F-4D97-AF65-F5344CB8AC3E}">
        <p14:creationId xmlns:p14="http://schemas.microsoft.com/office/powerpoint/2010/main" val="2716433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1919ae-71d8-4e78-b1bd-1ce78ec43a0b" xsi:nil="true"/>
    <lcf76f155ced4ddcb4097134ff3c332f xmlns="677f369c-0c7e-4879-9dfb-6cea400ef00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7C302623EB9324799900221F4FFEB85" ma:contentTypeVersion="20" ma:contentTypeDescription="새 문서를 만듭니다." ma:contentTypeScope="" ma:versionID="712b78f7722a0fb660017454117a7fc9">
  <xsd:schema xmlns:xsd="http://www.w3.org/2001/XMLSchema" xmlns:xs="http://www.w3.org/2001/XMLSchema" xmlns:p="http://schemas.microsoft.com/office/2006/metadata/properties" xmlns:ns2="677f369c-0c7e-4879-9dfb-6cea400ef005" xmlns:ns3="1f1919ae-71d8-4e78-b1bd-1ce78ec43a0b" targetNamespace="http://schemas.microsoft.com/office/2006/metadata/properties" ma:root="true" ma:fieldsID="15f5859c2da0e1685b6402fcecfc16b6" ns2:_="" ns3:_="">
    <xsd:import namespace="677f369c-0c7e-4879-9dfb-6cea400ef005"/>
    <xsd:import namespace="1f1919ae-71d8-4e78-b1bd-1ce78ec43a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7f369c-0c7e-4879-9dfb-6cea400ef0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1919ae-71d8-4e78-b1bd-1ce78ec43a0b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19afbf73-953c-4c0e-a9f0-3ec8db72f19e}" ma:internalName="TaxCatchAll" ma:showField="CatchAllData" ma:web="1f1919ae-71d8-4e78-b1bd-1ce78ec43a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FA3EB7-585F-421B-AC3B-C1D727679BB4}">
  <ds:schemaRefs>
    <ds:schemaRef ds:uri="http://purl.org/dc/terms/"/>
    <ds:schemaRef ds:uri="http://purl.org/dc/elements/1.1/"/>
    <ds:schemaRef ds:uri="e4e13380-6049-4f59-9391-9958b2774ca2"/>
    <ds:schemaRef ds:uri="http://schemas.microsoft.com/office/2006/metadata/properties"/>
    <ds:schemaRef ds:uri="cb8fcf1b-9571-4d20-a8ff-81bee2907a75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f1919ae-71d8-4e78-b1bd-1ce78ec43a0b"/>
    <ds:schemaRef ds:uri="677f369c-0c7e-4879-9dfb-6cea400ef005"/>
  </ds:schemaRefs>
</ds:datastoreItem>
</file>

<file path=customXml/itemProps2.xml><?xml version="1.0" encoding="utf-8"?>
<ds:datastoreItem xmlns:ds="http://schemas.openxmlformats.org/officeDocument/2006/customXml" ds:itemID="{50DDFF82-6D5A-4CDB-B3AB-DEA559A392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7f369c-0c7e-4879-9dfb-6cea400ef005"/>
    <ds:schemaRef ds:uri="1f1919ae-71d8-4e78-b1bd-1ce78ec43a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EF4BEE-B908-482F-A9DC-804AC3AB2BC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10395</TotalTime>
  <Words>215</Words>
  <Application>Microsoft Office PowerPoint</Application>
  <PresentationFormat>와이드스크린</PresentationFormat>
  <Paragraphs>43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나눔스퀘어 Bold</vt:lpstr>
      <vt:lpstr>나눔스퀘어 ExtraBold</vt:lpstr>
      <vt:lpstr>Malgun Gothic</vt:lpstr>
      <vt:lpstr>Malgun Gothic</vt:lpstr>
      <vt:lpstr>Arial</vt:lpstr>
      <vt:lpstr>Wingdings</vt:lpstr>
      <vt:lpstr>Office 테마</vt:lpstr>
      <vt:lpstr>PowerPoint 프레젠테이션</vt:lpstr>
      <vt:lpstr>Day 1. CI/CD 기본 구축 &amp; 코드 기반 파이프라인 설계</vt:lpstr>
      <vt:lpstr>Day 1. CI/CD 기본 구축 &amp; 코드 기반 파이프라인 설계</vt:lpstr>
      <vt:lpstr>Day 2. 자동 배포 환경 구축</vt:lpstr>
      <vt:lpstr>Day 2. 자동 배포 환경 구축</vt:lpstr>
      <vt:lpstr>Day 3. Auto Scaling + Load Balancer + CloudWatch</vt:lpstr>
      <vt:lpstr>Day 3. Auto Scaling + Load Balancer + CloudWatch</vt:lpstr>
      <vt:lpstr>Day 3. Auto Scaling + Load Balancer + CloudWatch</vt:lpstr>
      <vt:lpstr>Day 3. Auto Scaling + Load Balancer + CloudWatch</vt:lpstr>
      <vt:lpstr>Day 4. 운영 자동화 + 프로젝트 완성 + 조별 발표</vt:lpstr>
      <vt:lpstr>Day 4. 운영 자동화 + 프로젝트 완성 + 조별 발표</vt:lpstr>
      <vt:lpstr>Day 4. 운영 자동화 + 프로젝트 완성 + 조별 발표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석지혜(AIVLE교육팀)</dc:creator>
  <cp:lastModifiedBy>매니저 정하늘</cp:lastModifiedBy>
  <cp:revision>316</cp:revision>
  <dcterms:created xsi:type="dcterms:W3CDTF">2025-02-05T05:12:41Z</dcterms:created>
  <dcterms:modified xsi:type="dcterms:W3CDTF">2025-12-16T02:57:44Z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0x010100E7C302623EB9324799900221F4FFEB85</vt:lpwstr>
  </property>
  <property fmtid="{D5CDD505-2E9C-101B-9397-08002B2CF9AE}" pid="3" name="MSIP_Label_b16c548c-0cd3-4220-987a-a58bfd9a89d4_Enabled">
    <vt:lpwstr>true</vt:lpwstr>
  </property>
  <property fmtid="{D5CDD505-2E9C-101B-9397-08002B2CF9AE}" pid="4" name="MSIP_Label_b16c548c-0cd3-4220-987a-a58bfd9a89d4_SetDate">
    <vt:lpwstr>2025-03-18T00:11:04Z</vt:lpwstr>
  </property>
  <property fmtid="{D5CDD505-2E9C-101B-9397-08002B2CF9AE}" pid="5" name="MSIP_Label_b16c548c-0cd3-4220-987a-a58bfd9a89d4_Method">
    <vt:lpwstr>Privileged</vt:lpwstr>
  </property>
  <property fmtid="{D5CDD505-2E9C-101B-9397-08002B2CF9AE}" pid="6" name="MSIP_Label_b16c548c-0cd3-4220-987a-a58bfd9a89d4_Name">
    <vt:lpwstr>b16c548c-0cd3-4220-987a-a58bfd9a89d4</vt:lpwstr>
  </property>
  <property fmtid="{D5CDD505-2E9C-101B-9397-08002B2CF9AE}" pid="7" name="MSIP_Label_b16c548c-0cd3-4220-987a-a58bfd9a89d4_SiteId">
    <vt:lpwstr>522a0f89-ae58-43b6-821b-2b06cecc7d8a</vt:lpwstr>
  </property>
  <property fmtid="{D5CDD505-2E9C-101B-9397-08002B2CF9AE}" pid="8" name="MSIP_Label_b16c548c-0cd3-4220-987a-a58bfd9a89d4_ActionId">
    <vt:lpwstr>58a531f8-a013-4ebc-82e3-536694e20eb5</vt:lpwstr>
  </property>
  <property fmtid="{D5CDD505-2E9C-101B-9397-08002B2CF9AE}" pid="9" name="MSIP_Label_b16c548c-0cd3-4220-987a-a58bfd9a89d4_ContentBits">
    <vt:lpwstr>0</vt:lpwstr>
  </property>
  <property fmtid="{D5CDD505-2E9C-101B-9397-08002B2CF9AE}" pid="10" name="MSIP_Label_b16c548c-0cd3-4220-987a-a58bfd9a89d4_Tag">
    <vt:lpwstr>10, 0, 1, 1</vt:lpwstr>
  </property>
  <property fmtid="{D5CDD505-2E9C-101B-9397-08002B2CF9AE}" pid="11" name="MediaServiceImageTags">
    <vt:lpwstr/>
  </property>
</Properties>
</file>