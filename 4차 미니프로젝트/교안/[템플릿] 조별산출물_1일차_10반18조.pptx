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6" r:id="rId1"/>
  </p:sldMasterIdLst>
  <p:notesMasterIdLst>
    <p:notesMasterId r:id="rId19"/>
  </p:notesMasterIdLst>
  <p:sldIdLst>
    <p:sldId id="3855" r:id="rId2"/>
    <p:sldId id="330" r:id="rId3"/>
    <p:sldId id="326" r:id="rId4"/>
    <p:sldId id="3853" r:id="rId5"/>
    <p:sldId id="338" r:id="rId6"/>
    <p:sldId id="339" r:id="rId7"/>
    <p:sldId id="342" r:id="rId8"/>
    <p:sldId id="3854" r:id="rId9"/>
    <p:sldId id="3857" r:id="rId10"/>
    <p:sldId id="3858" r:id="rId11"/>
    <p:sldId id="3859" r:id="rId12"/>
    <p:sldId id="3860" r:id="rId13"/>
    <p:sldId id="3861" r:id="rId14"/>
    <p:sldId id="3862" r:id="rId15"/>
    <p:sldId id="3863" r:id="rId16"/>
    <p:sldId id="3856" r:id="rId17"/>
    <p:sldId id="273" r:id="rId1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200" y="76"/>
      </p:cViewPr>
      <p:guideLst>
        <p:guide orient="horz" pos="1619"/>
        <p:guide pos="2879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B4F44D9B-87D9-4A9A-A8E0-A548B755B657}" type="datetime1">
              <a:rPr lang="ko-KR" altLang="en-US"/>
              <a:pPr lvl="0">
                <a:defRPr/>
              </a:pPr>
              <a:t>2025-12-04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BCFCF90D-E503-4B43-A793-63B9CCFE65F8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685800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>
                <a:latin typeface="+mj-lt"/>
              </a:rPr>
              <a:t>표지</a:t>
            </a:r>
            <a:r>
              <a:rPr lang="en-US" altLang="ko-KR">
                <a:latin typeface="+mj-lt"/>
              </a:rPr>
              <a:t> : </a:t>
            </a:r>
            <a:r>
              <a:rPr lang="ko-KR" altLang="en-US">
                <a:latin typeface="+mj-lt"/>
              </a:rPr>
              <a:t>이미지 교체</a:t>
            </a:r>
            <a:r>
              <a:rPr lang="en-US" altLang="ko-KR">
                <a:latin typeface="+mj-lt"/>
              </a:rPr>
              <a:t> </a:t>
            </a:r>
            <a:r>
              <a:rPr lang="ko-KR" altLang="en-US">
                <a:latin typeface="+mj-lt"/>
              </a:rPr>
              <a:t>예정</a:t>
            </a:r>
            <a:endParaRPr lang="en-US" altLang="ko-KR">
              <a:latin typeface="+mj-lt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F5159E83-DD15-49A5-B765-19F21DF4BB13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187" name="Google Shape;187;p18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D1903-5702-4792-9244-10F1FFA645C8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3B64-3434-4367-A414-7119767286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8423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D1903-5702-4792-9244-10F1FFA645C8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3B64-3434-4367-A414-7119767286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2397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D1903-5702-4792-9244-10F1FFA645C8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3B64-3434-4367-A414-7119767286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6850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D1903-5702-4792-9244-10F1FFA645C8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3B64-3434-4367-A414-7119767286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1615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D1903-5702-4792-9244-10F1FFA645C8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3B64-3434-4367-A414-7119767286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5087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D1903-5702-4792-9244-10F1FFA645C8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3B64-3434-4367-A414-7119767286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7776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D1903-5702-4792-9244-10F1FFA645C8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3B64-3434-4367-A414-7119767286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1569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D1903-5702-4792-9244-10F1FFA645C8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3B64-3434-4367-A414-7119767286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8187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D1903-5702-4792-9244-10F1FFA645C8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3B64-3434-4367-A414-7119767286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3415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D1903-5702-4792-9244-10F1FFA645C8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3B64-3434-4367-A414-7119767286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6141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D1903-5702-4792-9244-10F1FFA645C8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3B64-3434-4367-A414-7119767286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76125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8D999E1-258C-069F-B86A-6232DD34FAA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cxnSp>
        <p:nvCxnSpPr>
          <p:cNvPr id="7" name="Google Shape;43;p42">
            <a:extLst>
              <a:ext uri="{FF2B5EF4-FFF2-40B4-BE49-F238E27FC236}">
                <a16:creationId xmlns:a16="http://schemas.microsoft.com/office/drawing/2014/main" id="{A1CA6195-DA48-4D27-B667-218BC9E3AEFF}"/>
              </a:ext>
            </a:extLst>
          </p:cNvPr>
          <p:cNvCxnSpPr>
            <a:cxnSpLocks/>
          </p:cNvCxnSpPr>
          <p:nvPr userDrawn="1"/>
        </p:nvCxnSpPr>
        <p:spPr>
          <a:xfrm>
            <a:off x="646654" y="1714501"/>
            <a:ext cx="0" cy="802313"/>
          </a:xfrm>
          <a:prstGeom prst="straightConnector1">
            <a:avLst/>
          </a:prstGeom>
          <a:noFill/>
          <a:ln w="57150" cap="flat" cmpd="sng">
            <a:solidFill>
              <a:srgbClr val="02BDB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57;p11">
            <a:extLst>
              <a:ext uri="{FF2B5EF4-FFF2-40B4-BE49-F238E27FC236}">
                <a16:creationId xmlns:a16="http://schemas.microsoft.com/office/drawing/2014/main" id="{CA5F837B-AAE4-477D-81BA-C18784B728C7}"/>
              </a:ext>
            </a:extLst>
          </p:cNvPr>
          <p:cNvSpPr txBox="1">
            <a:spLocks/>
          </p:cNvSpPr>
          <p:nvPr userDrawn="1"/>
        </p:nvSpPr>
        <p:spPr>
          <a:xfrm>
            <a:off x="737725" y="1571402"/>
            <a:ext cx="6184277" cy="1088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6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algn="l"/>
            <a:r>
              <a:rPr lang="en-US" altLang="ko-KR" sz="700" b="1">
                <a:solidFill>
                  <a:srgbClr val="67BDC6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300" b="1">
                <a:solidFill>
                  <a:srgbClr val="67BDC6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100" b="1">
                <a:solidFill>
                  <a:srgbClr val="02BDB6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KT AIVLE School</a:t>
            </a:r>
          </a:p>
        </p:txBody>
      </p:sp>
      <p:sp>
        <p:nvSpPr>
          <p:cNvPr id="11" name="Google Shape;40;p42">
            <a:extLst>
              <a:ext uri="{FF2B5EF4-FFF2-40B4-BE49-F238E27FC236}">
                <a16:creationId xmlns:a16="http://schemas.microsoft.com/office/drawing/2014/main" id="{257A3FF8-0923-4282-A567-EF1BFBF47EE1}"/>
              </a:ext>
            </a:extLst>
          </p:cNvPr>
          <p:cNvSpPr/>
          <p:nvPr userDrawn="1"/>
        </p:nvSpPr>
        <p:spPr>
          <a:xfrm>
            <a:off x="7324437" y="4751485"/>
            <a:ext cx="1670524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Make it possible</a:t>
            </a:r>
            <a:endParaRPr sz="1100" b="0" i="0" u="none" strike="noStrike" cap="none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pic>
        <p:nvPicPr>
          <p:cNvPr id="12" name="Google Shape;41;p42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8D57560E-3BFC-450A-8DFF-F178AB45C414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7433224" y="4371975"/>
            <a:ext cx="1445665" cy="31324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텍스트 개체 틀 17">
            <a:extLst>
              <a:ext uri="{FF2B5EF4-FFF2-40B4-BE49-F238E27FC236}">
                <a16:creationId xmlns:a16="http://schemas.microsoft.com/office/drawing/2014/main" id="{9E7F6888-DD09-453C-AA8B-B8F6AE18F2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7003" y="2049544"/>
            <a:ext cx="6301978" cy="617990"/>
          </a:xfrm>
          <a:prstGeom prst="rect">
            <a:avLst/>
          </a:prstGeom>
        </p:spPr>
        <p:txBody>
          <a:bodyPr lIns="68580" tIns="34290" rIns="68580" bIns="34290">
            <a:normAutofit/>
          </a:bodyPr>
          <a:lstStyle>
            <a:lvl1pPr marL="0" indent="0">
              <a:buNone/>
              <a:defRPr sz="3300" b="1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/>
            <a:r>
              <a:rPr lang="ko-KR" altLang="en-US"/>
              <a:t>제목을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28625914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15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CFC7804B-E956-460B-9E30-2FEA1F7EEB28}"/>
              </a:ext>
            </a:extLst>
          </p:cNvPr>
          <p:cNvSpPr/>
          <p:nvPr userDrawn="1"/>
        </p:nvSpPr>
        <p:spPr>
          <a:xfrm>
            <a:off x="1" y="-1"/>
            <a:ext cx="2768138" cy="5143500"/>
          </a:xfrm>
          <a:prstGeom prst="rect">
            <a:avLst/>
          </a:prstGeom>
          <a:solidFill>
            <a:srgbClr val="C8E7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3EDB5C16-8501-4DEA-ABB9-D73FD96C23D4}"/>
              </a:ext>
            </a:extLst>
          </p:cNvPr>
          <p:cNvSpPr/>
          <p:nvPr userDrawn="1"/>
        </p:nvSpPr>
        <p:spPr>
          <a:xfrm>
            <a:off x="336273" y="850874"/>
            <a:ext cx="1755000" cy="135000"/>
          </a:xfrm>
          <a:custGeom>
            <a:avLst/>
            <a:gdLst/>
            <a:ahLst/>
            <a:cxnLst/>
            <a:rect l="l" t="t" r="r" b="b"/>
            <a:pathLst>
              <a:path w="1913254" h="139064">
                <a:moveTo>
                  <a:pt x="1890140" y="0"/>
                </a:moveTo>
                <a:lnTo>
                  <a:pt x="23113" y="0"/>
                </a:lnTo>
                <a:lnTo>
                  <a:pt x="14091" y="1825"/>
                </a:lnTo>
                <a:lnTo>
                  <a:pt x="6746" y="6794"/>
                </a:lnTo>
                <a:lnTo>
                  <a:pt x="1807" y="14144"/>
                </a:lnTo>
                <a:lnTo>
                  <a:pt x="0" y="23113"/>
                </a:lnTo>
                <a:lnTo>
                  <a:pt x="0" y="115824"/>
                </a:lnTo>
                <a:lnTo>
                  <a:pt x="1807" y="124793"/>
                </a:lnTo>
                <a:lnTo>
                  <a:pt x="6746" y="132143"/>
                </a:lnTo>
                <a:lnTo>
                  <a:pt x="14091" y="137112"/>
                </a:lnTo>
                <a:lnTo>
                  <a:pt x="23113" y="138937"/>
                </a:lnTo>
                <a:lnTo>
                  <a:pt x="1890140" y="138937"/>
                </a:lnTo>
                <a:lnTo>
                  <a:pt x="1899110" y="137112"/>
                </a:lnTo>
                <a:lnTo>
                  <a:pt x="1906460" y="132143"/>
                </a:lnTo>
                <a:lnTo>
                  <a:pt x="1911429" y="124793"/>
                </a:lnTo>
                <a:lnTo>
                  <a:pt x="1913254" y="115824"/>
                </a:lnTo>
                <a:lnTo>
                  <a:pt x="1913254" y="23113"/>
                </a:lnTo>
                <a:lnTo>
                  <a:pt x="1911429" y="14144"/>
                </a:lnTo>
                <a:lnTo>
                  <a:pt x="1906460" y="6794"/>
                </a:lnTo>
                <a:lnTo>
                  <a:pt x="1899110" y="1825"/>
                </a:lnTo>
                <a:lnTo>
                  <a:pt x="189014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 lIns="0" tIns="0" rIns="0" bIns="0" rtlCol="0"/>
          <a:lstStyle/>
          <a:p>
            <a:endParaRPr sz="1013"/>
          </a:p>
        </p:txBody>
      </p:sp>
      <p:sp>
        <p:nvSpPr>
          <p:cNvPr id="8" name="Google Shape;57;p11">
            <a:extLst>
              <a:ext uri="{FF2B5EF4-FFF2-40B4-BE49-F238E27FC236}">
                <a16:creationId xmlns:a16="http://schemas.microsoft.com/office/drawing/2014/main" id="{D3CD2633-4184-4BD3-B0F2-B72B63CE630D}"/>
              </a:ext>
            </a:extLst>
          </p:cNvPr>
          <p:cNvSpPr txBox="1">
            <a:spLocks/>
          </p:cNvSpPr>
          <p:nvPr userDrawn="1"/>
        </p:nvSpPr>
        <p:spPr>
          <a:xfrm>
            <a:off x="249224" y="495108"/>
            <a:ext cx="1917035" cy="563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6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algn="l"/>
            <a:r>
              <a:rPr lang="en-US" altLang="ko-KR" sz="675" b="1">
                <a:solidFill>
                  <a:srgbClr val="67BDC6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300" b="1">
                <a:solidFill>
                  <a:srgbClr val="67BDC6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3000" b="1">
                <a:solidFill>
                  <a:srgbClr val="165D69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Contents</a:t>
            </a:r>
            <a:endParaRPr lang="en-US" altLang="ko-KR" sz="2100" b="1">
              <a:solidFill>
                <a:srgbClr val="165D69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pic>
        <p:nvPicPr>
          <p:cNvPr id="9" name="Google Shape;39;p42">
            <a:extLst>
              <a:ext uri="{FF2B5EF4-FFF2-40B4-BE49-F238E27FC236}">
                <a16:creationId xmlns:a16="http://schemas.microsoft.com/office/drawing/2014/main" id="{2AD542CA-F597-46C8-A98F-05472572ADD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92749" y="121560"/>
            <a:ext cx="801029" cy="1824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71658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345FA1A6-4F44-4CC6-8383-647F51741177}"/>
              </a:ext>
            </a:extLst>
          </p:cNvPr>
          <p:cNvSpPr/>
          <p:nvPr userDrawn="1"/>
        </p:nvSpPr>
        <p:spPr>
          <a:xfrm>
            <a:off x="0" y="-45729"/>
            <a:ext cx="9144000" cy="3673928"/>
          </a:xfrm>
          <a:prstGeom prst="rect">
            <a:avLst/>
          </a:prstGeom>
          <a:solidFill>
            <a:srgbClr val="C8E7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pic>
        <p:nvPicPr>
          <p:cNvPr id="7" name="Google Shape;39;p42">
            <a:extLst>
              <a:ext uri="{FF2B5EF4-FFF2-40B4-BE49-F238E27FC236}">
                <a16:creationId xmlns:a16="http://schemas.microsoft.com/office/drawing/2014/main" id="{40BA73CF-8DE3-4349-9EE8-02FFA007A63B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92749" y="121560"/>
            <a:ext cx="801029" cy="18243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제목 11">
            <a:extLst>
              <a:ext uri="{FF2B5EF4-FFF2-40B4-BE49-F238E27FC236}">
                <a16:creationId xmlns:a16="http://schemas.microsoft.com/office/drawing/2014/main" id="{D56DB1D4-1860-4D8E-BFF8-DD3CCD622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031" y="1058092"/>
            <a:ext cx="7886700" cy="889659"/>
          </a:xfrm>
        </p:spPr>
        <p:txBody>
          <a:bodyPr>
            <a:normAutofit/>
          </a:bodyPr>
          <a:lstStyle>
            <a:lvl1pPr>
              <a:defRPr sz="3000" b="1" baseline="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3" name="슬라이드 번호 개체 틀 4">
            <a:extLst>
              <a:ext uri="{FF2B5EF4-FFF2-40B4-BE49-F238E27FC236}">
                <a16:creationId xmlns:a16="http://schemas.microsoft.com/office/drawing/2014/main" id="{1DB1A82C-7DDE-4FE0-AA34-037909367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1350" y="4869657"/>
            <a:ext cx="2057400" cy="273844"/>
          </a:xfrm>
        </p:spPr>
        <p:txBody>
          <a:bodyPr/>
          <a:lstStyle/>
          <a:p>
            <a:fld id="{ACF2ED5F-30D5-46A4-8918-1B10B1CBCDB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 hasCustomPrompt="1"/>
          </p:nvPr>
        </p:nvSpPr>
        <p:spPr>
          <a:xfrm>
            <a:off x="478031" y="705674"/>
            <a:ext cx="4976710" cy="352418"/>
          </a:xfrm>
        </p:spPr>
        <p:txBody>
          <a:bodyPr>
            <a:noAutofit/>
          </a:bodyPr>
          <a:lstStyle>
            <a:lvl1pPr marL="0" indent="0">
              <a:buNone/>
              <a:defRPr sz="2700" b="1">
                <a:solidFill>
                  <a:srgbClr val="165D69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pPr lvl="0"/>
            <a:r>
              <a:rPr lang="en-US" altLang="ko-KR"/>
              <a:t>01.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29471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86497" y="858794"/>
            <a:ext cx="8962253" cy="4010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C122EFC-3B07-4178-A4AC-1F20091743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5DD47E-A522-4485-AFC6-9A2409467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1350" y="4869657"/>
            <a:ext cx="2057400" cy="273844"/>
          </a:xfrm>
        </p:spPr>
        <p:txBody>
          <a:bodyPr/>
          <a:lstStyle/>
          <a:p>
            <a:fld id="{ACF2ED5F-30D5-46A4-8918-1B10B1CBCDB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94C293D3-8F33-4A27-B1A5-E12834969C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0278" y="1051323"/>
            <a:ext cx="8480822" cy="3688556"/>
          </a:xfrm>
        </p:spPr>
        <p:txBody>
          <a:bodyPr/>
          <a:lstStyle>
            <a:lvl1pPr marL="0" indent="0">
              <a:buNone/>
              <a:defRPr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  <a:lvl2pPr>
              <a:defRPr>
                <a:latin typeface="나눔스퀘어" panose="020B0600000101010101" pitchFamily="50" charset="-127"/>
                <a:ea typeface="나눔스퀘어" panose="020B0600000101010101" pitchFamily="50" charset="-127"/>
              </a:defRPr>
            </a:lvl2pPr>
            <a:lvl3pPr>
              <a:defRPr>
                <a:latin typeface="나눔스퀘어" panose="020B0600000101010101" pitchFamily="50" charset="-127"/>
                <a:ea typeface="나눔스퀘어" panose="020B0600000101010101" pitchFamily="50" charset="-127"/>
              </a:defRPr>
            </a:lvl3pPr>
            <a:lvl4pPr>
              <a:defRPr>
                <a:latin typeface="나눔스퀘어" panose="020B0600000101010101" pitchFamily="50" charset="-127"/>
                <a:ea typeface="나눔스퀘어" panose="020B0600000101010101" pitchFamily="50" charset="-127"/>
              </a:defRPr>
            </a:lvl4pPr>
            <a:lvl5pPr>
              <a:defRPr>
                <a:latin typeface="나눔스퀘어" panose="020B0600000101010101" pitchFamily="50" charset="-127"/>
                <a:ea typeface="나눔스퀘어" panose="020B060000010101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04D7BD2C-A2D0-43AE-9801-01FB4870A69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589BD57-C38F-4A22-B221-1D748B660B69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98DD4D61-B78F-4DE4-B542-FA722C9CF0C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4" name="제목 13">
            <a:extLst>
              <a:ext uri="{FF2B5EF4-FFF2-40B4-BE49-F238E27FC236}">
                <a16:creationId xmlns:a16="http://schemas.microsoft.com/office/drawing/2014/main" id="{524C5287-3EF0-46F1-9C8E-A153AC1F4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" y="153313"/>
            <a:ext cx="7886700" cy="563880"/>
          </a:xfrm>
        </p:spPr>
        <p:txBody>
          <a:bodyPr>
            <a:normAutofit/>
          </a:bodyPr>
          <a:lstStyle>
            <a:lvl1pPr>
              <a:defRPr sz="2700" b="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8" name="사각형: 둥근 모서리 26">
            <a:extLst>
              <a:ext uri="{FF2B5EF4-FFF2-40B4-BE49-F238E27FC236}">
                <a16:creationId xmlns:a16="http://schemas.microsoft.com/office/drawing/2014/main" id="{57FE4EBF-1DFA-4040-BCD3-CF3E99AD6831}"/>
              </a:ext>
            </a:extLst>
          </p:cNvPr>
          <p:cNvSpPr/>
          <p:nvPr userDrawn="1"/>
        </p:nvSpPr>
        <p:spPr>
          <a:xfrm>
            <a:off x="-827593" y="1196226"/>
            <a:ext cx="540000" cy="540000"/>
          </a:xfrm>
          <a:prstGeom prst="roundRect">
            <a:avLst>
              <a:gd name="adj" fmla="val 0"/>
            </a:avLst>
          </a:prstGeom>
          <a:solidFill>
            <a:srgbClr val="30AE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50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9" name="사각형: 둥근 모서리 19">
            <a:extLst>
              <a:ext uri="{FF2B5EF4-FFF2-40B4-BE49-F238E27FC236}">
                <a16:creationId xmlns:a16="http://schemas.microsoft.com/office/drawing/2014/main" id="{4F230E01-A89F-4EDB-BB4B-5ADAE1D315AF}"/>
              </a:ext>
            </a:extLst>
          </p:cNvPr>
          <p:cNvSpPr/>
          <p:nvPr userDrawn="1"/>
        </p:nvSpPr>
        <p:spPr>
          <a:xfrm>
            <a:off x="-827593" y="505515"/>
            <a:ext cx="540000" cy="540000"/>
          </a:xfrm>
          <a:prstGeom prst="roundRect">
            <a:avLst>
              <a:gd name="adj" fmla="val 0"/>
            </a:avLst>
          </a:prstGeom>
          <a:solidFill>
            <a:srgbClr val="204F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50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0" name="사각형: 둥근 모서리 26">
            <a:extLst>
              <a:ext uri="{FF2B5EF4-FFF2-40B4-BE49-F238E27FC236}">
                <a16:creationId xmlns:a16="http://schemas.microsoft.com/office/drawing/2014/main" id="{57FE4EBF-1DFA-4040-BCD3-CF3E99AD6831}"/>
              </a:ext>
            </a:extLst>
          </p:cNvPr>
          <p:cNvSpPr/>
          <p:nvPr userDrawn="1"/>
        </p:nvSpPr>
        <p:spPr>
          <a:xfrm>
            <a:off x="-827593" y="1886937"/>
            <a:ext cx="540000" cy="540000"/>
          </a:xfrm>
          <a:prstGeom prst="roundRect">
            <a:avLst>
              <a:gd name="adj" fmla="val 0"/>
            </a:avLst>
          </a:prstGeom>
          <a:solidFill>
            <a:srgbClr val="C7E3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50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6" name="사각형: 둥근 모서리 26">
            <a:extLst>
              <a:ext uri="{FF2B5EF4-FFF2-40B4-BE49-F238E27FC236}">
                <a16:creationId xmlns:a16="http://schemas.microsoft.com/office/drawing/2014/main" id="{57FE4EBF-1DFA-4040-BCD3-CF3E99AD6831}"/>
              </a:ext>
            </a:extLst>
          </p:cNvPr>
          <p:cNvSpPr/>
          <p:nvPr userDrawn="1"/>
        </p:nvSpPr>
        <p:spPr>
          <a:xfrm>
            <a:off x="-827593" y="2577648"/>
            <a:ext cx="540000" cy="540000"/>
          </a:xfrm>
          <a:prstGeom prst="roundRect">
            <a:avLst>
              <a:gd name="adj" fmla="val 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50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5" name="사각형: 둥근 모서리 26">
            <a:extLst>
              <a:ext uri="{FF2B5EF4-FFF2-40B4-BE49-F238E27FC236}">
                <a16:creationId xmlns:a16="http://schemas.microsoft.com/office/drawing/2014/main" id="{57FE4EBF-1DFA-4040-BCD3-CF3E99AD6831}"/>
              </a:ext>
            </a:extLst>
          </p:cNvPr>
          <p:cNvSpPr/>
          <p:nvPr userDrawn="1"/>
        </p:nvSpPr>
        <p:spPr>
          <a:xfrm>
            <a:off x="-827593" y="3268359"/>
            <a:ext cx="540000" cy="540000"/>
          </a:xfrm>
          <a:prstGeom prst="roundRect">
            <a:avLst>
              <a:gd name="adj" fmla="val 0"/>
            </a:avLst>
          </a:prstGeom>
          <a:solidFill>
            <a:srgbClr val="FF57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50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16823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">
  <p:cSld name="End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14CD8E5-A4BC-4AC3-9C10-5483E0D95A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8421"/>
            <a:ext cx="9144000" cy="5627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1600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F783B93C-511C-42EC-BD84-5B9B054FB2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7724" y="1616008"/>
            <a:ext cx="5561839" cy="994172"/>
          </a:xfrm>
        </p:spPr>
        <p:txBody>
          <a:bodyPr/>
          <a:lstStyle>
            <a:lvl1pPr>
              <a:defRPr b="1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5" name="Google Shape;40;p42"/>
          <p:cNvSpPr/>
          <p:nvPr userDrawn="1"/>
        </p:nvSpPr>
        <p:spPr>
          <a:xfrm>
            <a:off x="7324437" y="4751484"/>
            <a:ext cx="1670524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  <a:sym typeface="Malgun Gothic"/>
              </a:rPr>
              <a:t>Make it possible</a:t>
            </a:r>
            <a:endParaRPr sz="1050" b="0" i="0" u="none" strike="noStrike" cap="none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Arial"/>
            </a:endParaRPr>
          </a:p>
        </p:txBody>
      </p:sp>
      <p:pic>
        <p:nvPicPr>
          <p:cNvPr id="16" name="Google Shape;41;p42" descr="텍스트, 클립아트이(가) 표시된 사진&#10;&#10;자동 생성된 설명"/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7433223" y="4371975"/>
            <a:ext cx="1445665" cy="3132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" name="Google Shape;43;p42"/>
          <p:cNvCxnSpPr>
            <a:cxnSpLocks/>
          </p:cNvCxnSpPr>
          <p:nvPr/>
        </p:nvCxnSpPr>
        <p:spPr>
          <a:xfrm>
            <a:off x="646654" y="1714500"/>
            <a:ext cx="0" cy="802313"/>
          </a:xfrm>
          <a:prstGeom prst="straightConnector1">
            <a:avLst/>
          </a:prstGeom>
          <a:noFill/>
          <a:ln w="57150" cap="flat" cmpd="sng">
            <a:solidFill>
              <a:srgbClr val="02BDB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" name="텍스트 개체 틀 22"/>
          <p:cNvSpPr>
            <a:spLocks noGrp="1"/>
          </p:cNvSpPr>
          <p:nvPr>
            <p:ph type="body" sz="quarter" idx="13" hasCustomPrompt="1"/>
          </p:nvPr>
        </p:nvSpPr>
        <p:spPr>
          <a:xfrm>
            <a:off x="737725" y="1273108"/>
            <a:ext cx="3729773" cy="342900"/>
          </a:xfrm>
        </p:spPr>
        <p:txBody>
          <a:bodyPr>
            <a:normAutofit/>
          </a:bodyPr>
          <a:lstStyle>
            <a:lvl1pPr marL="0" indent="0">
              <a:buNone/>
              <a:defRPr sz="1500" b="1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pPr lvl="0"/>
            <a:r>
              <a:rPr lang="en-US" altLang="ko-KR"/>
              <a:t>XX</a:t>
            </a:r>
            <a:r>
              <a:rPr lang="ko-KR" altLang="en-US"/>
              <a:t>트랙 </a:t>
            </a:r>
            <a:r>
              <a:rPr lang="ko-KR" altLang="en-US" err="1"/>
              <a:t>미니프로젝트</a:t>
            </a:r>
            <a:r>
              <a:rPr lang="ko-KR" altLang="en-US"/>
              <a:t> </a:t>
            </a:r>
            <a:r>
              <a:rPr lang="en-US" altLang="ko-KR"/>
              <a:t>X</a:t>
            </a:r>
            <a:r>
              <a:rPr lang="ko-KR" altLang="en-US"/>
              <a:t>차</a:t>
            </a:r>
          </a:p>
        </p:txBody>
      </p:sp>
      <p:sp>
        <p:nvSpPr>
          <p:cNvPr id="25" name="텍스트 개체 틀 24"/>
          <p:cNvSpPr>
            <a:spLocks noGrp="1"/>
          </p:cNvSpPr>
          <p:nvPr>
            <p:ph type="body" sz="quarter" idx="14" hasCustomPrompt="1"/>
          </p:nvPr>
        </p:nvSpPr>
        <p:spPr>
          <a:xfrm>
            <a:off x="737725" y="2610180"/>
            <a:ext cx="1145858" cy="279266"/>
          </a:xfrm>
        </p:spPr>
        <p:txBody>
          <a:bodyPr>
            <a:normAutofit/>
          </a:bodyPr>
          <a:lstStyle>
            <a:lvl1pPr marL="0" indent="0">
              <a:buNone/>
              <a:defRPr sz="1350">
                <a:solidFill>
                  <a:schemeClr val="bg2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pPr lvl="0"/>
            <a:r>
              <a:rPr lang="en-US" altLang="ko-KR"/>
              <a:t>25.0X.XX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5269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FD1903-5702-4792-9244-10F1FFA645C8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9A3B64-3434-4367-A414-7119767286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936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67" r:id="rId17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8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A3E487-D8AD-4CA7-8C41-F51CEDDAAB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7002" y="1918921"/>
            <a:ext cx="6761398" cy="130565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ko-KR" altLang="en-US" dirty="0">
                <a:latin typeface="+mj-ea"/>
                <a:ea typeface="+mj-ea"/>
              </a:rPr>
              <a:t>도서관리시스템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개발</a:t>
            </a:r>
            <a:endParaRPr lang="en-US" altLang="ko-KR" dirty="0">
              <a:latin typeface="+mj-ea"/>
              <a:ea typeface="+mj-ea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ko-KR" sz="2400" b="0" dirty="0">
                <a:latin typeface="+mj-ea"/>
                <a:ea typeface="+mj-ea"/>
              </a:rPr>
              <a:t>(AI</a:t>
            </a:r>
            <a:r>
              <a:rPr lang="ko-KR" altLang="en-US" sz="2400" b="0" dirty="0">
                <a:latin typeface="+mj-ea"/>
                <a:ea typeface="+mj-ea"/>
              </a:rPr>
              <a:t>를 활용한 도서표지 이미지 생성</a:t>
            </a:r>
            <a:r>
              <a:rPr lang="en-US" altLang="ko-KR" sz="2400" b="0" dirty="0">
                <a:latin typeface="+mj-ea"/>
                <a:ea typeface="+mj-ea"/>
              </a:rPr>
              <a:t>)</a:t>
            </a:r>
            <a:endParaRPr lang="ko-KR" altLang="en-US" sz="1400" b="0" dirty="0">
              <a:latin typeface="+mj-ea"/>
              <a:ea typeface="+mj-ea"/>
            </a:endParaRPr>
          </a:p>
        </p:txBody>
      </p:sp>
      <p:sp>
        <p:nvSpPr>
          <p:cNvPr id="3" name="텍스트 개체 틀 1">
            <a:extLst>
              <a:ext uri="{FF2B5EF4-FFF2-40B4-BE49-F238E27FC236}">
                <a16:creationId xmlns:a16="http://schemas.microsoft.com/office/drawing/2014/main" id="{C328D835-D4D5-CC06-E70D-6D053F28D370}"/>
              </a:ext>
            </a:extLst>
          </p:cNvPr>
          <p:cNvSpPr txBox="1">
            <a:spLocks/>
          </p:cNvSpPr>
          <p:nvPr/>
        </p:nvSpPr>
        <p:spPr>
          <a:xfrm>
            <a:off x="777002" y="1152371"/>
            <a:ext cx="6301978" cy="617990"/>
          </a:xfrm>
          <a:prstGeom prst="rect">
            <a:avLst/>
          </a:prstGeom>
        </p:spPr>
        <p:txBody>
          <a:bodyPr lIns="68580" tIns="34290" rIns="68580" bIns="34290">
            <a:normAutofit/>
          </a:bodyPr>
          <a:lstStyle>
            <a:lvl1pPr marL="0" indent="0" algn="l" defTabSz="779252" rtl="0" eaLnBrk="1" latinLnBrk="1" hangingPunct="1">
              <a:lnSpc>
                <a:spcPct val="90000"/>
              </a:lnSpc>
              <a:spcBef>
                <a:spcPts val="852"/>
              </a:spcBef>
              <a:buFont typeface="Arial" panose="020B0604020202020204" pitchFamily="34" charset="0"/>
              <a:buNone/>
              <a:defRPr sz="3300" b="1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1pPr>
            <a:lvl2pPr marL="584439" indent="-194813" algn="l" defTabSz="779252" rtl="0" eaLnBrk="1" latinLnBrk="1" hangingPunct="1">
              <a:lnSpc>
                <a:spcPct val="90000"/>
              </a:lnSpc>
              <a:spcBef>
                <a:spcPts val="426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4065" indent="-194813" algn="l" defTabSz="779252" rtl="0" eaLnBrk="1" latinLnBrk="1" hangingPunct="1">
              <a:lnSpc>
                <a:spcPct val="90000"/>
              </a:lnSpc>
              <a:spcBef>
                <a:spcPts val="426"/>
              </a:spcBef>
              <a:buFont typeface="Arial" panose="020B060402020202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3690" indent="-194813" algn="l" defTabSz="779252" rtl="0" eaLnBrk="1" latinLnBrk="1" hangingPunct="1">
              <a:lnSpc>
                <a:spcPct val="90000"/>
              </a:lnSpc>
              <a:spcBef>
                <a:spcPts val="426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53316" indent="-194813" algn="l" defTabSz="779252" rtl="0" eaLnBrk="1" latinLnBrk="1" hangingPunct="1">
              <a:lnSpc>
                <a:spcPct val="90000"/>
              </a:lnSpc>
              <a:spcBef>
                <a:spcPts val="426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42942" indent="-194813" algn="l" defTabSz="779252" rtl="0" eaLnBrk="1" latinLnBrk="1" hangingPunct="1">
              <a:lnSpc>
                <a:spcPct val="90000"/>
              </a:lnSpc>
              <a:spcBef>
                <a:spcPts val="426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32568" indent="-194813" algn="l" defTabSz="779252" rtl="0" eaLnBrk="1" latinLnBrk="1" hangingPunct="1">
              <a:lnSpc>
                <a:spcPct val="90000"/>
              </a:lnSpc>
              <a:spcBef>
                <a:spcPts val="426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22194" indent="-194813" algn="l" defTabSz="779252" rtl="0" eaLnBrk="1" latinLnBrk="1" hangingPunct="1">
              <a:lnSpc>
                <a:spcPct val="90000"/>
              </a:lnSpc>
              <a:spcBef>
                <a:spcPts val="426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1820" indent="-194813" algn="l" defTabSz="779252" rtl="0" eaLnBrk="1" latinLnBrk="1" hangingPunct="1">
              <a:lnSpc>
                <a:spcPct val="90000"/>
              </a:lnSpc>
              <a:spcBef>
                <a:spcPts val="426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800" dirty="0">
                <a:latin typeface="+mj-ea"/>
                <a:ea typeface="+mj-ea"/>
              </a:rPr>
              <a:t>미니 프로젝트</a:t>
            </a:r>
          </a:p>
        </p:txBody>
      </p:sp>
    </p:spTree>
    <p:extLst>
      <p:ext uri="{BB962C8B-B14F-4D97-AF65-F5344CB8AC3E}">
        <p14:creationId xmlns:p14="http://schemas.microsoft.com/office/powerpoint/2010/main" val="650984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3341951" y="2938058"/>
            <a:ext cx="1777685" cy="434339"/>
            <a:chOff x="4445996" y="2488762"/>
            <a:chExt cx="2370247" cy="579119"/>
          </a:xfrm>
        </p:grpSpPr>
        <p:sp>
          <p:nvSpPr>
            <p:cNvPr id="6" name="Google Shape;57;p11">
              <a:extLst>
                <a:ext uri="{FF2B5EF4-FFF2-40B4-BE49-F238E27FC236}">
                  <a16:creationId xmlns:a16="http://schemas.microsoft.com/office/drawing/2014/main" id="{19F6252A-529B-45DF-8D11-8F3A43F05F93}"/>
                </a:ext>
              </a:extLst>
            </p:cNvPr>
            <p:cNvSpPr txBox="1">
              <a:spLocks/>
            </p:cNvSpPr>
            <p:nvPr/>
          </p:nvSpPr>
          <p:spPr>
            <a:xfrm>
              <a:off x="4445996" y="2488762"/>
              <a:ext cx="750844" cy="5791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4392" tIns="42185" rIns="84392" bIns="4218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6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723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723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723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723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723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723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723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723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l"/>
              <a:r>
                <a:rPr lang="en-US" altLang="ko-KR" sz="2400" b="1" spc="-75" dirty="0">
                  <a:ln w="3175">
                    <a:solidFill>
                      <a:schemeClr val="tx1">
                        <a:alpha val="30000"/>
                      </a:schemeClr>
                    </a:solidFill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01.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287619" y="2532099"/>
              <a:ext cx="152862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950" dirty="0">
                  <a:latin typeface="+mj-ea"/>
                  <a:ea typeface="+mj-ea"/>
                </a:rPr>
                <a:t>ERD</a:t>
              </a:r>
              <a:r>
                <a:rPr lang="ko-KR" altLang="en-US" sz="1950" dirty="0">
                  <a:latin typeface="+mj-ea"/>
                  <a:ea typeface="+mj-ea"/>
                </a:rPr>
                <a:t>설계</a:t>
              </a:r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3334497" y="3457311"/>
            <a:ext cx="2029357" cy="434339"/>
            <a:chOff x="4445996" y="2488762"/>
            <a:chExt cx="2705810" cy="579119"/>
          </a:xfrm>
        </p:grpSpPr>
        <p:sp>
          <p:nvSpPr>
            <p:cNvPr id="9" name="Google Shape;57;p11">
              <a:extLst>
                <a:ext uri="{FF2B5EF4-FFF2-40B4-BE49-F238E27FC236}">
                  <a16:creationId xmlns:a16="http://schemas.microsoft.com/office/drawing/2014/main" id="{19F6252A-529B-45DF-8D11-8F3A43F05F93}"/>
                </a:ext>
              </a:extLst>
            </p:cNvPr>
            <p:cNvSpPr txBox="1">
              <a:spLocks/>
            </p:cNvSpPr>
            <p:nvPr/>
          </p:nvSpPr>
          <p:spPr>
            <a:xfrm>
              <a:off x="4445996" y="2488762"/>
              <a:ext cx="750844" cy="5791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4392" tIns="42185" rIns="84392" bIns="4218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6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723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723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723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723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723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723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723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723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l"/>
              <a:r>
                <a:rPr lang="en-US" altLang="ko-KR" sz="2400" b="1" spc="-75" dirty="0">
                  <a:ln w="3175">
                    <a:solidFill>
                      <a:schemeClr val="tx1">
                        <a:alpha val="30000"/>
                      </a:schemeClr>
                    </a:solidFill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02.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287619" y="2532099"/>
              <a:ext cx="186418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950" dirty="0">
                  <a:latin typeface="+mj-ea"/>
                  <a:ea typeface="+mj-ea"/>
                </a:rPr>
                <a:t>API </a:t>
              </a:r>
              <a:r>
                <a:rPr lang="ko-KR" altLang="en-US" sz="1950" dirty="0">
                  <a:latin typeface="+mj-ea"/>
                  <a:ea typeface="+mj-ea"/>
                </a:rPr>
                <a:t>정의서</a:t>
              </a:r>
            </a:p>
          </p:txBody>
        </p:sp>
      </p:grpSp>
      <p:grpSp>
        <p:nvGrpSpPr>
          <p:cNvPr id="11" name="그룹 10"/>
          <p:cNvGrpSpPr/>
          <p:nvPr/>
        </p:nvGrpSpPr>
        <p:grpSpPr>
          <a:xfrm>
            <a:off x="3341956" y="3976563"/>
            <a:ext cx="2398047" cy="434339"/>
            <a:chOff x="4445996" y="2488762"/>
            <a:chExt cx="3197393" cy="579119"/>
          </a:xfrm>
        </p:grpSpPr>
        <p:sp>
          <p:nvSpPr>
            <p:cNvPr id="12" name="Google Shape;57;p11">
              <a:extLst>
                <a:ext uri="{FF2B5EF4-FFF2-40B4-BE49-F238E27FC236}">
                  <a16:creationId xmlns:a16="http://schemas.microsoft.com/office/drawing/2014/main" id="{19F6252A-529B-45DF-8D11-8F3A43F05F93}"/>
                </a:ext>
              </a:extLst>
            </p:cNvPr>
            <p:cNvSpPr txBox="1">
              <a:spLocks/>
            </p:cNvSpPr>
            <p:nvPr/>
          </p:nvSpPr>
          <p:spPr>
            <a:xfrm>
              <a:off x="4445996" y="2488762"/>
              <a:ext cx="750844" cy="5791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4392" tIns="42185" rIns="84392" bIns="4218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6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723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723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723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723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723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723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723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723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l"/>
              <a:r>
                <a:rPr lang="en-US" altLang="ko-KR" sz="2400" b="1" spc="-75" dirty="0">
                  <a:ln w="3175">
                    <a:solidFill>
                      <a:schemeClr val="tx1">
                        <a:alpha val="30000"/>
                      </a:schemeClr>
                    </a:solidFill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03.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287618" y="2532099"/>
              <a:ext cx="235577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950" dirty="0">
                  <a:latin typeface="+mj-ea"/>
                  <a:ea typeface="+mj-ea"/>
                </a:rPr>
                <a:t>UI</a:t>
              </a:r>
              <a:r>
                <a:rPr lang="ko-KR" altLang="en-US" sz="1950" dirty="0">
                  <a:latin typeface="+mj-ea"/>
                  <a:ea typeface="+mj-ea"/>
                </a:rPr>
                <a:t>스케치 작성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14859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ERD</a:t>
            </a:r>
            <a:r>
              <a:rPr lang="ko-KR" altLang="en-US" dirty="0"/>
              <a:t>설계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01.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3300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26A62807-E9D2-8B87-C351-007BBCAD2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ERD</a:t>
            </a:r>
            <a:r>
              <a:rPr lang="ko-KR" altLang="en-US"/>
              <a:t>설계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2049FA8-08B8-44EA-94B2-D65F68F80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18" y="896614"/>
            <a:ext cx="7102764" cy="3949625"/>
          </a:xfrm>
          <a:prstGeom prst="rect">
            <a:avLst/>
          </a:prstGeom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CF050244-45A7-44FE-9BB3-058744F18CF0}"/>
              </a:ext>
            </a:extLst>
          </p:cNvPr>
          <p:cNvSpPr txBox="1">
            <a:spLocks/>
          </p:cNvSpPr>
          <p:nvPr/>
        </p:nvSpPr>
        <p:spPr>
          <a:xfrm>
            <a:off x="4269559" y="1164310"/>
            <a:ext cx="7886700" cy="8896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700" b="0" kern="120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+mn-ea"/>
                <a:ea typeface="+mn-ea"/>
              </a:rPr>
              <a:t>USERS.id = </a:t>
            </a:r>
            <a:r>
              <a:rPr lang="en-US" altLang="ko-KR" sz="1000" dirty="0" err="1">
                <a:latin typeface="+mn-ea"/>
                <a:ea typeface="+mn-ea"/>
              </a:rPr>
              <a:t>BOOKS.user_id</a:t>
            </a:r>
            <a:r>
              <a:rPr lang="en-US" altLang="ko-KR" sz="1000" dirty="0">
                <a:latin typeface="+mn-ea"/>
                <a:ea typeface="+mn-ea"/>
              </a:rPr>
              <a:t> FK</a:t>
            </a:r>
            <a:r>
              <a:rPr lang="ko-KR" altLang="en-US" sz="1000" dirty="0">
                <a:latin typeface="+mn-ea"/>
                <a:ea typeface="+mn-ea"/>
              </a:rPr>
              <a:t>관계</a:t>
            </a:r>
            <a:endParaRPr lang="en-US" altLang="ko-KR" sz="1000" dirty="0">
              <a:latin typeface="+mn-ea"/>
              <a:ea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00" dirty="0" err="1">
                <a:latin typeface="+mn-ea"/>
                <a:ea typeface="+mn-ea"/>
              </a:rPr>
              <a:t>BOOKS.category</a:t>
            </a:r>
            <a:r>
              <a:rPr lang="en-US" altLang="ko-KR" sz="1000" dirty="0">
                <a:latin typeface="+mn-ea"/>
                <a:ea typeface="+mn-ea"/>
              </a:rPr>
              <a:t> = CATEGORIES.id FK</a:t>
            </a:r>
            <a:r>
              <a:rPr lang="ko-KR" altLang="en-US" sz="1000" dirty="0">
                <a:latin typeface="+mn-ea"/>
                <a:ea typeface="+mn-ea"/>
              </a:rPr>
              <a:t>관계</a:t>
            </a:r>
            <a:endParaRPr lang="en-US" altLang="ko-KR" sz="10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40621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API </a:t>
            </a:r>
            <a:r>
              <a:rPr lang="ko-KR" altLang="en-US"/>
              <a:t>정의서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02.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3046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API </a:t>
            </a:r>
            <a:r>
              <a:rPr lang="ko-KR" altLang="en-US"/>
              <a:t>정의서</a:t>
            </a:r>
          </a:p>
        </p:txBody>
      </p:sp>
      <p:graphicFrame>
        <p:nvGraphicFramePr>
          <p:cNvPr id="2" name="개체 1">
            <a:extLst>
              <a:ext uri="{FF2B5EF4-FFF2-40B4-BE49-F238E27FC236}">
                <a16:creationId xmlns:a16="http://schemas.microsoft.com/office/drawing/2014/main" id="{1F1D8F28-0155-A9D4-3BAC-5B9EB6AB4D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0782175"/>
              </p:ext>
            </p:extLst>
          </p:nvPr>
        </p:nvGraphicFramePr>
        <p:xfrm>
          <a:off x="396875" y="1268413"/>
          <a:ext cx="6304491" cy="3578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name="Worksheet" r:id="rId3" imgW="14211120" imgH="13315811" progId="Excel.Sheet.12">
                  <p:embed/>
                </p:oleObj>
              </mc:Choice>
              <mc:Fallback>
                <p:oleObj name="Worksheet" r:id="rId3" imgW="14211120" imgH="13315811" progId="Excel.Sheet.12">
                  <p:embed/>
                  <p:pic>
                    <p:nvPicPr>
                      <p:cNvPr id="2" name="개체 1">
                        <a:extLst>
                          <a:ext uri="{FF2B5EF4-FFF2-40B4-BE49-F238E27FC236}">
                            <a16:creationId xmlns:a16="http://schemas.microsoft.com/office/drawing/2014/main" id="{1F1D8F28-0155-A9D4-3BAC-5B9EB6AB4D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6875" y="1268413"/>
                        <a:ext cx="6304491" cy="35788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텍스트 개체 틀 1">
            <a:extLst>
              <a:ext uri="{FF2B5EF4-FFF2-40B4-BE49-F238E27FC236}">
                <a16:creationId xmlns:a16="http://schemas.microsoft.com/office/drawing/2014/main" id="{03637D47-19ED-6859-038B-D9F9561EEE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0278" y="966410"/>
            <a:ext cx="8480822" cy="373440"/>
          </a:xfrm>
        </p:spPr>
        <p:txBody>
          <a:bodyPr>
            <a:normAutofit/>
          </a:bodyPr>
          <a:lstStyle/>
          <a:p>
            <a:r>
              <a:rPr lang="en-US" altLang="ko-KR" sz="12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2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이미지 더블 클릭 시 데이터 수정 가능합니다</a:t>
            </a:r>
            <a:r>
              <a:rPr lang="en-US" altLang="ko-KR" sz="12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.]</a:t>
            </a:r>
            <a:endParaRPr lang="ko-KR" altLang="en-US" sz="14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0619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UI </a:t>
            </a:r>
            <a:r>
              <a:rPr lang="ko-KR" altLang="en-US"/>
              <a:t>스케치 작성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03.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310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UI </a:t>
            </a:r>
            <a:r>
              <a:rPr lang="ko-KR" altLang="en-US"/>
              <a:t>스케치 작성</a:t>
            </a:r>
          </a:p>
        </p:txBody>
      </p:sp>
      <p:graphicFrame>
        <p:nvGraphicFramePr>
          <p:cNvPr id="4" name="Group 159"/>
          <p:cNvGraphicFramePr>
            <a:graphicFrameLocks noGrp="1"/>
          </p:cNvGraphicFramePr>
          <p:nvPr/>
        </p:nvGraphicFramePr>
        <p:xfrm>
          <a:off x="133351" y="949842"/>
          <a:ext cx="6154035" cy="3900786"/>
        </p:xfrm>
        <a:graphic>
          <a:graphicData uri="http://schemas.openxmlformats.org/drawingml/2006/table">
            <a:tbl>
              <a:tblPr firstRow="1" bandRow="1"/>
              <a:tblGrid>
                <a:gridCol w="869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4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1234">
                <a:tc>
                  <a:txBody>
                    <a:bodyPr/>
                    <a:lstStyle/>
                    <a:p>
                      <a:pPr marL="268288" marR="0" lvl="0" indent="-268288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</a:rPr>
                        <a:t>Indicator</a:t>
                      </a:r>
                      <a:endParaRPr kumimoji="1" lang="en-US" altLang="ko-KR" sz="1000" b="1" i="0" u="none" strike="noStrike" cap="none" normalizeH="0" baseline="0">
                        <a:solidFill>
                          <a:schemeClr val="tx1"/>
                        </a:solidFill>
                        <a:latin typeface="나눔스퀘어 Bold"/>
                        <a:ea typeface="나눔스퀘어 Bold"/>
                      </a:endParaRPr>
                    </a:p>
                  </a:txBody>
                  <a:tcPr marL="90000" marR="90000" marT="17998" marB="17998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E3E4"/>
                    </a:solidFill>
                  </a:tcPr>
                </a:tc>
                <a:tc>
                  <a:txBody>
                    <a:bodyPr/>
                    <a:lstStyle/>
                    <a:p>
                      <a:pPr marL="268288" marR="0" lvl="0" indent="-268288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ko-KR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나눔스퀘어"/>
                        <a:ea typeface="나눔스퀘어"/>
                      </a:endParaRPr>
                    </a:p>
                  </a:txBody>
                  <a:tcPr marL="90000" marR="90000" marT="17998" marB="17998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2390">
                <a:tc gridSpan="2">
                  <a:txBody>
                    <a:bodyPr/>
                    <a:lstStyle/>
                    <a:p>
                      <a:pPr marL="268288" marR="0" lvl="0" indent="-268288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tabLst>
                          <a:tab pos="1074738" algn="l"/>
                        </a:tabLst>
                        <a:defRPr/>
                      </a:pPr>
                      <a:endParaRPr kumimoji="1" lang="ko-KR" altLang="ko-KR" sz="8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나눔스퀘어"/>
                        <a:ea typeface="나눔스퀘어"/>
                      </a:endParaRPr>
                    </a:p>
                  </a:txBody>
                  <a:tcPr marL="90000" marR="90000" marT="17998" marB="17998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1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5749159"/>
              </p:ext>
            </p:extLst>
          </p:nvPr>
        </p:nvGraphicFramePr>
        <p:xfrm>
          <a:off x="6450419" y="949842"/>
          <a:ext cx="2391550" cy="648000"/>
        </p:xfrm>
        <a:graphic>
          <a:graphicData uri="http://schemas.openxmlformats.org/drawingml/2006/table">
            <a:tbl>
              <a:tblPr firstRow="1" bandRow="1"/>
              <a:tblGrid>
                <a:gridCol w="87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</a:rPr>
                        <a:t>화면명칭</a:t>
                      </a:r>
                      <a:endParaRPr kumimoji="1" lang="ko-KR" altLang="en-US" sz="800" b="1" i="0" u="none" strike="noStrike" cap="none" normalizeH="0" baseline="0">
                        <a:solidFill>
                          <a:schemeClr val="tx1"/>
                        </a:solidFill>
                        <a:latin typeface="나눔스퀘어 Bold"/>
                        <a:ea typeface="나눔스퀘어 Bold"/>
                      </a:endParaRPr>
                    </a:p>
                  </a:txBody>
                  <a:tcPr marL="72000" marR="72000" marT="18004" marB="18004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E3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나눔스퀘어"/>
                          <a:ea typeface="나눔스퀘어"/>
                          <a:cs typeface="+mn-cs"/>
                        </a:rPr>
                        <a:t>비 로그인 시 메인화면</a:t>
                      </a:r>
                    </a:p>
                  </a:txBody>
                  <a:tcPr marL="72000" marR="72000" marT="18004" marB="18004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</a:rPr>
                        <a:t>화면</a:t>
                      </a: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</a:rPr>
                        <a:t>ID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나눔스퀘어 Bold"/>
                        <a:ea typeface="나눔스퀘어 Bold"/>
                      </a:endParaRPr>
                    </a:p>
                  </a:txBody>
                  <a:tcPr marL="72000" marR="72000" marT="18004" marB="18004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E3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나눔스퀘어"/>
                          <a:ea typeface="나눔스퀘어"/>
                          <a:cs typeface="+mn-cs"/>
                        </a:rPr>
                        <a:t>MAIN_PAGE_001</a:t>
                      </a:r>
                    </a:p>
                  </a:txBody>
                  <a:tcPr marL="72000" marR="72000" marT="18004" marB="18004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</a:rPr>
                        <a:t>페이지 </a:t>
                      </a: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</a:rPr>
                        <a:t>No.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나눔스퀘어 Bold"/>
                        <a:ea typeface="나눔스퀘어 Bold"/>
                      </a:endParaRPr>
                    </a:p>
                  </a:txBody>
                  <a:tcPr marL="72000" marR="72000" marT="18004" marB="18004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E3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나눔스퀘어"/>
                          <a:ea typeface="나눔스퀘어"/>
                          <a:cs typeface="+mn-cs"/>
                        </a:rPr>
                        <a:t>1</a:t>
                      </a:r>
                      <a:endParaRPr kumimoji="1" lang="ko-KR" altLang="ko-KR" sz="800" b="0" i="0" u="none" strike="noStrike" kern="1200" cap="none" normalizeH="0" baseline="0" dirty="0">
                        <a:solidFill>
                          <a:schemeClr val="tx1"/>
                        </a:solidFill>
                        <a:effectLst/>
                        <a:latin typeface="나눔스퀘어"/>
                        <a:ea typeface="나눔스퀘어"/>
                        <a:cs typeface="+mn-cs"/>
                      </a:endParaRPr>
                    </a:p>
                  </a:txBody>
                  <a:tcPr marL="72000" marR="72000" marT="18004" marB="18004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Group 207"/>
          <p:cNvGraphicFramePr>
            <a:graphicFrameLocks noGrp="1"/>
          </p:cNvGraphicFramePr>
          <p:nvPr/>
        </p:nvGraphicFramePr>
        <p:xfrm>
          <a:off x="6450420" y="1614643"/>
          <a:ext cx="2385090" cy="3208824"/>
        </p:xfrm>
        <a:graphic>
          <a:graphicData uri="http://schemas.openxmlformats.org/drawingml/2006/table">
            <a:tbl>
              <a:tblPr firstRow="1" bandRow="1"/>
              <a:tblGrid>
                <a:gridCol w="2385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9643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  <a:cs typeface="+mn-cs"/>
                        </a:rPr>
                        <a:t>화면설명</a:t>
                      </a:r>
                      <a:endParaRPr kumimoji="1" lang="ko-KR" altLang="en-US" sz="800" b="1" i="0" u="none" strike="noStrike" kern="1200" cap="none" normalizeH="0" baseline="0">
                        <a:solidFill>
                          <a:schemeClr val="tx1"/>
                        </a:solidFill>
                        <a:latin typeface="나눔스퀘어 Bold"/>
                        <a:ea typeface="나눔스퀘어 Bold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7239">
                <a:tc>
                  <a:txBody>
                    <a:bodyPr/>
                    <a:lstStyle/>
                    <a:p>
                      <a:pPr marL="92075" indent="-92075">
                        <a:buAutoNum type="arabicPeriod"/>
                        <a:defRPr/>
                      </a:pPr>
                      <a:r>
                        <a:rPr lang="ko-KR" altLang="en-US" sz="800">
                          <a:latin typeface="나눔스퀘어"/>
                          <a:ea typeface="나눔스퀘어"/>
                        </a:rPr>
                        <a:t>로그인 회원가입 버튼으로 유저 등록</a:t>
                      </a:r>
                    </a:p>
                    <a:p>
                      <a:pPr marL="92075" indent="-92075">
                        <a:buAutoNum type="arabicPeriod"/>
                        <a:defRPr/>
                      </a:pPr>
                      <a:r>
                        <a:rPr lang="ko-KR" altLang="en-US" sz="800">
                          <a:latin typeface="나눔스퀘어"/>
                          <a:ea typeface="나눔스퀘어"/>
                        </a:rPr>
                        <a:t>표시되는 게시물은 전체 게시물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643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  <a:cs typeface="+mn-cs"/>
                        </a:rPr>
                        <a:t>비고</a:t>
                      </a:r>
                      <a:endParaRPr kumimoji="1" lang="ko-KR" altLang="en-US" sz="800" b="1" i="0" u="none" strike="noStrike" kern="1200" cap="none" normalizeH="0" baseline="0">
                        <a:solidFill>
                          <a:schemeClr val="tx1"/>
                        </a:solidFill>
                        <a:latin typeface="나눔스퀘어 Bold"/>
                        <a:ea typeface="나눔스퀘어 Bold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92299"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ko-KR" sz="800" b="1" i="0" u="none" strike="noStrike" kern="1200" cap="none" normalizeH="0" baseline="0" dirty="0">
                        <a:solidFill>
                          <a:schemeClr val="tx1"/>
                        </a:solidFill>
                        <a:effectLst/>
                        <a:latin typeface="나눔스퀘어"/>
                        <a:ea typeface="나눔스퀘어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072035" y="1351483"/>
            <a:ext cx="3038899" cy="3238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UI </a:t>
            </a:r>
            <a:r>
              <a:rPr lang="ko-KR" altLang="en-US"/>
              <a:t>스케치 작성</a:t>
            </a:r>
          </a:p>
        </p:txBody>
      </p:sp>
      <p:graphicFrame>
        <p:nvGraphicFramePr>
          <p:cNvPr id="4" name="Group 159"/>
          <p:cNvGraphicFramePr>
            <a:graphicFrameLocks noGrp="1"/>
          </p:cNvGraphicFramePr>
          <p:nvPr/>
        </p:nvGraphicFramePr>
        <p:xfrm>
          <a:off x="133351" y="949842"/>
          <a:ext cx="6154035" cy="3900786"/>
        </p:xfrm>
        <a:graphic>
          <a:graphicData uri="http://schemas.openxmlformats.org/drawingml/2006/table">
            <a:tbl>
              <a:tblPr firstRow="1" bandRow="1"/>
              <a:tblGrid>
                <a:gridCol w="869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4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1234">
                <a:tc>
                  <a:txBody>
                    <a:bodyPr/>
                    <a:lstStyle/>
                    <a:p>
                      <a:pPr marL="268288" marR="0" lvl="0" indent="-268288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</a:rPr>
                        <a:t>Indicator</a:t>
                      </a:r>
                      <a:endParaRPr kumimoji="1" lang="en-US" altLang="ko-KR" sz="1000" b="1" i="0" u="none" strike="noStrike" cap="none" normalizeH="0" baseline="0">
                        <a:solidFill>
                          <a:schemeClr val="tx1"/>
                        </a:solidFill>
                        <a:latin typeface="나눔스퀘어 Bold"/>
                        <a:ea typeface="나눔스퀘어 Bold"/>
                      </a:endParaRPr>
                    </a:p>
                  </a:txBody>
                  <a:tcPr marL="90000" marR="90000" marT="17998" marB="17998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E3E4"/>
                    </a:solidFill>
                  </a:tcPr>
                </a:tc>
                <a:tc>
                  <a:txBody>
                    <a:bodyPr/>
                    <a:lstStyle/>
                    <a:p>
                      <a:pPr marL="268288" marR="0" lvl="0" indent="-268288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ko-KR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나눔스퀘어"/>
                        <a:ea typeface="나눔스퀘어"/>
                      </a:endParaRPr>
                    </a:p>
                  </a:txBody>
                  <a:tcPr marL="90000" marR="90000" marT="17998" marB="17998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2390">
                <a:tc gridSpan="2">
                  <a:txBody>
                    <a:bodyPr/>
                    <a:lstStyle/>
                    <a:p>
                      <a:pPr marL="268288" marR="0" lvl="0" indent="-268288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tabLst>
                          <a:tab pos="1074738" algn="l"/>
                        </a:tabLst>
                        <a:defRPr/>
                      </a:pPr>
                      <a:endParaRPr kumimoji="1" lang="ko-KR" altLang="ko-KR" sz="8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나눔스퀘어"/>
                        <a:ea typeface="나눔스퀘어"/>
                      </a:endParaRPr>
                    </a:p>
                  </a:txBody>
                  <a:tcPr marL="90000" marR="90000" marT="17998" marB="17998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1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2460264"/>
              </p:ext>
            </p:extLst>
          </p:nvPr>
        </p:nvGraphicFramePr>
        <p:xfrm>
          <a:off x="6450419" y="949842"/>
          <a:ext cx="2391550" cy="648000"/>
        </p:xfrm>
        <a:graphic>
          <a:graphicData uri="http://schemas.openxmlformats.org/drawingml/2006/table">
            <a:tbl>
              <a:tblPr firstRow="1" bandRow="1"/>
              <a:tblGrid>
                <a:gridCol w="87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</a:rPr>
                        <a:t>화면명칭</a:t>
                      </a:r>
                      <a:endParaRPr kumimoji="1" lang="ko-KR" altLang="en-US" sz="800" b="1" i="0" u="none" strike="noStrike" cap="none" normalizeH="0" baseline="0">
                        <a:solidFill>
                          <a:schemeClr val="tx1"/>
                        </a:solidFill>
                        <a:latin typeface="나눔스퀘어 Bold"/>
                        <a:ea typeface="나눔스퀘어 Bold"/>
                      </a:endParaRPr>
                    </a:p>
                  </a:txBody>
                  <a:tcPr marL="72000" marR="72000" marT="18004" marB="18004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E3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나눔스퀘어"/>
                          <a:ea typeface="나눔스퀘어"/>
                          <a:cs typeface="+mn-cs"/>
                        </a:rPr>
                        <a:t>회원가입</a:t>
                      </a:r>
                    </a:p>
                  </a:txBody>
                  <a:tcPr marL="72000" marR="72000" marT="18004" marB="18004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</a:rPr>
                        <a:t>화면</a:t>
                      </a: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</a:rPr>
                        <a:t>ID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나눔스퀘어 Bold"/>
                        <a:ea typeface="나눔스퀘어 Bold"/>
                      </a:endParaRPr>
                    </a:p>
                  </a:txBody>
                  <a:tcPr marL="72000" marR="72000" marT="18004" marB="18004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E3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나눔스퀘어"/>
                          <a:ea typeface="나눔스퀘어"/>
                          <a:cs typeface="+mn-cs"/>
                        </a:rPr>
                        <a:t>USER_RESISTER</a:t>
                      </a:r>
                    </a:p>
                  </a:txBody>
                  <a:tcPr marL="72000" marR="72000" marT="18004" marB="18004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</a:rPr>
                        <a:t>페이지 </a:t>
                      </a: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</a:rPr>
                        <a:t>No.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나눔스퀘어 Bold"/>
                        <a:ea typeface="나눔스퀘어 Bold"/>
                      </a:endParaRPr>
                    </a:p>
                  </a:txBody>
                  <a:tcPr marL="72000" marR="72000" marT="18004" marB="18004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E3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나눔스퀘어"/>
                          <a:ea typeface="나눔스퀘어"/>
                          <a:cs typeface="+mn-cs"/>
                        </a:rPr>
                        <a:t>2</a:t>
                      </a:r>
                      <a:endParaRPr kumimoji="1" lang="ko-KR" altLang="ko-KR" sz="800" b="0" i="0" u="none" strike="noStrike" kern="1200" cap="none" normalizeH="0" baseline="0" dirty="0">
                        <a:solidFill>
                          <a:schemeClr val="tx1"/>
                        </a:solidFill>
                        <a:effectLst/>
                        <a:latin typeface="나눔스퀘어"/>
                        <a:ea typeface="나눔스퀘어"/>
                        <a:cs typeface="+mn-cs"/>
                      </a:endParaRPr>
                    </a:p>
                  </a:txBody>
                  <a:tcPr marL="72000" marR="72000" marT="18004" marB="18004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Group 207"/>
          <p:cNvGraphicFramePr>
            <a:graphicFrameLocks noGrp="1"/>
          </p:cNvGraphicFramePr>
          <p:nvPr/>
        </p:nvGraphicFramePr>
        <p:xfrm>
          <a:off x="6450420" y="1614643"/>
          <a:ext cx="2385090" cy="3208824"/>
        </p:xfrm>
        <a:graphic>
          <a:graphicData uri="http://schemas.openxmlformats.org/drawingml/2006/table">
            <a:tbl>
              <a:tblPr firstRow="1" bandRow="1"/>
              <a:tblGrid>
                <a:gridCol w="2385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9643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  <a:cs typeface="+mn-cs"/>
                        </a:rPr>
                        <a:t>화면설명</a:t>
                      </a:r>
                      <a:endParaRPr kumimoji="1" lang="ko-KR" altLang="en-US" sz="800" b="1" i="0" u="none" strike="noStrike" kern="1200" cap="none" normalizeH="0" baseline="0">
                        <a:solidFill>
                          <a:schemeClr val="tx1"/>
                        </a:solidFill>
                        <a:latin typeface="나눔스퀘어 Bold"/>
                        <a:ea typeface="나눔스퀘어 Bold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7239">
                <a:tc>
                  <a:txBody>
                    <a:bodyPr/>
                    <a:lstStyle/>
                    <a:p>
                      <a:pPr marL="92075" indent="-92075">
                        <a:buAutoNum type="arabicPeriod"/>
                        <a:defRPr/>
                      </a:pPr>
                      <a:r>
                        <a:rPr lang="ko-KR" altLang="en-US" sz="800">
                          <a:latin typeface="나눔스퀘어"/>
                          <a:ea typeface="나눔스퀘어"/>
                        </a:rPr>
                        <a:t>전체 내용은 필수 입력</a:t>
                      </a:r>
                    </a:p>
                    <a:p>
                      <a:pPr marL="92075" indent="-92075">
                        <a:buAutoNum type="arabicPeriod"/>
                        <a:defRPr/>
                      </a:pPr>
                      <a:r>
                        <a:rPr lang="en-US" altLang="ko-KR" sz="800">
                          <a:latin typeface="나눔스퀘어"/>
                          <a:ea typeface="나눔스퀘어"/>
                        </a:rPr>
                        <a:t>PW</a:t>
                      </a:r>
                      <a:r>
                        <a:rPr lang="ko-KR" altLang="en-US" sz="800">
                          <a:latin typeface="나눔스퀘어"/>
                          <a:ea typeface="나눔스퀘어"/>
                        </a:rPr>
                        <a:t> 확인과 </a:t>
                      </a:r>
                      <a:r>
                        <a:rPr lang="en-US" altLang="ko-KR" sz="800">
                          <a:latin typeface="나눔스퀘어"/>
                          <a:ea typeface="나눔스퀘어"/>
                        </a:rPr>
                        <a:t>PW</a:t>
                      </a:r>
                      <a:r>
                        <a:rPr lang="ko-KR" altLang="en-US" sz="800">
                          <a:latin typeface="나눔스퀘어"/>
                          <a:ea typeface="나눔스퀘어"/>
                        </a:rPr>
                        <a:t> 값이 다를시 실패 알림 출력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643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  <a:cs typeface="+mn-cs"/>
                        </a:rPr>
                        <a:t>비고</a:t>
                      </a:r>
                      <a:endParaRPr kumimoji="1" lang="ko-KR" altLang="en-US" sz="800" b="1" i="0" u="none" strike="noStrike" kern="1200" cap="none" normalizeH="0" baseline="0">
                        <a:solidFill>
                          <a:schemeClr val="tx1"/>
                        </a:solidFill>
                        <a:latin typeface="나눔스퀘어 Bold"/>
                        <a:ea typeface="나눔스퀘어 Bold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92299"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ko-KR" sz="8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나눔스퀘어"/>
                        <a:ea typeface="나눔스퀘어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885176" y="1466065"/>
            <a:ext cx="3048425" cy="3219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UI </a:t>
            </a:r>
            <a:r>
              <a:rPr lang="ko-KR" altLang="en-US"/>
              <a:t>스케치 작성</a:t>
            </a:r>
          </a:p>
        </p:txBody>
      </p:sp>
      <p:graphicFrame>
        <p:nvGraphicFramePr>
          <p:cNvPr id="4" name="Group 159"/>
          <p:cNvGraphicFramePr>
            <a:graphicFrameLocks noGrp="1"/>
          </p:cNvGraphicFramePr>
          <p:nvPr/>
        </p:nvGraphicFramePr>
        <p:xfrm>
          <a:off x="133351" y="949842"/>
          <a:ext cx="6154035" cy="3900786"/>
        </p:xfrm>
        <a:graphic>
          <a:graphicData uri="http://schemas.openxmlformats.org/drawingml/2006/table">
            <a:tbl>
              <a:tblPr firstRow="1" bandRow="1"/>
              <a:tblGrid>
                <a:gridCol w="869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4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1234">
                <a:tc>
                  <a:txBody>
                    <a:bodyPr/>
                    <a:lstStyle/>
                    <a:p>
                      <a:pPr marL="268288" marR="0" lvl="0" indent="-268288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</a:rPr>
                        <a:t>Indicator</a:t>
                      </a:r>
                      <a:endParaRPr kumimoji="1" lang="en-US" altLang="ko-KR" sz="1000" b="1" i="0" u="none" strike="noStrike" cap="none" normalizeH="0" baseline="0">
                        <a:solidFill>
                          <a:schemeClr val="tx1"/>
                        </a:solidFill>
                        <a:latin typeface="나눔스퀘어 Bold"/>
                        <a:ea typeface="나눔스퀘어 Bold"/>
                      </a:endParaRPr>
                    </a:p>
                  </a:txBody>
                  <a:tcPr marL="90000" marR="90000" marT="17998" marB="17998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E3E4"/>
                    </a:solidFill>
                  </a:tcPr>
                </a:tc>
                <a:tc>
                  <a:txBody>
                    <a:bodyPr/>
                    <a:lstStyle/>
                    <a:p>
                      <a:pPr marL="268288" marR="0" lvl="0" indent="-268288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ko-KR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나눔스퀘어"/>
                        <a:ea typeface="나눔스퀘어"/>
                      </a:endParaRPr>
                    </a:p>
                  </a:txBody>
                  <a:tcPr marL="90000" marR="90000" marT="17998" marB="17998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2390">
                <a:tc gridSpan="2">
                  <a:txBody>
                    <a:bodyPr/>
                    <a:lstStyle/>
                    <a:p>
                      <a:pPr marL="268288" marR="0" lvl="0" indent="-268288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tabLst>
                          <a:tab pos="1074738" algn="l"/>
                        </a:tabLst>
                        <a:defRPr/>
                      </a:pPr>
                      <a:endParaRPr kumimoji="1" lang="ko-KR" altLang="ko-KR" sz="8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나눔스퀘어"/>
                        <a:ea typeface="나눔스퀘어"/>
                      </a:endParaRPr>
                    </a:p>
                  </a:txBody>
                  <a:tcPr marL="90000" marR="90000" marT="17998" marB="17998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1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4496400"/>
              </p:ext>
            </p:extLst>
          </p:nvPr>
        </p:nvGraphicFramePr>
        <p:xfrm>
          <a:off x="6450419" y="949842"/>
          <a:ext cx="2385089" cy="648000"/>
        </p:xfrm>
        <a:graphic>
          <a:graphicData uri="http://schemas.openxmlformats.org/drawingml/2006/table">
            <a:tbl>
              <a:tblPr firstRow="1" bandRow="1"/>
              <a:tblGrid>
                <a:gridCol w="87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9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</a:rPr>
                        <a:t>화면명칭</a:t>
                      </a:r>
                      <a:endParaRPr kumimoji="1" lang="ko-KR" altLang="en-US" sz="800" b="1" i="0" u="none" strike="noStrike" cap="none" normalizeH="0" baseline="0">
                        <a:solidFill>
                          <a:schemeClr val="tx1"/>
                        </a:solidFill>
                        <a:latin typeface="나눔스퀘어 Bold"/>
                        <a:ea typeface="나눔스퀘어 Bold"/>
                      </a:endParaRPr>
                    </a:p>
                  </a:txBody>
                  <a:tcPr marL="72000" marR="72000" marT="18004" marB="18004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E3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나눔스퀘어"/>
                          <a:ea typeface="나눔스퀘어"/>
                          <a:cs typeface="+mn-cs"/>
                        </a:rPr>
                        <a:t>로그인</a:t>
                      </a:r>
                    </a:p>
                  </a:txBody>
                  <a:tcPr marL="72000" marR="72000" marT="18004" marB="18004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</a:rPr>
                        <a:t>화면</a:t>
                      </a: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</a:rPr>
                        <a:t>ID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나눔스퀘어 Bold"/>
                        <a:ea typeface="나눔스퀘어 Bold"/>
                      </a:endParaRPr>
                    </a:p>
                  </a:txBody>
                  <a:tcPr marL="72000" marR="72000" marT="18004" marB="18004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E3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나눔스퀘어"/>
                          <a:ea typeface="나눔스퀘어"/>
                          <a:cs typeface="+mn-cs"/>
                        </a:rPr>
                        <a:t>USER_LOGIN</a:t>
                      </a:r>
                    </a:p>
                  </a:txBody>
                  <a:tcPr marL="72000" marR="72000" marT="18004" marB="18004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</a:rPr>
                        <a:t>페이지 </a:t>
                      </a: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</a:rPr>
                        <a:t>No.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나눔스퀘어 Bold"/>
                        <a:ea typeface="나눔스퀘어 Bold"/>
                      </a:endParaRPr>
                    </a:p>
                  </a:txBody>
                  <a:tcPr marL="72000" marR="72000" marT="18004" marB="18004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E3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나눔스퀘어"/>
                          <a:ea typeface="나눔스퀘어"/>
                          <a:cs typeface="+mn-cs"/>
                        </a:rPr>
                        <a:t>3</a:t>
                      </a:r>
                      <a:endParaRPr kumimoji="1" lang="ko-KR" altLang="ko-KR" sz="800" b="0" i="0" u="none" strike="noStrike" kern="1200" cap="none" normalizeH="0" baseline="0" dirty="0">
                        <a:solidFill>
                          <a:schemeClr val="tx1"/>
                        </a:solidFill>
                        <a:effectLst/>
                        <a:latin typeface="나눔스퀘어"/>
                        <a:ea typeface="나눔스퀘어"/>
                        <a:cs typeface="+mn-cs"/>
                      </a:endParaRPr>
                    </a:p>
                  </a:txBody>
                  <a:tcPr marL="72000" marR="72000" marT="18004" marB="18004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Group 207"/>
          <p:cNvGraphicFramePr>
            <a:graphicFrameLocks noGrp="1"/>
          </p:cNvGraphicFramePr>
          <p:nvPr/>
        </p:nvGraphicFramePr>
        <p:xfrm>
          <a:off x="6450420" y="1614643"/>
          <a:ext cx="2385090" cy="3208824"/>
        </p:xfrm>
        <a:graphic>
          <a:graphicData uri="http://schemas.openxmlformats.org/drawingml/2006/table">
            <a:tbl>
              <a:tblPr firstRow="1" bandRow="1"/>
              <a:tblGrid>
                <a:gridCol w="2385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9643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  <a:cs typeface="+mn-cs"/>
                        </a:rPr>
                        <a:t>화면설명</a:t>
                      </a:r>
                      <a:endParaRPr kumimoji="1" lang="ko-KR" altLang="en-US" sz="800" b="1" i="0" u="none" strike="noStrike" kern="1200" cap="none" normalizeH="0" baseline="0">
                        <a:solidFill>
                          <a:schemeClr val="tx1"/>
                        </a:solidFill>
                        <a:latin typeface="나눔스퀘어 Bold"/>
                        <a:ea typeface="나눔스퀘어 Bold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7239">
                <a:tc>
                  <a:txBody>
                    <a:bodyPr/>
                    <a:lstStyle/>
                    <a:p>
                      <a:pPr marL="92075" indent="-92075">
                        <a:buAutoNum type="arabicPeriod"/>
                        <a:defRPr/>
                      </a:pPr>
                      <a:r>
                        <a:rPr lang="ko-KR" altLang="en-US" sz="800">
                          <a:latin typeface="나눔스퀘어"/>
                          <a:ea typeface="나눔스퀘어"/>
                        </a:rPr>
                        <a:t>아이디와 비밀번호 입력 후 데이터에 있는 유저라면 로그인버튼을 눌러 로그인</a:t>
                      </a:r>
                    </a:p>
                    <a:p>
                      <a:pPr marL="92075" indent="-92075">
                        <a:buAutoNum type="arabicPeriod"/>
                        <a:defRPr/>
                      </a:pPr>
                      <a:r>
                        <a:rPr lang="ko-KR" altLang="en-US" sz="800">
                          <a:latin typeface="나눔스퀘어"/>
                          <a:ea typeface="나눔스퀘어"/>
                        </a:rPr>
                        <a:t>회원가입 버튼을 클릭해 회원등록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643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  <a:cs typeface="+mn-cs"/>
                        </a:rPr>
                        <a:t>비고</a:t>
                      </a:r>
                      <a:endParaRPr kumimoji="1" lang="ko-KR" altLang="en-US" sz="800" b="1" i="0" u="none" strike="noStrike" kern="1200" cap="none" normalizeH="0" baseline="0">
                        <a:solidFill>
                          <a:schemeClr val="tx1"/>
                        </a:solidFill>
                        <a:latin typeface="나눔스퀘어 Bold"/>
                        <a:ea typeface="나눔스퀘어 Bold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92299"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ko-KR" sz="8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나눔스퀘어"/>
                        <a:ea typeface="나눔스퀘어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552153" y="1407795"/>
            <a:ext cx="3019846" cy="32103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UI </a:t>
            </a:r>
            <a:r>
              <a:rPr lang="ko-KR" altLang="en-US"/>
              <a:t>스케치 작성</a:t>
            </a:r>
          </a:p>
        </p:txBody>
      </p:sp>
      <p:graphicFrame>
        <p:nvGraphicFramePr>
          <p:cNvPr id="4" name="Group 159"/>
          <p:cNvGraphicFramePr>
            <a:graphicFrameLocks noGrp="1"/>
          </p:cNvGraphicFramePr>
          <p:nvPr/>
        </p:nvGraphicFramePr>
        <p:xfrm>
          <a:off x="133351" y="949842"/>
          <a:ext cx="6154035" cy="3900786"/>
        </p:xfrm>
        <a:graphic>
          <a:graphicData uri="http://schemas.openxmlformats.org/drawingml/2006/table">
            <a:tbl>
              <a:tblPr firstRow="1" bandRow="1"/>
              <a:tblGrid>
                <a:gridCol w="869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4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1234">
                <a:tc>
                  <a:txBody>
                    <a:bodyPr/>
                    <a:lstStyle/>
                    <a:p>
                      <a:pPr marL="268288" marR="0" lvl="0" indent="-268288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</a:rPr>
                        <a:t>Indicator</a:t>
                      </a:r>
                      <a:endParaRPr kumimoji="1" lang="en-US" altLang="ko-KR" sz="1000" b="1" i="0" u="none" strike="noStrike" cap="none" normalizeH="0" baseline="0">
                        <a:solidFill>
                          <a:schemeClr val="tx1"/>
                        </a:solidFill>
                        <a:latin typeface="나눔스퀘어 Bold"/>
                        <a:ea typeface="나눔스퀘어 Bold"/>
                      </a:endParaRPr>
                    </a:p>
                  </a:txBody>
                  <a:tcPr marL="90000" marR="90000" marT="17998" marB="17998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E3E4"/>
                    </a:solidFill>
                  </a:tcPr>
                </a:tc>
                <a:tc>
                  <a:txBody>
                    <a:bodyPr/>
                    <a:lstStyle/>
                    <a:p>
                      <a:pPr marL="268288" marR="0" lvl="0" indent="-268288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ko-KR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나눔스퀘어"/>
                        <a:ea typeface="나눔스퀘어"/>
                      </a:endParaRPr>
                    </a:p>
                  </a:txBody>
                  <a:tcPr marL="90000" marR="90000" marT="17998" marB="17998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2390">
                <a:tc gridSpan="2">
                  <a:txBody>
                    <a:bodyPr/>
                    <a:lstStyle/>
                    <a:p>
                      <a:pPr marL="268288" marR="0" lvl="0" indent="-268288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tabLst>
                          <a:tab pos="1074738" algn="l"/>
                        </a:tabLst>
                        <a:defRPr/>
                      </a:pPr>
                      <a:endParaRPr kumimoji="1" lang="ko-KR" altLang="ko-KR" sz="8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나눔스퀘어"/>
                        <a:ea typeface="나눔스퀘어"/>
                      </a:endParaRPr>
                    </a:p>
                  </a:txBody>
                  <a:tcPr marL="90000" marR="90000" marT="17998" marB="17998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1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5875847"/>
              </p:ext>
            </p:extLst>
          </p:nvPr>
        </p:nvGraphicFramePr>
        <p:xfrm>
          <a:off x="6450419" y="949842"/>
          <a:ext cx="2385089" cy="648000"/>
        </p:xfrm>
        <a:graphic>
          <a:graphicData uri="http://schemas.openxmlformats.org/drawingml/2006/table">
            <a:tbl>
              <a:tblPr firstRow="1" bandRow="1"/>
              <a:tblGrid>
                <a:gridCol w="87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9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</a:rPr>
                        <a:t>화면명칭</a:t>
                      </a:r>
                      <a:endParaRPr kumimoji="1" lang="ko-KR" altLang="en-US" sz="800" b="1" i="0" u="none" strike="noStrike" cap="none" normalizeH="0" baseline="0">
                        <a:solidFill>
                          <a:schemeClr val="tx1"/>
                        </a:solidFill>
                        <a:latin typeface="나눔스퀘어 Bold"/>
                        <a:ea typeface="나눔스퀘어 Bold"/>
                      </a:endParaRPr>
                    </a:p>
                  </a:txBody>
                  <a:tcPr marL="72000" marR="72000" marT="18004" marB="18004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E3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나눔스퀘어"/>
                          <a:ea typeface="나눔스퀘어"/>
                          <a:cs typeface="+mn-cs"/>
                        </a:rPr>
                        <a:t>회원정보 수정</a:t>
                      </a:r>
                    </a:p>
                  </a:txBody>
                  <a:tcPr marL="72000" marR="72000" marT="18004" marB="18004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</a:rPr>
                        <a:t>화면</a:t>
                      </a: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</a:rPr>
                        <a:t>ID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나눔스퀘어 Bold"/>
                        <a:ea typeface="나눔스퀘어 Bold"/>
                      </a:endParaRPr>
                    </a:p>
                  </a:txBody>
                  <a:tcPr marL="72000" marR="72000" marT="18004" marB="18004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E3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나눔스퀘어"/>
                          <a:ea typeface="나눔스퀘어"/>
                          <a:cs typeface="+mn-cs"/>
                        </a:rPr>
                        <a:t>USER_PROFILE</a:t>
                      </a:r>
                    </a:p>
                  </a:txBody>
                  <a:tcPr marL="72000" marR="72000" marT="18004" marB="18004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</a:rPr>
                        <a:t>페이지 </a:t>
                      </a: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</a:rPr>
                        <a:t>No.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나눔스퀘어 Bold"/>
                        <a:ea typeface="나눔스퀘어 Bold"/>
                      </a:endParaRPr>
                    </a:p>
                  </a:txBody>
                  <a:tcPr marL="72000" marR="72000" marT="18004" marB="18004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E3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나눔스퀘어"/>
                          <a:ea typeface="나눔스퀘어"/>
                          <a:cs typeface="+mn-cs"/>
                        </a:rPr>
                        <a:t>4</a:t>
                      </a:r>
                      <a:endParaRPr kumimoji="1" lang="ko-KR" altLang="ko-KR" sz="800" b="0" i="0" u="none" strike="noStrike" kern="1200" cap="none" normalizeH="0" baseline="0" dirty="0">
                        <a:solidFill>
                          <a:schemeClr val="tx1"/>
                        </a:solidFill>
                        <a:effectLst/>
                        <a:latin typeface="나눔스퀘어"/>
                        <a:ea typeface="나눔스퀘어"/>
                        <a:cs typeface="+mn-cs"/>
                      </a:endParaRPr>
                    </a:p>
                  </a:txBody>
                  <a:tcPr marL="72000" marR="72000" marT="18004" marB="18004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Group 207"/>
          <p:cNvGraphicFramePr>
            <a:graphicFrameLocks noGrp="1"/>
          </p:cNvGraphicFramePr>
          <p:nvPr/>
        </p:nvGraphicFramePr>
        <p:xfrm>
          <a:off x="6450420" y="1614643"/>
          <a:ext cx="2385090" cy="3208824"/>
        </p:xfrm>
        <a:graphic>
          <a:graphicData uri="http://schemas.openxmlformats.org/drawingml/2006/table">
            <a:tbl>
              <a:tblPr firstRow="1" bandRow="1"/>
              <a:tblGrid>
                <a:gridCol w="2385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9643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  <a:cs typeface="+mn-cs"/>
                        </a:rPr>
                        <a:t>화면설명</a:t>
                      </a:r>
                      <a:endParaRPr kumimoji="1" lang="ko-KR" altLang="en-US" sz="800" b="1" i="0" u="none" strike="noStrike" kern="1200" cap="none" normalizeH="0" baseline="0">
                        <a:solidFill>
                          <a:schemeClr val="tx1"/>
                        </a:solidFill>
                        <a:latin typeface="나눔스퀘어 Bold"/>
                        <a:ea typeface="나눔스퀘어 Bold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7239">
                <a:tc>
                  <a:txBody>
                    <a:bodyPr/>
                    <a:lstStyle/>
                    <a:p>
                      <a:pPr marL="92075" indent="-92075">
                        <a:buAutoNum type="arabicPeriod"/>
                        <a:defRPr/>
                      </a:pPr>
                      <a:r>
                        <a:rPr lang="en-US" altLang="ko-KR" sz="800">
                          <a:latin typeface="나눔스퀘어"/>
                          <a:ea typeface="나눔스퀘어"/>
                        </a:rPr>
                        <a:t>API</a:t>
                      </a:r>
                      <a:r>
                        <a:rPr lang="ko-KR" altLang="en-US" sz="800">
                          <a:latin typeface="나눔스퀘어"/>
                          <a:ea typeface="나눔스퀘어"/>
                        </a:rPr>
                        <a:t>값과 닉네임 수정가능</a:t>
                      </a:r>
                    </a:p>
                    <a:p>
                      <a:pPr marL="92075" indent="-92075">
                        <a:buAutoNum type="arabicPeriod"/>
                        <a:defRPr/>
                      </a:pPr>
                      <a:endParaRPr lang="ko-KR" altLang="en-US" sz="800">
                        <a:latin typeface="나눔스퀘어"/>
                        <a:ea typeface="나눔스퀘어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643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  <a:cs typeface="+mn-cs"/>
                        </a:rPr>
                        <a:t>비고</a:t>
                      </a:r>
                      <a:endParaRPr kumimoji="1" lang="ko-KR" altLang="en-US" sz="800" b="1" i="0" u="none" strike="noStrike" kern="1200" cap="none" normalizeH="0" baseline="0">
                        <a:solidFill>
                          <a:schemeClr val="tx1"/>
                        </a:solidFill>
                        <a:latin typeface="나눔스퀘어 Bold"/>
                        <a:ea typeface="나눔스퀘어 Bold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92299"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ko-KR" sz="8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나눔스퀘어"/>
                        <a:ea typeface="나눔스퀘어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533101" y="1344479"/>
            <a:ext cx="3038899" cy="3238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UI </a:t>
            </a:r>
            <a:r>
              <a:rPr lang="ko-KR" altLang="en-US"/>
              <a:t>스케치 작성</a:t>
            </a:r>
          </a:p>
        </p:txBody>
      </p:sp>
      <p:graphicFrame>
        <p:nvGraphicFramePr>
          <p:cNvPr id="4" name="Group 159"/>
          <p:cNvGraphicFramePr>
            <a:graphicFrameLocks noGrp="1"/>
          </p:cNvGraphicFramePr>
          <p:nvPr/>
        </p:nvGraphicFramePr>
        <p:xfrm>
          <a:off x="133351" y="949842"/>
          <a:ext cx="6154035" cy="3900786"/>
        </p:xfrm>
        <a:graphic>
          <a:graphicData uri="http://schemas.openxmlformats.org/drawingml/2006/table">
            <a:tbl>
              <a:tblPr firstRow="1" bandRow="1"/>
              <a:tblGrid>
                <a:gridCol w="869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4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1234">
                <a:tc>
                  <a:txBody>
                    <a:bodyPr/>
                    <a:lstStyle/>
                    <a:p>
                      <a:pPr marL="268288" marR="0" lvl="0" indent="-268288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</a:rPr>
                        <a:t>Indicator</a:t>
                      </a:r>
                      <a:endParaRPr kumimoji="1" lang="en-US" altLang="ko-KR" sz="1000" b="1" i="0" u="none" strike="noStrike" cap="none" normalizeH="0" baseline="0">
                        <a:solidFill>
                          <a:schemeClr val="tx1"/>
                        </a:solidFill>
                        <a:latin typeface="나눔스퀘어 Bold"/>
                        <a:ea typeface="나눔스퀘어 Bold"/>
                      </a:endParaRPr>
                    </a:p>
                  </a:txBody>
                  <a:tcPr marL="90000" marR="90000" marT="17998" marB="17998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E3E4"/>
                    </a:solidFill>
                  </a:tcPr>
                </a:tc>
                <a:tc>
                  <a:txBody>
                    <a:bodyPr/>
                    <a:lstStyle/>
                    <a:p>
                      <a:pPr marL="268288" marR="0" lvl="0" indent="-268288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ko-KR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나눔스퀘어"/>
                        <a:ea typeface="나눔스퀘어"/>
                      </a:endParaRPr>
                    </a:p>
                  </a:txBody>
                  <a:tcPr marL="90000" marR="90000" marT="17998" marB="17998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2390">
                <a:tc gridSpan="2">
                  <a:txBody>
                    <a:bodyPr/>
                    <a:lstStyle/>
                    <a:p>
                      <a:pPr marL="268288" marR="0" lvl="0" indent="-268288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tabLst>
                          <a:tab pos="1074738" algn="l"/>
                        </a:tabLst>
                        <a:defRPr/>
                      </a:pPr>
                      <a:endParaRPr kumimoji="1" lang="ko-KR" altLang="ko-KR" sz="8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나눔스퀘어"/>
                        <a:ea typeface="나눔스퀘어"/>
                      </a:endParaRPr>
                    </a:p>
                  </a:txBody>
                  <a:tcPr marL="90000" marR="90000" marT="17998" marB="17998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1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930826"/>
              </p:ext>
            </p:extLst>
          </p:nvPr>
        </p:nvGraphicFramePr>
        <p:xfrm>
          <a:off x="6450419" y="949842"/>
          <a:ext cx="2385089" cy="648000"/>
        </p:xfrm>
        <a:graphic>
          <a:graphicData uri="http://schemas.openxmlformats.org/drawingml/2006/table">
            <a:tbl>
              <a:tblPr firstRow="1" bandRow="1"/>
              <a:tblGrid>
                <a:gridCol w="87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9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</a:rPr>
                        <a:t>화면명칭</a:t>
                      </a:r>
                      <a:endParaRPr kumimoji="1" lang="ko-KR" altLang="en-US" sz="800" b="1" i="0" u="none" strike="noStrike" cap="none" normalizeH="0" baseline="0">
                        <a:solidFill>
                          <a:schemeClr val="tx1"/>
                        </a:solidFill>
                        <a:latin typeface="나눔스퀘어 Bold"/>
                        <a:ea typeface="나눔스퀘어 Bold"/>
                      </a:endParaRPr>
                    </a:p>
                  </a:txBody>
                  <a:tcPr marL="72000" marR="72000" marT="18004" marB="18004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E3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나눔스퀘어"/>
                          <a:ea typeface="나눔스퀘어"/>
                          <a:cs typeface="+mn-cs"/>
                        </a:rPr>
                        <a:t>로그인 시 메인 화면</a:t>
                      </a:r>
                    </a:p>
                  </a:txBody>
                  <a:tcPr marL="72000" marR="72000" marT="18004" marB="18004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</a:rPr>
                        <a:t>화면</a:t>
                      </a: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</a:rPr>
                        <a:t>ID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나눔스퀘어 Bold"/>
                        <a:ea typeface="나눔스퀘어 Bold"/>
                      </a:endParaRPr>
                    </a:p>
                  </a:txBody>
                  <a:tcPr marL="72000" marR="72000" marT="18004" marB="18004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E3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나눔스퀘어"/>
                          <a:ea typeface="나눔스퀘어"/>
                          <a:cs typeface="+mn-cs"/>
                        </a:rPr>
                        <a:t>MAIN_PAGE_002</a:t>
                      </a:r>
                    </a:p>
                  </a:txBody>
                  <a:tcPr marL="72000" marR="72000" marT="18004" marB="18004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</a:rPr>
                        <a:t>페이지 </a:t>
                      </a: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</a:rPr>
                        <a:t>No.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나눔스퀘어 Bold"/>
                        <a:ea typeface="나눔스퀘어 Bold"/>
                      </a:endParaRPr>
                    </a:p>
                  </a:txBody>
                  <a:tcPr marL="72000" marR="72000" marT="18004" marB="18004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E3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나눔스퀘어"/>
                          <a:ea typeface="나눔스퀘어"/>
                          <a:cs typeface="+mn-cs"/>
                        </a:rPr>
                        <a:t>5</a:t>
                      </a:r>
                      <a:endParaRPr kumimoji="1" lang="ko-KR" altLang="ko-KR" sz="800" b="0" i="0" u="none" strike="noStrike" kern="1200" cap="none" normalizeH="0" baseline="0" dirty="0">
                        <a:solidFill>
                          <a:schemeClr val="tx1"/>
                        </a:solidFill>
                        <a:effectLst/>
                        <a:latin typeface="나눔스퀘어"/>
                        <a:ea typeface="나눔스퀘어"/>
                        <a:cs typeface="+mn-cs"/>
                      </a:endParaRPr>
                    </a:p>
                  </a:txBody>
                  <a:tcPr marL="72000" marR="72000" marT="18004" marB="18004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Group 207"/>
          <p:cNvGraphicFramePr>
            <a:graphicFrameLocks noGrp="1"/>
          </p:cNvGraphicFramePr>
          <p:nvPr/>
        </p:nvGraphicFramePr>
        <p:xfrm>
          <a:off x="6450420" y="1614643"/>
          <a:ext cx="2385090" cy="3208824"/>
        </p:xfrm>
        <a:graphic>
          <a:graphicData uri="http://schemas.openxmlformats.org/drawingml/2006/table">
            <a:tbl>
              <a:tblPr firstRow="1" bandRow="1"/>
              <a:tblGrid>
                <a:gridCol w="2385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9643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  <a:cs typeface="+mn-cs"/>
                        </a:rPr>
                        <a:t>화면설명</a:t>
                      </a:r>
                      <a:endParaRPr kumimoji="1" lang="ko-KR" altLang="en-US" sz="800" b="1" i="0" u="none" strike="noStrike" kern="1200" cap="none" normalizeH="0" baseline="0">
                        <a:solidFill>
                          <a:schemeClr val="tx1"/>
                        </a:solidFill>
                        <a:latin typeface="나눔스퀘어 Bold"/>
                        <a:ea typeface="나눔스퀘어 Bold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7239">
                <a:tc>
                  <a:txBody>
                    <a:bodyPr/>
                    <a:lstStyle/>
                    <a:p>
                      <a:pPr marL="92075" indent="-92075">
                        <a:buAutoNum type="arabicPeriod"/>
                        <a:defRPr/>
                      </a:pPr>
                      <a:r>
                        <a:rPr lang="ko-KR" altLang="en-US" sz="800">
                          <a:latin typeface="나눔스퀘어"/>
                          <a:ea typeface="나눔스퀘어"/>
                        </a:rPr>
                        <a:t>오른쪽 상단 로그인한 회원의 닉네임 출력 및 회원정보 수정 버튼</a:t>
                      </a:r>
                    </a:p>
                    <a:p>
                      <a:pPr marL="92075" indent="-92075">
                        <a:buAutoNum type="arabicPeriod"/>
                        <a:defRPr/>
                      </a:pPr>
                      <a:r>
                        <a:rPr lang="ko-KR" altLang="en-US" sz="800">
                          <a:latin typeface="나눔스퀘어"/>
                          <a:ea typeface="나눔스퀘어"/>
                        </a:rPr>
                        <a:t>전체 게시물과 내작품 목록으로 게시판 분리</a:t>
                      </a:r>
                    </a:p>
                    <a:p>
                      <a:pPr marL="92075" indent="-92075">
                        <a:buAutoNum type="arabicPeriod"/>
                        <a:defRPr/>
                      </a:pPr>
                      <a:r>
                        <a:rPr lang="ko-KR" altLang="en-US" sz="800">
                          <a:latin typeface="나눔스퀘어"/>
                          <a:ea typeface="나눔스퀘어"/>
                        </a:rPr>
                        <a:t>우측에는 추가버튼으로 게시물 추가 가능</a:t>
                      </a:r>
                    </a:p>
                    <a:p>
                      <a:pPr marL="92075" indent="-92075">
                        <a:buAutoNum type="arabicPeriod"/>
                        <a:defRPr/>
                      </a:pPr>
                      <a:r>
                        <a:rPr lang="ko-KR" altLang="en-US" sz="800">
                          <a:latin typeface="나눔스퀘어"/>
                          <a:ea typeface="나눔스퀘어"/>
                        </a:rPr>
                        <a:t>전체 게시물은 전체유저의 게시물</a:t>
                      </a:r>
                    </a:p>
                    <a:p>
                      <a:pPr marL="92075" indent="-92075">
                        <a:buAutoNum type="arabicPeriod"/>
                        <a:defRPr/>
                      </a:pPr>
                      <a:r>
                        <a:rPr lang="ko-KR" altLang="en-US" sz="800">
                          <a:latin typeface="나눔스퀘어"/>
                          <a:ea typeface="나눔스퀘어"/>
                        </a:rPr>
                        <a:t>내 작품 목록은 내 게시물만 표시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643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  <a:cs typeface="+mn-cs"/>
                        </a:rPr>
                        <a:t>비고</a:t>
                      </a:r>
                      <a:endParaRPr kumimoji="1" lang="ko-KR" altLang="en-US" sz="800" b="1" i="0" u="none" strike="noStrike" kern="1200" cap="none" normalizeH="0" baseline="0">
                        <a:solidFill>
                          <a:schemeClr val="tx1"/>
                        </a:solidFill>
                        <a:latin typeface="나눔스퀘어 Bold"/>
                        <a:ea typeface="나눔스퀘어 Bold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92299"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나눔스퀘어"/>
                          <a:ea typeface="나눔스퀘어"/>
                          <a:cs typeface="+mn-cs"/>
                        </a:rPr>
                        <a:t>게시물은 표지와 제목만 표기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572000" y="2571750"/>
            <a:ext cx="0" cy="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514048" y="1339998"/>
            <a:ext cx="3057951" cy="3219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UI </a:t>
            </a:r>
            <a:r>
              <a:rPr lang="ko-KR" altLang="en-US"/>
              <a:t>스케치 작성</a:t>
            </a:r>
          </a:p>
        </p:txBody>
      </p:sp>
      <p:graphicFrame>
        <p:nvGraphicFramePr>
          <p:cNvPr id="4" name="Group 159"/>
          <p:cNvGraphicFramePr>
            <a:graphicFrameLocks noGrp="1"/>
          </p:cNvGraphicFramePr>
          <p:nvPr/>
        </p:nvGraphicFramePr>
        <p:xfrm>
          <a:off x="133351" y="949842"/>
          <a:ext cx="6154035" cy="3900786"/>
        </p:xfrm>
        <a:graphic>
          <a:graphicData uri="http://schemas.openxmlformats.org/drawingml/2006/table">
            <a:tbl>
              <a:tblPr firstRow="1" bandRow="1"/>
              <a:tblGrid>
                <a:gridCol w="869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4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1234">
                <a:tc>
                  <a:txBody>
                    <a:bodyPr/>
                    <a:lstStyle/>
                    <a:p>
                      <a:pPr marL="268288" marR="0" lvl="0" indent="-268288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</a:rPr>
                        <a:t>Indicator</a:t>
                      </a:r>
                      <a:endParaRPr kumimoji="1" lang="en-US" altLang="ko-KR" sz="1000" b="1" i="0" u="none" strike="noStrike" cap="none" normalizeH="0" baseline="0">
                        <a:solidFill>
                          <a:schemeClr val="tx1"/>
                        </a:solidFill>
                        <a:latin typeface="나눔스퀘어 Bold"/>
                        <a:ea typeface="나눔스퀘어 Bold"/>
                      </a:endParaRPr>
                    </a:p>
                  </a:txBody>
                  <a:tcPr marL="90000" marR="90000" marT="17998" marB="17998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E3E4"/>
                    </a:solidFill>
                  </a:tcPr>
                </a:tc>
                <a:tc>
                  <a:txBody>
                    <a:bodyPr/>
                    <a:lstStyle/>
                    <a:p>
                      <a:pPr marL="268288" marR="0" lvl="0" indent="-268288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ko-KR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나눔스퀘어"/>
                        <a:ea typeface="나눔스퀘어"/>
                      </a:endParaRPr>
                    </a:p>
                  </a:txBody>
                  <a:tcPr marL="90000" marR="90000" marT="17998" marB="17998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2390">
                <a:tc gridSpan="2">
                  <a:txBody>
                    <a:bodyPr/>
                    <a:lstStyle/>
                    <a:p>
                      <a:pPr marL="268288" marR="0" lvl="0" indent="-268288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tabLst>
                          <a:tab pos="1074738" algn="l"/>
                        </a:tabLst>
                        <a:defRPr/>
                      </a:pPr>
                      <a:endParaRPr kumimoji="1" lang="ko-KR" altLang="ko-KR" sz="8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나눔스퀘어"/>
                        <a:ea typeface="나눔스퀘어"/>
                      </a:endParaRPr>
                    </a:p>
                  </a:txBody>
                  <a:tcPr marL="90000" marR="90000" marT="17998" marB="17998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1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5186654"/>
              </p:ext>
            </p:extLst>
          </p:nvPr>
        </p:nvGraphicFramePr>
        <p:xfrm>
          <a:off x="6450419" y="949842"/>
          <a:ext cx="2385089" cy="648000"/>
        </p:xfrm>
        <a:graphic>
          <a:graphicData uri="http://schemas.openxmlformats.org/drawingml/2006/table">
            <a:tbl>
              <a:tblPr firstRow="1" bandRow="1"/>
              <a:tblGrid>
                <a:gridCol w="87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9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</a:rPr>
                        <a:t>화면명칭</a:t>
                      </a:r>
                      <a:endParaRPr kumimoji="1" lang="ko-KR" altLang="en-US" sz="800" b="1" i="0" u="none" strike="noStrike" cap="none" normalizeH="0" baseline="0">
                        <a:solidFill>
                          <a:schemeClr val="tx1"/>
                        </a:solidFill>
                        <a:latin typeface="나눔스퀘어 Bold"/>
                        <a:ea typeface="나눔스퀘어 Bold"/>
                      </a:endParaRPr>
                    </a:p>
                  </a:txBody>
                  <a:tcPr marL="72000" marR="72000" marT="18004" marB="18004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E3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나눔스퀘어"/>
                          <a:ea typeface="나눔스퀘어"/>
                          <a:cs typeface="+mn-cs"/>
                        </a:rPr>
                        <a:t>게시물 추가</a:t>
                      </a:r>
                    </a:p>
                  </a:txBody>
                  <a:tcPr marL="72000" marR="72000" marT="18004" marB="18004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</a:rPr>
                        <a:t>화면</a:t>
                      </a: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</a:rPr>
                        <a:t>ID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나눔스퀘어 Bold"/>
                        <a:ea typeface="나눔스퀘어 Bold"/>
                      </a:endParaRPr>
                    </a:p>
                  </a:txBody>
                  <a:tcPr marL="72000" marR="72000" marT="18004" marB="18004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E3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나눔스퀘어"/>
                          <a:ea typeface="나눔스퀘어"/>
                          <a:cs typeface="+mn-cs"/>
                        </a:rPr>
                        <a:t>NEW_POST_001</a:t>
                      </a:r>
                    </a:p>
                  </a:txBody>
                  <a:tcPr marL="72000" marR="72000" marT="18004" marB="18004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</a:rPr>
                        <a:t>페이지 </a:t>
                      </a:r>
                      <a:r>
                        <a:rPr kumimoji="1" lang="en-US" altLang="ko-KR" sz="8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</a:rPr>
                        <a:t>No.</a:t>
                      </a:r>
                      <a:endParaRPr kumimoji="1" lang="en-US" altLang="ko-KR" sz="800" b="1" i="0" u="none" strike="noStrike" cap="none" normalizeH="0" baseline="0" dirty="0">
                        <a:solidFill>
                          <a:schemeClr val="tx1"/>
                        </a:solidFill>
                        <a:latin typeface="나눔스퀘어 Bold"/>
                        <a:ea typeface="나눔스퀘어 Bold"/>
                      </a:endParaRPr>
                    </a:p>
                  </a:txBody>
                  <a:tcPr marL="72000" marR="72000" marT="18004" marB="18004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E3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나눔스퀘어"/>
                          <a:ea typeface="나눔스퀘어"/>
                          <a:cs typeface="+mn-cs"/>
                        </a:rPr>
                        <a:t>6</a:t>
                      </a:r>
                      <a:endParaRPr kumimoji="1" lang="ko-KR" altLang="ko-KR" sz="800" b="0" i="0" u="none" strike="noStrike" kern="1200" cap="none" normalizeH="0" baseline="0" dirty="0">
                        <a:solidFill>
                          <a:schemeClr val="tx1"/>
                        </a:solidFill>
                        <a:effectLst/>
                        <a:latin typeface="나눔스퀘어"/>
                        <a:ea typeface="나눔스퀘어"/>
                        <a:cs typeface="+mn-cs"/>
                      </a:endParaRPr>
                    </a:p>
                  </a:txBody>
                  <a:tcPr marL="72000" marR="72000" marT="18004" marB="18004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Group 207"/>
          <p:cNvGraphicFramePr>
            <a:graphicFrameLocks noGrp="1"/>
          </p:cNvGraphicFramePr>
          <p:nvPr/>
        </p:nvGraphicFramePr>
        <p:xfrm>
          <a:off x="6450420" y="1614643"/>
          <a:ext cx="2385090" cy="3208824"/>
        </p:xfrm>
        <a:graphic>
          <a:graphicData uri="http://schemas.openxmlformats.org/drawingml/2006/table">
            <a:tbl>
              <a:tblPr firstRow="1" bandRow="1"/>
              <a:tblGrid>
                <a:gridCol w="2385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9643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  <a:cs typeface="+mn-cs"/>
                        </a:rPr>
                        <a:t>화면설명</a:t>
                      </a:r>
                      <a:endParaRPr kumimoji="1" lang="ko-KR" altLang="en-US" sz="800" b="1" i="0" u="none" strike="noStrike" kern="1200" cap="none" normalizeH="0" baseline="0">
                        <a:solidFill>
                          <a:schemeClr val="tx1"/>
                        </a:solidFill>
                        <a:latin typeface="나눔스퀘어 Bold"/>
                        <a:ea typeface="나눔스퀘어 Bold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7239">
                <a:tc>
                  <a:txBody>
                    <a:bodyPr/>
                    <a:lstStyle/>
                    <a:p>
                      <a:pPr marL="92075" indent="-92075">
                        <a:buAutoNum type="arabicPeriod"/>
                        <a:defRPr/>
                      </a:pPr>
                      <a:r>
                        <a:rPr lang="ko-KR" altLang="en-US" sz="800">
                          <a:latin typeface="나눔스퀘어"/>
                          <a:ea typeface="나눔스퀘어"/>
                        </a:rPr>
                        <a:t>모든 내용을 기입한 이후 생성시 표지 생성</a:t>
                      </a:r>
                    </a:p>
                    <a:p>
                      <a:pPr marL="92075" indent="-92075">
                        <a:buAutoNum type="arabicPeriod"/>
                        <a:defRPr/>
                      </a:pPr>
                      <a:r>
                        <a:rPr lang="ko-KR" altLang="en-US" sz="800">
                          <a:latin typeface="나눔스퀘어"/>
                          <a:ea typeface="나눔스퀘어"/>
                        </a:rPr>
                        <a:t>이후 미리보기를 출력하고 최종완료로 게시물 생성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643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  <a:cs typeface="+mn-cs"/>
                        </a:rPr>
                        <a:t>비고</a:t>
                      </a:r>
                      <a:endParaRPr kumimoji="1" lang="ko-KR" altLang="en-US" sz="800" b="1" i="0" u="none" strike="noStrike" kern="1200" cap="none" normalizeH="0" baseline="0">
                        <a:solidFill>
                          <a:schemeClr val="tx1"/>
                        </a:solidFill>
                        <a:latin typeface="나눔스퀘어 Bold"/>
                        <a:ea typeface="나눔스퀘어 Bold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92299"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ko-KR" sz="800" b="1" i="0" u="none" strike="noStrike" kern="1200" cap="none" normalizeH="0" baseline="0" dirty="0">
                        <a:solidFill>
                          <a:schemeClr val="tx1"/>
                        </a:solidFill>
                        <a:effectLst/>
                        <a:latin typeface="나눔스퀘어"/>
                        <a:ea typeface="나눔스퀘어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514048" y="1351483"/>
            <a:ext cx="3057951" cy="3238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UI </a:t>
            </a:r>
            <a:r>
              <a:rPr lang="ko-KR" altLang="en-US"/>
              <a:t>스케치 작성</a:t>
            </a:r>
          </a:p>
        </p:txBody>
      </p:sp>
      <p:graphicFrame>
        <p:nvGraphicFramePr>
          <p:cNvPr id="4" name="Group 159"/>
          <p:cNvGraphicFramePr>
            <a:graphicFrameLocks noGrp="1"/>
          </p:cNvGraphicFramePr>
          <p:nvPr/>
        </p:nvGraphicFramePr>
        <p:xfrm>
          <a:off x="133351" y="949842"/>
          <a:ext cx="6154035" cy="3900786"/>
        </p:xfrm>
        <a:graphic>
          <a:graphicData uri="http://schemas.openxmlformats.org/drawingml/2006/table">
            <a:tbl>
              <a:tblPr firstRow="1" bandRow="1"/>
              <a:tblGrid>
                <a:gridCol w="869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4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1234">
                <a:tc>
                  <a:txBody>
                    <a:bodyPr/>
                    <a:lstStyle/>
                    <a:p>
                      <a:pPr marL="268288" marR="0" lvl="0" indent="-268288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</a:rPr>
                        <a:t>Indicator</a:t>
                      </a:r>
                      <a:endParaRPr kumimoji="1" lang="en-US" altLang="ko-KR" sz="1000" b="1" i="0" u="none" strike="noStrike" cap="none" normalizeH="0" baseline="0">
                        <a:solidFill>
                          <a:schemeClr val="tx1"/>
                        </a:solidFill>
                        <a:latin typeface="나눔스퀘어 Bold"/>
                        <a:ea typeface="나눔스퀘어 Bold"/>
                      </a:endParaRPr>
                    </a:p>
                  </a:txBody>
                  <a:tcPr marL="90000" marR="90000" marT="17998" marB="17998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E3E4"/>
                    </a:solidFill>
                  </a:tcPr>
                </a:tc>
                <a:tc>
                  <a:txBody>
                    <a:bodyPr/>
                    <a:lstStyle/>
                    <a:p>
                      <a:pPr marL="268288" marR="0" lvl="0" indent="-268288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ko-KR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나눔스퀘어"/>
                        <a:ea typeface="나눔스퀘어"/>
                      </a:endParaRPr>
                    </a:p>
                  </a:txBody>
                  <a:tcPr marL="90000" marR="90000" marT="17998" marB="17998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2390">
                <a:tc gridSpan="2">
                  <a:txBody>
                    <a:bodyPr/>
                    <a:lstStyle/>
                    <a:p>
                      <a:pPr marL="268288" marR="0" lvl="0" indent="-268288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tabLst>
                          <a:tab pos="1074738" algn="l"/>
                        </a:tabLst>
                        <a:defRPr/>
                      </a:pPr>
                      <a:endParaRPr kumimoji="1" lang="ko-KR" altLang="ko-KR" sz="8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나눔스퀘어"/>
                        <a:ea typeface="나눔스퀘어"/>
                      </a:endParaRPr>
                    </a:p>
                  </a:txBody>
                  <a:tcPr marL="90000" marR="90000" marT="17998" marB="17998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1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5562544"/>
              </p:ext>
            </p:extLst>
          </p:nvPr>
        </p:nvGraphicFramePr>
        <p:xfrm>
          <a:off x="6450419" y="949842"/>
          <a:ext cx="2385089" cy="648000"/>
        </p:xfrm>
        <a:graphic>
          <a:graphicData uri="http://schemas.openxmlformats.org/drawingml/2006/table">
            <a:tbl>
              <a:tblPr firstRow="1" bandRow="1"/>
              <a:tblGrid>
                <a:gridCol w="87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9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</a:rPr>
                        <a:t>화면명칭</a:t>
                      </a:r>
                      <a:endParaRPr kumimoji="1" lang="ko-KR" altLang="en-US" sz="800" b="1" i="0" u="none" strike="noStrike" cap="none" normalizeH="0" baseline="0">
                        <a:solidFill>
                          <a:schemeClr val="tx1"/>
                        </a:solidFill>
                        <a:latin typeface="나눔스퀘어 Bold"/>
                        <a:ea typeface="나눔스퀘어 Bold"/>
                      </a:endParaRPr>
                    </a:p>
                  </a:txBody>
                  <a:tcPr marL="72000" marR="72000" marT="18004" marB="18004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E3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나눔스퀘어"/>
                          <a:ea typeface="나눔스퀘어"/>
                          <a:cs typeface="+mn-cs"/>
                        </a:rPr>
                        <a:t>표지생성 미리보기</a:t>
                      </a:r>
                    </a:p>
                  </a:txBody>
                  <a:tcPr marL="72000" marR="72000" marT="18004" marB="18004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</a:rPr>
                        <a:t>화면</a:t>
                      </a: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</a:rPr>
                        <a:t>ID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나눔스퀘어 Bold"/>
                        <a:ea typeface="나눔스퀘어 Bold"/>
                      </a:endParaRPr>
                    </a:p>
                  </a:txBody>
                  <a:tcPr marL="72000" marR="72000" marT="18004" marB="18004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E3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나눔스퀘어"/>
                          <a:ea typeface="나눔스퀘어"/>
                          <a:cs typeface="+mn-cs"/>
                        </a:rPr>
                        <a:t>NEW_POST_002</a:t>
                      </a:r>
                    </a:p>
                  </a:txBody>
                  <a:tcPr marL="72000" marR="72000" marT="18004" marB="18004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</a:rPr>
                        <a:t>페이지 </a:t>
                      </a: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</a:rPr>
                        <a:t>No.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나눔스퀘어 Bold"/>
                        <a:ea typeface="나눔스퀘어 Bold"/>
                      </a:endParaRPr>
                    </a:p>
                  </a:txBody>
                  <a:tcPr marL="72000" marR="72000" marT="18004" marB="18004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E3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나눔스퀘어"/>
                          <a:ea typeface="나눔스퀘어"/>
                          <a:cs typeface="+mn-cs"/>
                        </a:rPr>
                        <a:t>7</a:t>
                      </a:r>
                      <a:endParaRPr kumimoji="1" lang="ko-KR" altLang="ko-KR" sz="800" b="0" i="0" u="none" strike="noStrike" kern="1200" cap="none" normalizeH="0" baseline="0" dirty="0">
                        <a:solidFill>
                          <a:schemeClr val="tx1"/>
                        </a:solidFill>
                        <a:effectLst/>
                        <a:latin typeface="나눔스퀘어"/>
                        <a:ea typeface="나눔스퀘어"/>
                        <a:cs typeface="+mn-cs"/>
                      </a:endParaRPr>
                    </a:p>
                  </a:txBody>
                  <a:tcPr marL="72000" marR="72000" marT="18004" marB="18004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Group 207"/>
          <p:cNvGraphicFramePr>
            <a:graphicFrameLocks noGrp="1"/>
          </p:cNvGraphicFramePr>
          <p:nvPr/>
        </p:nvGraphicFramePr>
        <p:xfrm>
          <a:off x="6450420" y="1614643"/>
          <a:ext cx="2385090" cy="3208824"/>
        </p:xfrm>
        <a:graphic>
          <a:graphicData uri="http://schemas.openxmlformats.org/drawingml/2006/table">
            <a:tbl>
              <a:tblPr firstRow="1" bandRow="1"/>
              <a:tblGrid>
                <a:gridCol w="2385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9643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  <a:cs typeface="+mn-cs"/>
                        </a:rPr>
                        <a:t>화면설명</a:t>
                      </a:r>
                      <a:endParaRPr kumimoji="1" lang="ko-KR" altLang="en-US" sz="800" b="1" i="0" u="none" strike="noStrike" kern="1200" cap="none" normalizeH="0" baseline="0">
                        <a:solidFill>
                          <a:schemeClr val="tx1"/>
                        </a:solidFill>
                        <a:latin typeface="나눔스퀘어 Bold"/>
                        <a:ea typeface="나눔스퀘어 Bold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7239">
                <a:tc>
                  <a:txBody>
                    <a:bodyPr/>
                    <a:lstStyle/>
                    <a:p>
                      <a:pPr marL="92075" indent="-92075">
                        <a:buAutoNum type="arabicPeriod"/>
                        <a:defRPr/>
                      </a:pPr>
                      <a:r>
                        <a:rPr lang="ko-KR" altLang="en-US" sz="800">
                          <a:latin typeface="나눔스퀘어"/>
                          <a:ea typeface="나눔스퀘어"/>
                        </a:rPr>
                        <a:t>게시물 추가 탭에서 생성버튼 누를 시 표지를 생성하고 이미지를 표시 </a:t>
                      </a:r>
                    </a:p>
                    <a:p>
                      <a:pPr marL="92075" indent="-92075">
                        <a:buAutoNum type="arabicPeriod"/>
                        <a:defRPr/>
                      </a:pPr>
                      <a:r>
                        <a:rPr lang="ko-KR" altLang="en-US" sz="800">
                          <a:latin typeface="나눔스퀘어"/>
                          <a:ea typeface="나눔스퀘어"/>
                        </a:rPr>
                        <a:t>미흡할 시 재생성으로 표지를 재생성하고 흡족 시 생성 버튼 클릭하여 확정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643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  <a:cs typeface="+mn-cs"/>
                        </a:rPr>
                        <a:t>비고</a:t>
                      </a:r>
                      <a:endParaRPr kumimoji="1" lang="ko-KR" altLang="en-US" sz="800" b="1" i="0" u="none" strike="noStrike" kern="1200" cap="none" normalizeH="0" baseline="0">
                        <a:solidFill>
                          <a:schemeClr val="tx1"/>
                        </a:solidFill>
                        <a:latin typeface="나눔스퀘어 Bold"/>
                        <a:ea typeface="나눔스퀘어 Bold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92299"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ko-KR" sz="8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나눔스퀘어"/>
                        <a:ea typeface="나눔스퀘어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561679" y="1389024"/>
            <a:ext cx="3010320" cy="3219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UI </a:t>
            </a:r>
            <a:r>
              <a:rPr lang="ko-KR" altLang="en-US"/>
              <a:t>스케치 작성</a:t>
            </a:r>
          </a:p>
        </p:txBody>
      </p:sp>
      <p:graphicFrame>
        <p:nvGraphicFramePr>
          <p:cNvPr id="4" name="Group 159"/>
          <p:cNvGraphicFramePr>
            <a:graphicFrameLocks noGrp="1"/>
          </p:cNvGraphicFramePr>
          <p:nvPr/>
        </p:nvGraphicFramePr>
        <p:xfrm>
          <a:off x="133351" y="949842"/>
          <a:ext cx="6154035" cy="3900786"/>
        </p:xfrm>
        <a:graphic>
          <a:graphicData uri="http://schemas.openxmlformats.org/drawingml/2006/table">
            <a:tbl>
              <a:tblPr firstRow="1" bandRow="1"/>
              <a:tblGrid>
                <a:gridCol w="869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4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1234">
                <a:tc>
                  <a:txBody>
                    <a:bodyPr/>
                    <a:lstStyle/>
                    <a:p>
                      <a:pPr marL="268288" marR="0" lvl="0" indent="-268288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</a:rPr>
                        <a:t>Indicator</a:t>
                      </a:r>
                      <a:endParaRPr kumimoji="1" lang="en-US" altLang="ko-KR" sz="1000" b="1" i="0" u="none" strike="noStrike" cap="none" normalizeH="0" baseline="0">
                        <a:solidFill>
                          <a:schemeClr val="tx1"/>
                        </a:solidFill>
                        <a:latin typeface="나눔스퀘어 Bold"/>
                        <a:ea typeface="나눔스퀘어 Bold"/>
                      </a:endParaRPr>
                    </a:p>
                  </a:txBody>
                  <a:tcPr marL="90000" marR="90000" marT="17998" marB="17998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E3E4"/>
                    </a:solidFill>
                  </a:tcPr>
                </a:tc>
                <a:tc>
                  <a:txBody>
                    <a:bodyPr/>
                    <a:lstStyle/>
                    <a:p>
                      <a:pPr marL="268288" marR="0" lvl="0" indent="-268288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ko-KR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나눔스퀘어"/>
                        <a:ea typeface="나눔스퀘어"/>
                      </a:endParaRPr>
                    </a:p>
                  </a:txBody>
                  <a:tcPr marL="90000" marR="90000" marT="17998" marB="17998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2390">
                <a:tc gridSpan="2">
                  <a:txBody>
                    <a:bodyPr/>
                    <a:lstStyle/>
                    <a:p>
                      <a:pPr marL="268288" marR="0" lvl="0" indent="-268288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tabLst>
                          <a:tab pos="1074738" algn="l"/>
                        </a:tabLst>
                        <a:defRPr/>
                      </a:pPr>
                      <a:endParaRPr kumimoji="1" lang="ko-KR" altLang="ko-KR" sz="8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나눔스퀘어"/>
                        <a:ea typeface="나눔스퀘어"/>
                      </a:endParaRPr>
                    </a:p>
                  </a:txBody>
                  <a:tcPr marL="90000" marR="90000" marT="17998" marB="17998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1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7919376"/>
              </p:ext>
            </p:extLst>
          </p:nvPr>
        </p:nvGraphicFramePr>
        <p:xfrm>
          <a:off x="6450419" y="949842"/>
          <a:ext cx="2385089" cy="648000"/>
        </p:xfrm>
        <a:graphic>
          <a:graphicData uri="http://schemas.openxmlformats.org/drawingml/2006/table">
            <a:tbl>
              <a:tblPr firstRow="1" bandRow="1"/>
              <a:tblGrid>
                <a:gridCol w="87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9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</a:rPr>
                        <a:t>화면명칭</a:t>
                      </a:r>
                      <a:endParaRPr kumimoji="1" lang="ko-KR" altLang="en-US" sz="800" b="1" i="0" u="none" strike="noStrike" cap="none" normalizeH="0" baseline="0">
                        <a:solidFill>
                          <a:schemeClr val="tx1"/>
                        </a:solidFill>
                        <a:latin typeface="나눔스퀘어 Bold"/>
                        <a:ea typeface="나눔스퀘어 Bold"/>
                      </a:endParaRPr>
                    </a:p>
                  </a:txBody>
                  <a:tcPr marL="72000" marR="72000" marT="18004" marB="18004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E3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나눔스퀘어"/>
                          <a:ea typeface="나눔스퀘어"/>
                          <a:cs typeface="+mn-cs"/>
                        </a:rPr>
                        <a:t>상세보기</a:t>
                      </a:r>
                    </a:p>
                  </a:txBody>
                  <a:tcPr marL="72000" marR="72000" marT="18004" marB="18004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</a:rPr>
                        <a:t>화면</a:t>
                      </a: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</a:rPr>
                        <a:t>ID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나눔스퀘어 Bold"/>
                        <a:ea typeface="나눔스퀘어 Bold"/>
                      </a:endParaRPr>
                    </a:p>
                  </a:txBody>
                  <a:tcPr marL="72000" marR="72000" marT="18004" marB="18004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E3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나눔스퀘어"/>
                          <a:ea typeface="나눔스퀘어"/>
                          <a:cs typeface="+mn-cs"/>
                        </a:rPr>
                        <a:t>POST_VIEW</a:t>
                      </a:r>
                    </a:p>
                  </a:txBody>
                  <a:tcPr marL="72000" marR="72000" marT="18004" marB="18004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</a:rPr>
                        <a:t>페이지 </a:t>
                      </a:r>
                      <a:r>
                        <a:rPr kumimoji="1" lang="en-US" altLang="ko-KR" sz="8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</a:rPr>
                        <a:t>No.</a:t>
                      </a:r>
                      <a:endParaRPr kumimoji="1" lang="en-US" altLang="ko-KR" sz="800" b="1" i="0" u="none" strike="noStrike" cap="none" normalizeH="0" baseline="0">
                        <a:solidFill>
                          <a:schemeClr val="tx1"/>
                        </a:solidFill>
                        <a:latin typeface="나눔스퀘어 Bold"/>
                        <a:ea typeface="나눔스퀘어 Bold"/>
                      </a:endParaRPr>
                    </a:p>
                  </a:txBody>
                  <a:tcPr marL="72000" marR="72000" marT="18004" marB="18004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E3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8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나눔스퀘어"/>
                          <a:ea typeface="나눔스퀘어"/>
                          <a:cs typeface="+mn-cs"/>
                        </a:rPr>
                        <a:t>8</a:t>
                      </a:r>
                      <a:endParaRPr kumimoji="1" lang="ko-KR" altLang="ko-KR" sz="800" b="0" i="0" u="none" strike="noStrike" kern="1200" cap="none" normalizeH="0" baseline="0" dirty="0">
                        <a:solidFill>
                          <a:schemeClr val="tx1"/>
                        </a:solidFill>
                        <a:effectLst/>
                        <a:latin typeface="나눔스퀘어"/>
                        <a:ea typeface="나눔스퀘어"/>
                        <a:cs typeface="+mn-cs"/>
                      </a:endParaRPr>
                    </a:p>
                  </a:txBody>
                  <a:tcPr marL="72000" marR="72000" marT="18004" marB="18004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Group 207"/>
          <p:cNvGraphicFramePr>
            <a:graphicFrameLocks noGrp="1"/>
          </p:cNvGraphicFramePr>
          <p:nvPr/>
        </p:nvGraphicFramePr>
        <p:xfrm>
          <a:off x="6450420" y="1614643"/>
          <a:ext cx="2385090" cy="3208824"/>
        </p:xfrm>
        <a:graphic>
          <a:graphicData uri="http://schemas.openxmlformats.org/drawingml/2006/table">
            <a:tbl>
              <a:tblPr firstRow="1" bandRow="1"/>
              <a:tblGrid>
                <a:gridCol w="2385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9643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  <a:cs typeface="+mn-cs"/>
                        </a:rPr>
                        <a:t>화면설명</a:t>
                      </a:r>
                      <a:endParaRPr kumimoji="1" lang="ko-KR" altLang="en-US" sz="800" b="1" i="0" u="none" strike="noStrike" kern="1200" cap="none" normalizeH="0" baseline="0">
                        <a:solidFill>
                          <a:schemeClr val="tx1"/>
                        </a:solidFill>
                        <a:latin typeface="나눔스퀘어 Bold"/>
                        <a:ea typeface="나눔스퀘어 Bold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7239">
                <a:tc>
                  <a:txBody>
                    <a:bodyPr/>
                    <a:lstStyle/>
                    <a:p>
                      <a:pPr marL="92075" indent="-92075">
                        <a:buAutoNum type="arabicPeriod"/>
                        <a:defRPr/>
                      </a:pPr>
                      <a:r>
                        <a:rPr lang="ko-KR" altLang="en-US" sz="800">
                          <a:latin typeface="나눔스퀘어"/>
                          <a:ea typeface="나눔스퀘어"/>
                        </a:rPr>
                        <a:t>작성자</a:t>
                      </a:r>
                      <a:r>
                        <a:rPr lang="en-US" altLang="ko-KR" sz="800">
                          <a:latin typeface="나눔스퀘어"/>
                          <a:ea typeface="나눔스퀘어"/>
                        </a:rPr>
                        <a:t>,</a:t>
                      </a:r>
                      <a:r>
                        <a:rPr lang="ko-KR" altLang="en-US" sz="800">
                          <a:latin typeface="나눔스퀘어"/>
                          <a:ea typeface="나눔스퀘어"/>
                        </a:rPr>
                        <a:t> 마지막 수정일자</a:t>
                      </a:r>
                      <a:r>
                        <a:rPr lang="en-US" altLang="ko-KR" sz="800">
                          <a:latin typeface="나눔스퀘어"/>
                          <a:ea typeface="나눔스퀘어"/>
                        </a:rPr>
                        <a:t>,</a:t>
                      </a:r>
                      <a:r>
                        <a:rPr lang="ko-KR" altLang="en-US" sz="800">
                          <a:latin typeface="나눔스퀘어"/>
                          <a:ea typeface="나눔스퀘어"/>
                        </a:rPr>
                        <a:t> 본문 내용을 표기</a:t>
                      </a:r>
                    </a:p>
                    <a:p>
                      <a:pPr marL="92075" indent="-92075">
                        <a:buAutoNum type="arabicPeriod"/>
                        <a:defRPr/>
                      </a:pPr>
                      <a:r>
                        <a:rPr lang="ko-KR" altLang="en-US" sz="800">
                          <a:latin typeface="나눔스퀘어"/>
                          <a:ea typeface="나눔스퀘어"/>
                        </a:rPr>
                        <a:t>작성자는 수정과 삭제 가능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643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800" b="1" i="0" u="none" strike="noStrike" kern="1200" cap="none" normalizeH="0" baseline="0">
                          <a:solidFill>
                            <a:schemeClr val="tx1"/>
                          </a:solidFill>
                          <a:effectLst/>
                          <a:latin typeface="나눔스퀘어 Bold"/>
                          <a:ea typeface="나눔스퀘어 Bold"/>
                          <a:cs typeface="+mn-cs"/>
                        </a:rPr>
                        <a:t>비고</a:t>
                      </a:r>
                      <a:endParaRPr kumimoji="1" lang="ko-KR" altLang="en-US" sz="800" b="1" i="0" u="none" strike="noStrike" kern="1200" cap="none" normalizeH="0" baseline="0">
                        <a:solidFill>
                          <a:schemeClr val="tx1"/>
                        </a:solidFill>
                        <a:latin typeface="나눔스퀘어 Bold"/>
                        <a:ea typeface="나눔스퀘어 Bold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E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92299"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ko-KR" sz="800" b="1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나눔스퀘어"/>
                        <a:ea typeface="나눔스퀘어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523573" y="1342239"/>
            <a:ext cx="3048425" cy="32294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0E1D1-44F3-5D4C-BEAD-A785F1787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7DE3045-A316-AD89-6704-E6763ED631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0278" y="1051323"/>
            <a:ext cx="8480822" cy="373440"/>
          </a:xfrm>
        </p:spPr>
        <p:txBody>
          <a:bodyPr>
            <a:normAutofit/>
          </a:bodyPr>
          <a:lstStyle/>
          <a:p>
            <a:r>
              <a:rPr lang="en-US" altLang="ko-KR" sz="1400" b="1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Github</a:t>
            </a:r>
            <a:r>
              <a:rPr lang="en-US" altLang="ko-KR" sz="14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4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주소 입력</a:t>
            </a:r>
            <a:r>
              <a:rPr lang="en-US" altLang="ko-KR" sz="14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https://github.com/Sihyeon0123/AIVLE-mini-project-4.git</a:t>
            </a:r>
            <a:endParaRPr lang="ko-KR" altLang="en-US" sz="14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221F87A-C117-4B42-FA66-0A653437B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>
                <a:solidFill>
                  <a:srgbClr val="3D3D3D"/>
                </a:solidFill>
                <a:cs typeface="Arial"/>
              </a:rPr>
              <a:t>소스코드 저장소 주소</a:t>
            </a:r>
            <a:r>
              <a:rPr lang="en-US" altLang="ko-KR" b="1">
                <a:solidFill>
                  <a:srgbClr val="3D3D3D"/>
                </a:solidFill>
                <a:cs typeface="Arial"/>
              </a:rPr>
              <a:t>(</a:t>
            </a:r>
            <a:r>
              <a:rPr lang="en-US" altLang="ko-KR" b="1" err="1">
                <a:solidFill>
                  <a:srgbClr val="3D3D3D"/>
                </a:solidFill>
                <a:cs typeface="Arial"/>
              </a:rPr>
              <a:t>Github</a:t>
            </a:r>
            <a:r>
              <a:rPr lang="en-US" altLang="ko-KR" b="1">
                <a:solidFill>
                  <a:srgbClr val="3D3D3D"/>
                </a:solidFill>
                <a:cs typeface="Arial"/>
              </a:rPr>
              <a:t> </a:t>
            </a:r>
            <a:r>
              <a:rPr lang="ko-KR" altLang="en-US" b="1">
                <a:solidFill>
                  <a:srgbClr val="3D3D3D"/>
                </a:solidFill>
                <a:cs typeface="Arial"/>
              </a:rPr>
              <a:t>주소</a:t>
            </a:r>
            <a:r>
              <a:rPr lang="en-US" altLang="ko-KR" b="1">
                <a:solidFill>
                  <a:srgbClr val="3D3D3D"/>
                </a:solidFill>
                <a:cs typeface="Arial"/>
              </a:rPr>
              <a:t>)</a:t>
            </a:r>
            <a:endParaRPr lang="ko-KR" altLang="en-US" b="1"/>
          </a:p>
        </p:txBody>
      </p:sp>
    </p:spTree>
    <p:extLst>
      <p:ext uri="{BB962C8B-B14F-4D97-AF65-F5344CB8AC3E}">
        <p14:creationId xmlns:p14="http://schemas.microsoft.com/office/powerpoint/2010/main" val="42113048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372</Words>
  <Application>Microsoft Office PowerPoint</Application>
  <PresentationFormat>화면 슬라이드 쇼(16:9)</PresentationFormat>
  <Paragraphs>123</Paragraphs>
  <Slides>17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6" baseType="lpstr">
      <vt:lpstr>Aptos</vt:lpstr>
      <vt:lpstr>Aptos Display</vt:lpstr>
      <vt:lpstr>나눔스퀘어</vt:lpstr>
      <vt:lpstr>나눔스퀘어 Bold</vt:lpstr>
      <vt:lpstr>나눔스퀘어 ExtraBold</vt:lpstr>
      <vt:lpstr>맑은 고딕</vt:lpstr>
      <vt:lpstr>Arial</vt:lpstr>
      <vt:lpstr>Office 테마</vt:lpstr>
      <vt:lpstr>Worksheet</vt:lpstr>
      <vt:lpstr>PowerPoint 프레젠테이션</vt:lpstr>
      <vt:lpstr>PowerPoint 프레젠테이션</vt:lpstr>
      <vt:lpstr>ERD설계</vt:lpstr>
      <vt:lpstr>ERD설계</vt:lpstr>
      <vt:lpstr>API 정의서</vt:lpstr>
      <vt:lpstr>API 정의서</vt:lpstr>
      <vt:lpstr>UI 스케치 작성</vt:lpstr>
      <vt:lpstr>UI 스케치 작성</vt:lpstr>
      <vt:lpstr>UI 스케치 작성</vt:lpstr>
      <vt:lpstr>UI 스케치 작성</vt:lpstr>
      <vt:lpstr>UI 스케치 작성</vt:lpstr>
      <vt:lpstr>UI 스케치 작성</vt:lpstr>
      <vt:lpstr>UI 스케치 작성</vt:lpstr>
      <vt:lpstr>UI 스케치 작성</vt:lpstr>
      <vt:lpstr>UI 스케치 작성</vt:lpstr>
      <vt:lpstr>소스코드 저장소 주소(Github 주소)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석지혜(AIVLE교육팀)</dc:creator>
  <cp:lastModifiedBy>양시현</cp:lastModifiedBy>
  <cp:revision>14</cp:revision>
  <dcterms:created xsi:type="dcterms:W3CDTF">2025-02-05T05:12:41Z</dcterms:created>
  <dcterms:modified xsi:type="dcterms:W3CDTF">2025-12-04T08:08:34Z</dcterms:modified>
  <cp:version/>
</cp:coreProperties>
</file>