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embeddedFontLst>
    <p:embeddedFont>
      <p:font typeface="Malgun Gothic" panose="020B0503020000020004" pitchFamily="50" charset="-127"/>
      <p:regular r:id="rId32"/>
      <p:bold r:id="rId33"/>
    </p:embeddedFont>
    <p:embeddedFont>
      <p:font typeface="Play" panose="020B0600000101010101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51">
          <p15:clr>
            <a:srgbClr val="A4A3A4"/>
          </p15:clr>
        </p15:guide>
        <p15:guide id="2" pos="209">
          <p15:clr>
            <a:srgbClr val="A4A3A4"/>
          </p15:clr>
        </p15:guide>
        <p15:guide id="3" orient="horz" pos="3083">
          <p15:clr>
            <a:srgbClr val="A4A3A4"/>
          </p15:clr>
        </p15:guide>
        <p15:guide id="4" orient="horz" pos="1773">
          <p15:clr>
            <a:srgbClr val="A4A3A4"/>
          </p15:clr>
        </p15:guide>
        <p15:guide id="5" orient="horz" pos="554">
          <p15:clr>
            <a:srgbClr val="A4A3A4"/>
          </p15:clr>
        </p15:guide>
        <p15:guide id="6" pos="2846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g8MpMvWLytz7yy4/h+3+X3TyGF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5D184C-D6F1-4C4B-89F7-98C5CA9608AD}">
  <a:tblStyle styleId="{ED5D184C-D6F1-4C4B-89F7-98C5CA9608A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E0CCB52-F4C9-4678-9619-A55325F9447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200" y="76"/>
      </p:cViewPr>
      <p:guideLst>
        <p:guide pos="5551"/>
        <p:guide pos="209"/>
        <p:guide orient="horz" pos="3083"/>
        <p:guide orient="horz" pos="1773"/>
        <p:guide orient="horz" pos="554"/>
        <p:guide pos="28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표지 : 이미지 교체 예정</a:t>
            </a:r>
            <a:endParaRPr/>
          </a:p>
        </p:txBody>
      </p:sp>
      <p:sp>
        <p:nvSpPr>
          <p:cNvPr id="128" name="Google Shape;12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eca1a05f3_4_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3aeca1a05f3_4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eca1a05f3_10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aeca1a05f3_1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eca1a05f3_1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g3aeca1a05f3_1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eca1a05f3_10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aeca1a05f3_1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eca1a05f3_1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3aeca1a05f3_1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eca1a05f3_1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g3aeca1a05f3_1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eca1a05f3_4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3aeca1a05f3_4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246" name="Google Shape;2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eca1a05f3_3_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데이터 흐름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사용자 → 브라우저 → </a:t>
            </a: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Next.js 페이지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→ 백엔드 API 요청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3aeca1a05f3_3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eca1a05f3_3_1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3aeca1a05f3_3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eca1a05f3_3_1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3aeca1a05f3_3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eca1a05f3_3_1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3aeca1a05f3_3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eca1a05f3_3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3aeca1a05f3_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eca1a05f3_3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g3aeca1a05f3_3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eca1a05f3_3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3aeca1a05f3_3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eca1a05f3_4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g3aeca1a05f3_4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eca1a05f3_3_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3aeca1a05f3_3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aeca1a05f3_3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aeca1a05f3_3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aeca1a05f3_3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g3aeca1a05f3_3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algun Gothic"/>
              <a:buNone/>
            </a:pPr>
            <a:endParaRPr/>
          </a:p>
        </p:txBody>
      </p:sp>
      <p:sp>
        <p:nvSpPr>
          <p:cNvPr id="368" name="Google Shape;36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14"/>
          <p:cNvCxnSpPr/>
          <p:nvPr/>
        </p:nvCxnSpPr>
        <p:spPr>
          <a:xfrm>
            <a:off x="646654" y="1714501"/>
            <a:ext cx="0" cy="802313"/>
          </a:xfrm>
          <a:prstGeom prst="straightConnector1">
            <a:avLst/>
          </a:prstGeom>
          <a:noFill/>
          <a:ln w="57150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" name="Google Shape;18;p14"/>
          <p:cNvSpPr txBox="1"/>
          <p:nvPr/>
        </p:nvSpPr>
        <p:spPr>
          <a:xfrm>
            <a:off x="737725" y="1571402"/>
            <a:ext cx="6184277" cy="1088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75" tIns="42175" rIns="84375" bIns="421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67BDC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" b="1" i="0" u="none" strike="noStrike" cap="none">
                <a:solidFill>
                  <a:srgbClr val="67BDC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1" i="0" u="none" strike="noStrike" cap="none">
                <a:solidFill>
                  <a:srgbClr val="02BDB6"/>
                </a:solidFill>
                <a:latin typeface="Arial"/>
                <a:ea typeface="Arial"/>
                <a:cs typeface="Arial"/>
                <a:sym typeface="Arial"/>
              </a:rPr>
              <a:t>KT AIVLE School</a:t>
            </a:r>
            <a:endParaRPr/>
          </a:p>
        </p:txBody>
      </p:sp>
      <p:sp>
        <p:nvSpPr>
          <p:cNvPr id="19" name="Google Shape;19;p14"/>
          <p:cNvSpPr/>
          <p:nvPr/>
        </p:nvSpPr>
        <p:spPr>
          <a:xfrm>
            <a:off x="7324437" y="4751485"/>
            <a:ext cx="167052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Make it possible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14" descr="텍스트, 클립아트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33224" y="4371975"/>
            <a:ext cx="1445665" cy="31324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4"/>
          <p:cNvSpPr txBox="1">
            <a:spLocks noGrp="1"/>
          </p:cNvSpPr>
          <p:nvPr>
            <p:ph type="body" idx="1"/>
          </p:nvPr>
        </p:nvSpPr>
        <p:spPr>
          <a:xfrm>
            <a:off x="777003" y="2049544"/>
            <a:ext cx="6301978" cy="617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>
  <p:cSld name="사용자 지정 레이아웃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/>
          <p:nvPr/>
        </p:nvSpPr>
        <p:spPr>
          <a:xfrm>
            <a:off x="1" y="-1"/>
            <a:ext cx="2768138" cy="5143500"/>
          </a:xfrm>
          <a:prstGeom prst="rect">
            <a:avLst/>
          </a:prstGeom>
          <a:solidFill>
            <a:srgbClr val="C8E7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5"/>
          <p:cNvSpPr/>
          <p:nvPr/>
        </p:nvSpPr>
        <p:spPr>
          <a:xfrm>
            <a:off x="336273" y="850874"/>
            <a:ext cx="1755000" cy="135000"/>
          </a:xfrm>
          <a:custGeom>
            <a:avLst/>
            <a:gdLst/>
            <a:ahLst/>
            <a:cxnLst/>
            <a:rect l="l" t="t" r="r" b="b"/>
            <a:pathLst>
              <a:path w="1913254" h="139064" extrusionOk="0">
                <a:moveTo>
                  <a:pt x="1890140" y="0"/>
                </a:moveTo>
                <a:lnTo>
                  <a:pt x="23113" y="0"/>
                </a:lnTo>
                <a:lnTo>
                  <a:pt x="14091" y="1825"/>
                </a:lnTo>
                <a:lnTo>
                  <a:pt x="6746" y="6794"/>
                </a:lnTo>
                <a:lnTo>
                  <a:pt x="1807" y="14144"/>
                </a:lnTo>
                <a:lnTo>
                  <a:pt x="0" y="23113"/>
                </a:lnTo>
                <a:lnTo>
                  <a:pt x="0" y="115824"/>
                </a:lnTo>
                <a:lnTo>
                  <a:pt x="1807" y="124793"/>
                </a:lnTo>
                <a:lnTo>
                  <a:pt x="6746" y="132143"/>
                </a:lnTo>
                <a:lnTo>
                  <a:pt x="14091" y="137112"/>
                </a:lnTo>
                <a:lnTo>
                  <a:pt x="23113" y="138937"/>
                </a:lnTo>
                <a:lnTo>
                  <a:pt x="1890140" y="138937"/>
                </a:lnTo>
                <a:lnTo>
                  <a:pt x="1899110" y="137112"/>
                </a:lnTo>
                <a:lnTo>
                  <a:pt x="1906460" y="132143"/>
                </a:lnTo>
                <a:lnTo>
                  <a:pt x="1911429" y="124793"/>
                </a:lnTo>
                <a:lnTo>
                  <a:pt x="1913254" y="115824"/>
                </a:lnTo>
                <a:lnTo>
                  <a:pt x="1913254" y="23113"/>
                </a:lnTo>
                <a:lnTo>
                  <a:pt x="1911429" y="14144"/>
                </a:lnTo>
                <a:lnTo>
                  <a:pt x="1906460" y="6794"/>
                </a:lnTo>
                <a:lnTo>
                  <a:pt x="1899110" y="1825"/>
                </a:lnTo>
                <a:lnTo>
                  <a:pt x="189014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5"/>
          <p:cNvSpPr txBox="1"/>
          <p:nvPr/>
        </p:nvSpPr>
        <p:spPr>
          <a:xfrm>
            <a:off x="249224" y="495108"/>
            <a:ext cx="1917035" cy="563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75" tIns="42175" rIns="84375" bIns="421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1" i="0" u="none" strike="noStrike" cap="none">
                <a:solidFill>
                  <a:srgbClr val="67BDC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" b="1" i="0" u="none" strike="noStrike" cap="none">
                <a:solidFill>
                  <a:srgbClr val="67BDC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b="1" i="0" u="none" strike="noStrike" cap="none">
                <a:solidFill>
                  <a:srgbClr val="165D69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2100" b="1" i="0" u="none" strike="noStrike" cap="none">
              <a:solidFill>
                <a:srgbClr val="165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26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92749" y="121560"/>
            <a:ext cx="801029" cy="182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>
  <p:cSld name="1_사용자 지정 레이아웃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/>
          <p:nvPr/>
        </p:nvSpPr>
        <p:spPr>
          <a:xfrm>
            <a:off x="0" y="-45729"/>
            <a:ext cx="9144000" cy="3673928"/>
          </a:xfrm>
          <a:prstGeom prst="rect">
            <a:avLst/>
          </a:prstGeom>
          <a:solidFill>
            <a:srgbClr val="C8E7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92749" y="121560"/>
            <a:ext cx="801029" cy="18243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6"/>
          <p:cNvSpPr txBox="1">
            <a:spLocks noGrp="1"/>
          </p:cNvSpPr>
          <p:nvPr>
            <p:ph type="title"/>
          </p:nvPr>
        </p:nvSpPr>
        <p:spPr>
          <a:xfrm>
            <a:off x="478031" y="1058092"/>
            <a:ext cx="7886700" cy="889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sldNum" idx="12"/>
          </p:nvPr>
        </p:nvSpPr>
        <p:spPr>
          <a:xfrm>
            <a:off x="6991350" y="48696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1"/>
          </p:nvPr>
        </p:nvSpPr>
        <p:spPr>
          <a:xfrm>
            <a:off x="478031" y="705674"/>
            <a:ext cx="4976710" cy="35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65D69"/>
              </a:buClr>
              <a:buSzPts val="2700"/>
              <a:buNone/>
              <a:defRPr sz="2700" b="1">
                <a:solidFill>
                  <a:srgbClr val="165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/>
          <p:nvPr/>
        </p:nvSpPr>
        <p:spPr>
          <a:xfrm>
            <a:off x="86497" y="858794"/>
            <a:ext cx="8962253" cy="40108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" name="Google Shape;35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6991350" y="48696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320278" y="1051323"/>
            <a:ext cx="8480822" cy="3688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title"/>
          </p:nvPr>
        </p:nvSpPr>
        <p:spPr>
          <a:xfrm>
            <a:off x="133350" y="153313"/>
            <a:ext cx="7886700" cy="56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 b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/>
          <p:nvPr/>
        </p:nvSpPr>
        <p:spPr>
          <a:xfrm>
            <a:off x="-827593" y="1196226"/>
            <a:ext cx="540000" cy="540000"/>
          </a:xfrm>
          <a:prstGeom prst="roundRect">
            <a:avLst>
              <a:gd name="adj" fmla="val 0"/>
            </a:avLst>
          </a:prstGeom>
          <a:solidFill>
            <a:srgbClr val="30AE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7"/>
          <p:cNvSpPr/>
          <p:nvPr/>
        </p:nvSpPr>
        <p:spPr>
          <a:xfrm>
            <a:off x="-827593" y="505515"/>
            <a:ext cx="540000" cy="540000"/>
          </a:xfrm>
          <a:prstGeom prst="roundRect">
            <a:avLst>
              <a:gd name="adj" fmla="val 0"/>
            </a:avLst>
          </a:prstGeom>
          <a:solidFill>
            <a:srgbClr val="204F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7"/>
          <p:cNvSpPr/>
          <p:nvPr/>
        </p:nvSpPr>
        <p:spPr>
          <a:xfrm>
            <a:off x="-827593" y="1886937"/>
            <a:ext cx="540000" cy="540000"/>
          </a:xfrm>
          <a:prstGeom prst="roundRect">
            <a:avLst>
              <a:gd name="adj" fmla="val 0"/>
            </a:avLst>
          </a:prstGeom>
          <a:solidFill>
            <a:srgbClr val="C7E3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7"/>
          <p:cNvSpPr/>
          <p:nvPr/>
        </p:nvSpPr>
        <p:spPr>
          <a:xfrm>
            <a:off x="-827593" y="2577648"/>
            <a:ext cx="540000" cy="540000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7"/>
          <p:cNvSpPr/>
          <p:nvPr/>
        </p:nvSpPr>
        <p:spPr>
          <a:xfrm>
            <a:off x="-827593" y="3268359"/>
            <a:ext cx="540000" cy="540000"/>
          </a:xfrm>
          <a:prstGeom prst="roundRect">
            <a:avLst>
              <a:gd name="adj" fmla="val 0"/>
            </a:avLst>
          </a:prstGeom>
          <a:solidFill>
            <a:srgbClr val="FF57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">
  <p:cSld name="End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8421"/>
            <a:ext cx="9144000" cy="5627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3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6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6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94" name="Google Shape;94;p26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95" name="Google Shape;95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7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7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102" name="Google Shape;102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8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9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9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사용자 지정 레이아웃">
  <p:cSld name="4_사용자 지정 레이아웃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0"/>
          <p:cNvSpPr txBox="1">
            <a:spLocks noGrp="1"/>
          </p:cNvSpPr>
          <p:nvPr>
            <p:ph type="title"/>
          </p:nvPr>
        </p:nvSpPr>
        <p:spPr>
          <a:xfrm>
            <a:off x="737724" y="1616008"/>
            <a:ext cx="556183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0"/>
          <p:cNvSpPr/>
          <p:nvPr/>
        </p:nvSpPr>
        <p:spPr>
          <a:xfrm>
            <a:off x="7324437" y="4751484"/>
            <a:ext cx="167052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Make it possible</a:t>
            </a:r>
            <a:endParaRPr sz="105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21" name="Google Shape;121;p30" descr="텍스트, 클립아트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33223" y="4371975"/>
            <a:ext cx="1445665" cy="313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" name="Google Shape;122;p30"/>
          <p:cNvCxnSpPr/>
          <p:nvPr/>
        </p:nvCxnSpPr>
        <p:spPr>
          <a:xfrm>
            <a:off x="646654" y="1714500"/>
            <a:ext cx="0" cy="802313"/>
          </a:xfrm>
          <a:prstGeom prst="straightConnector1">
            <a:avLst/>
          </a:prstGeom>
          <a:noFill/>
          <a:ln w="57150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3" name="Google Shape;123;p30"/>
          <p:cNvSpPr txBox="1">
            <a:spLocks noGrp="1"/>
          </p:cNvSpPr>
          <p:nvPr>
            <p:ph type="body" idx="1"/>
          </p:nvPr>
        </p:nvSpPr>
        <p:spPr>
          <a:xfrm>
            <a:off x="737725" y="1273108"/>
            <a:ext cx="372977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30"/>
          <p:cNvSpPr txBox="1">
            <a:spLocks noGrp="1"/>
          </p:cNvSpPr>
          <p:nvPr>
            <p:ph type="body" idx="2"/>
          </p:nvPr>
        </p:nvSpPr>
        <p:spPr>
          <a:xfrm>
            <a:off x="737725" y="2610180"/>
            <a:ext cx="1145858" cy="27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47474"/>
              </a:buClr>
              <a:buSzPts val="1350"/>
              <a:buNone/>
              <a:defRPr sz="1350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El2XurvM0hBwo7mui5dlEC87zFCsDXSg/edit?rtpof=true&amp;sd=true&amp;gid=1349883987#gid=1349883987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hyperlink" Target="https://github.com/Sihyeon0123/AIVLE-mini-project-4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"/>
          <p:cNvSpPr txBox="1">
            <a:spLocks noGrp="1"/>
          </p:cNvSpPr>
          <p:nvPr>
            <p:ph type="body" idx="1"/>
          </p:nvPr>
        </p:nvSpPr>
        <p:spPr>
          <a:xfrm>
            <a:off x="777002" y="1918921"/>
            <a:ext cx="6761398" cy="1305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도서관리시스템 개발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0"/>
              <a:t>(AI를 활용한 도서표지 이미지 생성)</a:t>
            </a:r>
            <a:endParaRPr sz="1400" b="0"/>
          </a:p>
        </p:txBody>
      </p:sp>
      <p:sp>
        <p:nvSpPr>
          <p:cNvPr id="131" name="Google Shape;131;p1"/>
          <p:cNvSpPr txBox="1"/>
          <p:nvPr/>
        </p:nvSpPr>
        <p:spPr>
          <a:xfrm>
            <a:off x="777002" y="1152371"/>
            <a:ext cx="6301978" cy="617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미니 프로젝트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2"/>
          <p:cNvGrpSpPr/>
          <p:nvPr/>
        </p:nvGrpSpPr>
        <p:grpSpPr>
          <a:xfrm>
            <a:off x="3354937" y="2014450"/>
            <a:ext cx="2445180" cy="434250"/>
            <a:chOff x="4445993" y="2488750"/>
            <a:chExt cx="3260240" cy="579000"/>
          </a:xfrm>
        </p:grpSpPr>
        <p:sp>
          <p:nvSpPr>
            <p:cNvPr id="137" name="Google Shape;137;p2"/>
            <p:cNvSpPr txBox="1"/>
            <p:nvPr/>
          </p:nvSpPr>
          <p:spPr>
            <a:xfrm>
              <a:off x="4445993" y="2488750"/>
              <a:ext cx="1210500" cy="57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4375" tIns="42175" rIns="84375" bIns="42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US" sz="2400" b="1">
                  <a:solidFill>
                    <a:schemeClr val="dk1"/>
                  </a:solidFill>
                </a:rPr>
                <a:t>2</a:t>
              </a:r>
              <a:r>
                <a:rPr lang="en-US" sz="2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38" name="Google Shape;138;p2"/>
            <p:cNvSpPr txBox="1"/>
            <p:nvPr/>
          </p:nvSpPr>
          <p:spPr>
            <a:xfrm>
              <a:off x="5287633" y="2532083"/>
              <a:ext cx="2418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>
                  <a:solidFill>
                    <a:schemeClr val="dk1"/>
                  </a:solidFill>
                </a:rPr>
                <a:t>핵심 결과물</a:t>
              </a:r>
              <a:endParaRPr/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3340028" y="3038850"/>
            <a:ext cx="2781498" cy="434250"/>
            <a:chOff x="4446002" y="2488746"/>
            <a:chExt cx="3708663" cy="579000"/>
          </a:xfrm>
        </p:grpSpPr>
        <p:sp>
          <p:nvSpPr>
            <p:cNvPr id="140" name="Google Shape;140;p2"/>
            <p:cNvSpPr txBox="1"/>
            <p:nvPr/>
          </p:nvSpPr>
          <p:spPr>
            <a:xfrm>
              <a:off x="4446002" y="2488746"/>
              <a:ext cx="1385700" cy="57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4375" tIns="42175" rIns="84375" bIns="42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US" sz="2400" b="1">
                  <a:solidFill>
                    <a:schemeClr val="dk1"/>
                  </a:solidFill>
                </a:rPr>
                <a:t>4</a:t>
              </a:r>
              <a:r>
                <a:rPr lang="en-US" sz="2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41" name="Google Shape;141;p2"/>
            <p:cNvSpPr txBox="1"/>
            <p:nvPr/>
          </p:nvSpPr>
          <p:spPr>
            <a:xfrm>
              <a:off x="5287639" y="2532113"/>
              <a:ext cx="2867026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dirty="0" err="1">
                  <a:solidFill>
                    <a:schemeClr val="dk1"/>
                  </a:solidFill>
                </a:rPr>
                <a:t>시스템</a:t>
              </a:r>
              <a:r>
                <a:rPr lang="en-US" sz="1950" dirty="0">
                  <a:solidFill>
                    <a:schemeClr val="dk1"/>
                  </a:solidFill>
                </a:rPr>
                <a:t> </a:t>
              </a:r>
              <a:r>
                <a:rPr lang="en-US" sz="1950" dirty="0" err="1">
                  <a:solidFill>
                    <a:schemeClr val="dk1"/>
                  </a:solidFill>
                </a:rPr>
                <a:t>아키텍처</a:t>
              </a:r>
              <a:endParaRPr sz="1950" dirty="0">
                <a:solidFill>
                  <a:schemeClr val="dk1"/>
                </a:solidFill>
              </a:endParaRPr>
            </a:p>
          </p:txBody>
        </p:sp>
      </p:grpSp>
      <p:grpSp>
        <p:nvGrpSpPr>
          <p:cNvPr id="142" name="Google Shape;142;p2"/>
          <p:cNvGrpSpPr/>
          <p:nvPr/>
        </p:nvGrpSpPr>
        <p:grpSpPr>
          <a:xfrm>
            <a:off x="3347473" y="3558125"/>
            <a:ext cx="3122655" cy="434250"/>
            <a:chOff x="4445990" y="2488777"/>
            <a:chExt cx="4163540" cy="579000"/>
          </a:xfrm>
        </p:grpSpPr>
        <p:sp>
          <p:nvSpPr>
            <p:cNvPr id="143" name="Google Shape;143;p2"/>
            <p:cNvSpPr txBox="1"/>
            <p:nvPr/>
          </p:nvSpPr>
          <p:spPr>
            <a:xfrm>
              <a:off x="4445990" y="2488777"/>
              <a:ext cx="1317300" cy="57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4375" tIns="42175" rIns="84375" bIns="42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US" sz="2400" b="1">
                  <a:solidFill>
                    <a:schemeClr val="dk1"/>
                  </a:solidFill>
                </a:rPr>
                <a:t>5</a:t>
              </a:r>
              <a:r>
                <a:rPr lang="en-US" sz="2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44" name="Google Shape;144;p2"/>
            <p:cNvSpPr txBox="1"/>
            <p:nvPr/>
          </p:nvSpPr>
          <p:spPr>
            <a:xfrm>
              <a:off x="5287630" y="2532110"/>
              <a:ext cx="3321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 sz="1950" dirty="0">
                  <a:solidFill>
                    <a:schemeClr val="dk1"/>
                  </a:solidFill>
                </a:rPr>
                <a:t>API </a:t>
              </a:r>
              <a:r>
                <a:rPr lang="en-US" sz="1950" dirty="0" err="1">
                  <a:solidFill>
                    <a:schemeClr val="dk1"/>
                  </a:solidFill>
                </a:rPr>
                <a:t>정의서</a:t>
              </a:r>
              <a:endParaRPr dirty="0"/>
            </a:p>
          </p:txBody>
        </p:sp>
      </p:grpSp>
      <p:grpSp>
        <p:nvGrpSpPr>
          <p:cNvPr id="145" name="Google Shape;145;p2"/>
          <p:cNvGrpSpPr/>
          <p:nvPr/>
        </p:nvGrpSpPr>
        <p:grpSpPr>
          <a:xfrm>
            <a:off x="3347464" y="2507380"/>
            <a:ext cx="2949405" cy="733310"/>
            <a:chOff x="4445993" y="2488750"/>
            <a:chExt cx="3932541" cy="977746"/>
          </a:xfrm>
        </p:grpSpPr>
        <p:sp>
          <p:nvSpPr>
            <p:cNvPr id="146" name="Google Shape;146;p2"/>
            <p:cNvSpPr txBox="1"/>
            <p:nvPr/>
          </p:nvSpPr>
          <p:spPr>
            <a:xfrm>
              <a:off x="4445993" y="2488750"/>
              <a:ext cx="1210500" cy="57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4375" tIns="42175" rIns="84375" bIns="42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US" sz="2400" b="1">
                  <a:solidFill>
                    <a:schemeClr val="dk1"/>
                  </a:solidFill>
                </a:rPr>
                <a:t>3</a:t>
              </a:r>
              <a:r>
                <a:rPr lang="en-US" sz="2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47" name="Google Shape;147;p2"/>
            <p:cNvSpPr txBox="1"/>
            <p:nvPr/>
          </p:nvSpPr>
          <p:spPr>
            <a:xfrm>
              <a:off x="5295733" y="2543097"/>
              <a:ext cx="3082801" cy="923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 sz="1950" dirty="0" err="1">
                  <a:solidFill>
                    <a:schemeClr val="dk1"/>
                  </a:solidFill>
                </a:rPr>
                <a:t>ERD설계</a:t>
              </a:r>
              <a:endParaRPr dirty="0">
                <a:solidFill>
                  <a:schemeClr val="dk1"/>
                </a:solidFill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50" dirty="0">
                <a:solidFill>
                  <a:schemeClr val="dk1"/>
                </a:solidFill>
              </a:endParaRPr>
            </a:p>
          </p:txBody>
        </p:sp>
      </p:grpSp>
      <p:grpSp>
        <p:nvGrpSpPr>
          <p:cNvPr id="148" name="Google Shape;148;p2"/>
          <p:cNvGrpSpPr/>
          <p:nvPr/>
        </p:nvGrpSpPr>
        <p:grpSpPr>
          <a:xfrm>
            <a:off x="3353594" y="1559202"/>
            <a:ext cx="2445180" cy="434250"/>
            <a:chOff x="4445993" y="2488750"/>
            <a:chExt cx="3260240" cy="579000"/>
          </a:xfrm>
        </p:grpSpPr>
        <p:sp>
          <p:nvSpPr>
            <p:cNvPr id="149" name="Google Shape;149;p2"/>
            <p:cNvSpPr txBox="1"/>
            <p:nvPr/>
          </p:nvSpPr>
          <p:spPr>
            <a:xfrm>
              <a:off x="4445993" y="2488750"/>
              <a:ext cx="1210500" cy="57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4375" tIns="42175" rIns="84375" bIns="42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01.</a:t>
              </a:r>
              <a:endParaRPr/>
            </a:p>
          </p:txBody>
        </p:sp>
        <p:sp>
          <p:nvSpPr>
            <p:cNvPr id="150" name="Google Shape;150;p2"/>
            <p:cNvSpPr txBox="1"/>
            <p:nvPr/>
          </p:nvSpPr>
          <p:spPr>
            <a:xfrm>
              <a:off x="5287633" y="2532083"/>
              <a:ext cx="2418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>
                  <a:solidFill>
                    <a:schemeClr val="dk1"/>
                  </a:solidFill>
                </a:rPr>
                <a:t>프로젝트 개요</a:t>
              </a:r>
              <a:endParaRPr/>
            </a:p>
          </p:txBody>
        </p:sp>
      </p:grpSp>
      <p:grpSp>
        <p:nvGrpSpPr>
          <p:cNvPr id="151" name="Google Shape;151;p2"/>
          <p:cNvGrpSpPr/>
          <p:nvPr/>
        </p:nvGrpSpPr>
        <p:grpSpPr>
          <a:xfrm>
            <a:off x="3347464" y="4037268"/>
            <a:ext cx="3122663" cy="445019"/>
            <a:chOff x="4436026" y="2505302"/>
            <a:chExt cx="4163551" cy="593359"/>
          </a:xfrm>
        </p:grpSpPr>
        <p:sp>
          <p:nvSpPr>
            <p:cNvPr id="152" name="Google Shape;152;p2"/>
            <p:cNvSpPr txBox="1"/>
            <p:nvPr/>
          </p:nvSpPr>
          <p:spPr>
            <a:xfrm>
              <a:off x="4436026" y="2505302"/>
              <a:ext cx="1317300" cy="57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4375" tIns="42175" rIns="84375" bIns="42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US" sz="2400" b="1" dirty="0">
                  <a:solidFill>
                    <a:schemeClr val="dk1"/>
                  </a:solidFill>
                </a:rPr>
                <a:t>6</a:t>
              </a:r>
              <a:r>
                <a:rPr lang="en-US" sz="2400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dirty="0"/>
            </a:p>
          </p:txBody>
        </p:sp>
        <p:sp>
          <p:nvSpPr>
            <p:cNvPr id="153" name="Google Shape;153;p2"/>
            <p:cNvSpPr txBox="1"/>
            <p:nvPr/>
          </p:nvSpPr>
          <p:spPr>
            <a:xfrm>
              <a:off x="5277677" y="2575461"/>
              <a:ext cx="3321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dirty="0" err="1">
                  <a:solidFill>
                    <a:schemeClr val="dk1"/>
                  </a:solidFill>
                </a:rPr>
                <a:t>부록</a:t>
              </a:r>
              <a:endParaRPr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eca1a05f3_4_61"/>
          <p:cNvSpPr txBox="1">
            <a:spLocks noGrp="1"/>
          </p:cNvSpPr>
          <p:nvPr>
            <p:ph type="title"/>
          </p:nvPr>
        </p:nvSpPr>
        <p:spPr>
          <a:xfrm>
            <a:off x="133350" y="153313"/>
            <a:ext cx="78867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/>
              <a:t>프로젝트 개요</a:t>
            </a:r>
            <a:endParaRPr/>
          </a:p>
        </p:txBody>
      </p:sp>
      <p:sp>
        <p:nvSpPr>
          <p:cNvPr id="159" name="Google Shape;159;g3aeca1a05f3_4_61"/>
          <p:cNvSpPr txBox="1"/>
          <p:nvPr/>
        </p:nvSpPr>
        <p:spPr>
          <a:xfrm>
            <a:off x="638875" y="1227950"/>
            <a:ext cx="7758300" cy="29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프로젝트 배경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디지털 콘텐츠·AI 확산으로, 개인 창작자가 손쉽게 도서를 등록·관리할 수 있는 웹 플랫폼의 필요성이 커지고 있음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AI 표지 이미지 자동 생성과 JWT 인증을 통해 창작자의 부담을 줄이고, 안전한 도서 등록·조회·수정·삭제 환경을 제공하는 것을 목표로 함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프로젝트 목표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Spring Boot, React, Next.js를 활용한 풀스택 웹 애플리케이션 개발 역량 강화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REST API 설계·구현과 JPA 기반 데이터베이스 연동 경험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OpenAI API 연동으로 AI 기능(표지 자동 생성 등) 적용 경험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>
            <a:spLocks noGrp="1"/>
          </p:cNvSpPr>
          <p:nvPr>
            <p:ph type="title"/>
          </p:nvPr>
        </p:nvSpPr>
        <p:spPr>
          <a:xfrm>
            <a:off x="478031" y="1058092"/>
            <a:ext cx="7886700" cy="889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/>
              <a:t>핵심 결과물</a:t>
            </a:r>
            <a:endParaRPr/>
          </a:p>
        </p:txBody>
      </p:sp>
      <p:sp>
        <p:nvSpPr>
          <p:cNvPr id="165" name="Google Shape;165;p8"/>
          <p:cNvSpPr txBox="1">
            <a:spLocks noGrp="1"/>
          </p:cNvSpPr>
          <p:nvPr>
            <p:ph type="body" idx="1"/>
          </p:nvPr>
        </p:nvSpPr>
        <p:spPr>
          <a:xfrm>
            <a:off x="478031" y="705674"/>
            <a:ext cx="4976710" cy="35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5D69"/>
              </a:buClr>
              <a:buSzPts val="2700"/>
              <a:buNone/>
            </a:pPr>
            <a:r>
              <a:rPr lang="en-US"/>
              <a:t>02.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0" name="Google Shape;170;p9"/>
          <p:cNvGraphicFramePr/>
          <p:nvPr/>
        </p:nvGraphicFramePr>
        <p:xfrm>
          <a:off x="133351" y="949842"/>
          <a:ext cx="6154025" cy="3900800"/>
        </p:xfrm>
        <a:graphic>
          <a:graphicData uri="http://schemas.openxmlformats.org/drawingml/2006/table">
            <a:tbl>
              <a:tblPr>
                <a:noFill/>
                <a:tableStyleId>{ED5D184C-D6F1-4C4B-89F7-98C5CA9608AD}</a:tableStyleId>
              </a:tblPr>
              <a:tblGrid>
                <a:gridCol w="8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225">
                <a:tc>
                  <a:txBody>
                    <a:bodyPr/>
                    <a:lstStyle/>
                    <a:p>
                      <a:pPr marL="268287" marR="0" lvl="0" indent="-268287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Indicator</a:t>
                      </a:r>
                      <a:endParaRPr/>
                    </a:p>
                  </a:txBody>
                  <a:tcPr marL="90000" marR="90000" marT="18000" marB="18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268287" marR="0" lvl="0" indent="-26828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>
                          <a:solidFill>
                            <a:schemeClr val="dk1"/>
                          </a:solidFill>
                        </a:rPr>
                        <a:t>메인 화면 UI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18000" marB="18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2400">
                <a:tc gridSpan="2">
                  <a:txBody>
                    <a:bodyPr/>
                    <a:lstStyle/>
                    <a:p>
                      <a:pPr marL="268287" marR="0" lvl="0" indent="-268287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18000" marB="18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1" name="Google Shape;171;p9"/>
          <p:cNvSpPr txBox="1">
            <a:spLocks noGrp="1"/>
          </p:cNvSpPr>
          <p:nvPr>
            <p:ph type="title"/>
          </p:nvPr>
        </p:nvSpPr>
        <p:spPr>
          <a:xfrm>
            <a:off x="133350" y="153313"/>
            <a:ext cx="7886700" cy="56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/>
              <a:t>핵심 결과물</a:t>
            </a:r>
            <a:endParaRPr/>
          </a:p>
        </p:txBody>
      </p:sp>
      <p:graphicFrame>
        <p:nvGraphicFramePr>
          <p:cNvPr id="172" name="Google Shape;172;p9"/>
          <p:cNvGraphicFramePr/>
          <p:nvPr/>
        </p:nvGraphicFramePr>
        <p:xfrm>
          <a:off x="6450420" y="949843"/>
          <a:ext cx="2385100" cy="3899445"/>
        </p:xfrm>
        <a:graphic>
          <a:graphicData uri="http://schemas.openxmlformats.org/drawingml/2006/table">
            <a:tbl>
              <a:tblPr>
                <a:noFill/>
                <a:tableStyleId>{ED5D184C-D6F1-4C4B-89F7-98C5CA9608AD}</a:tableStyleId>
              </a:tblPr>
              <a:tblGrid>
                <a:gridCol w="238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8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화면설명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도서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시스템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접속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시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보이는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메인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화면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등록된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도서의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표지·제목·카테고리를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카드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형태로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보여준다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상단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검색창과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버튼을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통해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도서를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검색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로그인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시 새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도서를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추가할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수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있으며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, 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‘총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X권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’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영역에서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전체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도서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수를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한눈에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확인할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수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있다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.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각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카드의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‘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자세히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보기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’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버튼을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클릭하면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해당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도서의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상세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화면으로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이동한다</a:t>
                      </a:r>
                      <a:endParaRPr sz="10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73" name="Google Shape;17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96" y="1262463"/>
            <a:ext cx="4701949" cy="327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eca1a05f3_10_47"/>
          <p:cNvSpPr txBox="1">
            <a:spLocks noGrp="1"/>
          </p:cNvSpPr>
          <p:nvPr>
            <p:ph type="title"/>
          </p:nvPr>
        </p:nvSpPr>
        <p:spPr>
          <a:xfrm>
            <a:off x="133350" y="153313"/>
            <a:ext cx="78867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/>
              <a:t>프로젝트 결과</a:t>
            </a:r>
            <a:endParaRPr/>
          </a:p>
        </p:txBody>
      </p:sp>
      <p:graphicFrame>
        <p:nvGraphicFramePr>
          <p:cNvPr id="179" name="Google Shape;179;g3aeca1a05f3_10_47"/>
          <p:cNvGraphicFramePr/>
          <p:nvPr/>
        </p:nvGraphicFramePr>
        <p:xfrm>
          <a:off x="133351" y="949842"/>
          <a:ext cx="6154025" cy="3900800"/>
        </p:xfrm>
        <a:graphic>
          <a:graphicData uri="http://schemas.openxmlformats.org/drawingml/2006/table">
            <a:tbl>
              <a:tblPr>
                <a:noFill/>
                <a:tableStyleId>{ED5D184C-D6F1-4C4B-89F7-98C5CA9608AD}</a:tableStyleId>
              </a:tblPr>
              <a:tblGrid>
                <a:gridCol w="8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225">
                <a:tc>
                  <a:txBody>
                    <a:bodyPr/>
                    <a:lstStyle/>
                    <a:p>
                      <a:pPr marL="268287" marR="0" lvl="0" indent="-268287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Indicator</a:t>
                      </a:r>
                      <a:endParaRPr/>
                    </a:p>
                  </a:txBody>
                  <a:tcPr marL="90000" marR="90000" marT="18000" marB="18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268287" marR="0" lvl="0" indent="-26828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>
                          <a:solidFill>
                            <a:schemeClr val="dk1"/>
                          </a:solidFill>
                        </a:rPr>
                        <a:t>도서 검색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18000" marB="18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2400">
                <a:tc gridSpan="2">
                  <a:txBody>
                    <a:bodyPr/>
                    <a:lstStyle/>
                    <a:p>
                      <a:pPr marL="268287" marR="0" lvl="0" indent="-268287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18000" marB="18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0" name="Google Shape;180;g3aeca1a05f3_10_47"/>
          <p:cNvGraphicFramePr/>
          <p:nvPr/>
        </p:nvGraphicFramePr>
        <p:xfrm>
          <a:off x="6450420" y="949843"/>
          <a:ext cx="2385100" cy="3844775"/>
        </p:xfrm>
        <a:graphic>
          <a:graphicData uri="http://schemas.openxmlformats.org/drawingml/2006/table">
            <a:tbl>
              <a:tblPr>
                <a:noFill/>
                <a:tableStyleId>{ED5D184C-D6F1-4C4B-89F7-98C5CA9608AD}</a:tableStyleId>
              </a:tblPr>
              <a:tblGrid>
                <a:gridCol w="238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화면설명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250">
                <a:tc>
                  <a:txBody>
                    <a:bodyPr/>
                    <a:lstStyle/>
                    <a:p>
                      <a:pPr marL="0" marR="38100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상단의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검색창에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입력한키워드를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검색하여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나타내는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화면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marR="38100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000" dirty="0">
                          <a:solidFill>
                            <a:schemeClr val="dk1"/>
                          </a:solidFill>
                        </a:rPr>
                      </a:b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검색된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각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도서는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표지·제목·카테고리와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함께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카드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형태로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표시되며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페이지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버튼을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통해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여러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페이지의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결과를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이동하며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확인할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수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있다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.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marR="38100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br>
                        <a:rPr lang="en-US" sz="1000" dirty="0">
                          <a:solidFill>
                            <a:schemeClr val="dk1"/>
                          </a:solidFill>
                        </a:rPr>
                      </a:b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카드의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‘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자세히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보기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’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버튼을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클릭하면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해당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도서의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상세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정보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화면으로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이동한다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.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81" name="Google Shape;181;g3aeca1a05f3_1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23" y="1204408"/>
            <a:ext cx="6046898" cy="3590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eca1a05f3_10_28"/>
          <p:cNvSpPr txBox="1">
            <a:spLocks noGrp="1"/>
          </p:cNvSpPr>
          <p:nvPr>
            <p:ph type="title"/>
          </p:nvPr>
        </p:nvSpPr>
        <p:spPr>
          <a:xfrm>
            <a:off x="133350" y="153313"/>
            <a:ext cx="78867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/>
              <a:t>핵심 결과물</a:t>
            </a:r>
            <a:endParaRPr sz="3000"/>
          </a:p>
        </p:txBody>
      </p:sp>
      <p:graphicFrame>
        <p:nvGraphicFramePr>
          <p:cNvPr id="187" name="Google Shape;187;g3aeca1a05f3_10_28"/>
          <p:cNvGraphicFramePr/>
          <p:nvPr/>
        </p:nvGraphicFramePr>
        <p:xfrm>
          <a:off x="133351" y="949842"/>
          <a:ext cx="6154025" cy="3900800"/>
        </p:xfrm>
        <a:graphic>
          <a:graphicData uri="http://schemas.openxmlformats.org/drawingml/2006/table">
            <a:tbl>
              <a:tblPr>
                <a:noFill/>
                <a:tableStyleId>{ED5D184C-D6F1-4C4B-89F7-98C5CA9608AD}</a:tableStyleId>
              </a:tblPr>
              <a:tblGrid>
                <a:gridCol w="8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225">
                <a:tc>
                  <a:txBody>
                    <a:bodyPr/>
                    <a:lstStyle/>
                    <a:p>
                      <a:pPr marL="268287" marR="0" lvl="0" indent="-268287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Indicator</a:t>
                      </a:r>
                      <a:endParaRPr/>
                    </a:p>
                  </a:txBody>
                  <a:tcPr marL="90000" marR="90000" marT="18000" marB="18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268287" marR="0" lvl="0" indent="-26828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>
                          <a:solidFill>
                            <a:schemeClr val="dk1"/>
                          </a:solidFill>
                        </a:rPr>
                        <a:t>책 정보 UI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18000" marB="18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2400">
                <a:tc gridSpan="2">
                  <a:txBody>
                    <a:bodyPr/>
                    <a:lstStyle/>
                    <a:p>
                      <a:pPr marL="268287" marR="0" lvl="0" indent="-268287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18000" marB="18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8" name="Google Shape;188;g3aeca1a05f3_10_28"/>
          <p:cNvGraphicFramePr/>
          <p:nvPr/>
        </p:nvGraphicFramePr>
        <p:xfrm>
          <a:off x="6450420" y="949843"/>
          <a:ext cx="2385100" cy="3899445"/>
        </p:xfrm>
        <a:graphic>
          <a:graphicData uri="http://schemas.openxmlformats.org/drawingml/2006/table">
            <a:tbl>
              <a:tblPr>
                <a:noFill/>
                <a:tableStyleId>{ED5D184C-D6F1-4C4B-89F7-98C5CA9608AD}</a:tableStyleId>
              </a:tblPr>
              <a:tblGrid>
                <a:gridCol w="238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8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화면설명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선택한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도서의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상세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정보를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확인하는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화면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도서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표지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이미지와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함께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제목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작성자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등록일·수정일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, 책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설명과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상세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내용을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한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카드에서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제공하여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도서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정보를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한눈에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파악할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수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있다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.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도서를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등록한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사용자는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하단의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‘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수정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’, ‘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삭제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’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버튼을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통해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해당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도서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정보를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편집하거나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삭제할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수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있다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.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89" name="Google Shape;189;g3aeca1a05f3_1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513" y="1163201"/>
            <a:ext cx="5771700" cy="3578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eca1a05f3_10_39"/>
          <p:cNvSpPr txBox="1">
            <a:spLocks noGrp="1"/>
          </p:cNvSpPr>
          <p:nvPr>
            <p:ph type="title"/>
          </p:nvPr>
        </p:nvSpPr>
        <p:spPr>
          <a:xfrm>
            <a:off x="133350" y="153313"/>
            <a:ext cx="78867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/>
              <a:t>핵심 결과물</a:t>
            </a:r>
            <a:endParaRPr sz="3000"/>
          </a:p>
        </p:txBody>
      </p:sp>
      <p:graphicFrame>
        <p:nvGraphicFramePr>
          <p:cNvPr id="195" name="Google Shape;195;g3aeca1a05f3_10_39"/>
          <p:cNvGraphicFramePr/>
          <p:nvPr/>
        </p:nvGraphicFramePr>
        <p:xfrm>
          <a:off x="133351" y="949842"/>
          <a:ext cx="6154025" cy="3900800"/>
        </p:xfrm>
        <a:graphic>
          <a:graphicData uri="http://schemas.openxmlformats.org/drawingml/2006/table">
            <a:tbl>
              <a:tblPr>
                <a:noFill/>
                <a:tableStyleId>{ED5D184C-D6F1-4C4B-89F7-98C5CA9608AD}</a:tableStyleId>
              </a:tblPr>
              <a:tblGrid>
                <a:gridCol w="8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225">
                <a:tc>
                  <a:txBody>
                    <a:bodyPr/>
                    <a:lstStyle/>
                    <a:p>
                      <a:pPr marL="268287" marR="0" lvl="0" indent="-268287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Indicator</a:t>
                      </a:r>
                      <a:endParaRPr/>
                    </a:p>
                  </a:txBody>
                  <a:tcPr marL="90000" marR="90000" marT="18000" marB="18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268287" marR="0" lvl="0" indent="-26828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>
                          <a:solidFill>
                            <a:schemeClr val="dk1"/>
                          </a:solidFill>
                        </a:rPr>
                        <a:t>도서 삭제 UI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18000" marB="18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2400">
                <a:tc gridSpan="2">
                  <a:txBody>
                    <a:bodyPr/>
                    <a:lstStyle/>
                    <a:p>
                      <a:pPr marL="268287" marR="0" lvl="0" indent="-268287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18000" marB="18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96" name="Google Shape;196;g3aeca1a05f3_1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277" y="1381850"/>
            <a:ext cx="2439651" cy="93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aeca1a05f3_10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274" y="2430774"/>
            <a:ext cx="3952269" cy="2318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8" name="Google Shape;198;g3aeca1a05f3_10_39"/>
          <p:cNvGraphicFramePr/>
          <p:nvPr/>
        </p:nvGraphicFramePr>
        <p:xfrm>
          <a:off x="6450420" y="949843"/>
          <a:ext cx="2385100" cy="3899445"/>
        </p:xfrm>
        <a:graphic>
          <a:graphicData uri="http://schemas.openxmlformats.org/drawingml/2006/table">
            <a:tbl>
              <a:tblPr>
                <a:noFill/>
                <a:tableStyleId>{ED5D184C-D6F1-4C4B-89F7-98C5CA9608AD}</a:tableStyleId>
              </a:tblPr>
              <a:tblGrid>
                <a:gridCol w="238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8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화면설명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도서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삭제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시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사용자에게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한 번 더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의사를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확인하는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경고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팝업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화면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선택한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도서에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대해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“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정말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이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도서를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삭제하시겠습니까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?”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메시지를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표시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취소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/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확인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버튼을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통해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사용자가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삭제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여부를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최종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결정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확인을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누르면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해당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도서가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목록에서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제거되고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전체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도서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수와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화면의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도서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목록이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즉시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갱신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>
            <a:spLocks noGrp="1"/>
          </p:cNvSpPr>
          <p:nvPr>
            <p:ph type="title"/>
          </p:nvPr>
        </p:nvSpPr>
        <p:spPr>
          <a:xfrm>
            <a:off x="133350" y="153313"/>
            <a:ext cx="7886700" cy="56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/>
              <a:t>핵심 결과물</a:t>
            </a:r>
            <a:endParaRPr sz="3000"/>
          </a:p>
        </p:txBody>
      </p:sp>
      <p:graphicFrame>
        <p:nvGraphicFramePr>
          <p:cNvPr id="204" name="Google Shape;204;p10"/>
          <p:cNvGraphicFramePr/>
          <p:nvPr/>
        </p:nvGraphicFramePr>
        <p:xfrm>
          <a:off x="133351" y="949842"/>
          <a:ext cx="8805425" cy="3900800"/>
        </p:xfrm>
        <a:graphic>
          <a:graphicData uri="http://schemas.openxmlformats.org/drawingml/2006/table">
            <a:tbl>
              <a:tblPr>
                <a:noFill/>
                <a:tableStyleId>{ED5D184C-D6F1-4C4B-89F7-98C5CA9608AD}</a:tableStyleId>
              </a:tblPr>
              <a:tblGrid>
                <a:gridCol w="124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225">
                <a:tc>
                  <a:txBody>
                    <a:bodyPr/>
                    <a:lstStyle/>
                    <a:p>
                      <a:pPr marL="268288" marR="0" lvl="0" indent="-268288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Indicator</a:t>
                      </a:r>
                      <a:endParaRPr/>
                    </a:p>
                  </a:txBody>
                  <a:tcPr marL="90000" marR="90000" marT="18000" marB="18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268288" marR="0" lvl="0" indent="-2682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>
                          <a:solidFill>
                            <a:schemeClr val="dk1"/>
                          </a:solidFill>
                        </a:rPr>
                        <a:t>로그인 관련 UI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18000" marB="18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2400">
                <a:tc gridSpan="2">
                  <a:txBody>
                    <a:bodyPr/>
                    <a:lstStyle/>
                    <a:p>
                      <a:pPr marL="268288" marR="0" lvl="0" indent="-268288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18000" marB="18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5" name="Google Shape;20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800" y="1340550"/>
            <a:ext cx="2501998" cy="312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4000" y="1335400"/>
            <a:ext cx="2538336" cy="1740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4000" y="3076175"/>
            <a:ext cx="2607125" cy="147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0" title="스크린샷 2025-12-09 14413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79650" y="1305450"/>
            <a:ext cx="2658425" cy="331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eca1a05f3_10_20"/>
          <p:cNvSpPr txBox="1">
            <a:spLocks noGrp="1"/>
          </p:cNvSpPr>
          <p:nvPr>
            <p:ph type="title"/>
          </p:nvPr>
        </p:nvSpPr>
        <p:spPr>
          <a:xfrm>
            <a:off x="133350" y="153313"/>
            <a:ext cx="78867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/>
              <a:t>핵심 결과물</a:t>
            </a:r>
            <a:endParaRPr sz="3000"/>
          </a:p>
        </p:txBody>
      </p:sp>
      <p:graphicFrame>
        <p:nvGraphicFramePr>
          <p:cNvPr id="214" name="Google Shape;214;g3aeca1a05f3_10_20"/>
          <p:cNvGraphicFramePr/>
          <p:nvPr/>
        </p:nvGraphicFramePr>
        <p:xfrm>
          <a:off x="133351" y="949842"/>
          <a:ext cx="6154025" cy="3712400"/>
        </p:xfrm>
        <a:graphic>
          <a:graphicData uri="http://schemas.openxmlformats.org/drawingml/2006/table">
            <a:tbl>
              <a:tblPr>
                <a:noFill/>
                <a:tableStyleId>{ED5D184C-D6F1-4C4B-89F7-98C5CA9608AD}</a:tableStyleId>
              </a:tblPr>
              <a:tblGrid>
                <a:gridCol w="8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2400">
                <a:tc gridSpan="2">
                  <a:txBody>
                    <a:bodyPr/>
                    <a:lstStyle/>
                    <a:p>
                      <a:pPr marL="268287" marR="0" lvl="0" indent="-268287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18000" marB="18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5" name="Google Shape;215;g3aeca1a05f3_10_20"/>
          <p:cNvGraphicFramePr/>
          <p:nvPr/>
        </p:nvGraphicFramePr>
        <p:xfrm>
          <a:off x="6450420" y="949843"/>
          <a:ext cx="2385100" cy="3899445"/>
        </p:xfrm>
        <a:graphic>
          <a:graphicData uri="http://schemas.openxmlformats.org/drawingml/2006/table">
            <a:tbl>
              <a:tblPr>
                <a:noFill/>
                <a:tableStyleId>{ED5D184C-D6F1-4C4B-89F7-98C5CA9608AD}</a:tableStyleId>
              </a:tblPr>
              <a:tblGrid>
                <a:gridCol w="238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8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화면설명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새로운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도서의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내용을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입력하고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카테고리를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선택하여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도서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표지를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생성·등록하는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화면이다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.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사용자가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정보를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입력한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뒤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이미지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생성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버튼을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누르면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표지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이미지를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만들고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게시물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등록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버튼을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통해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생성된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표지와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함께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도서가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시스템에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저장된다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.</a:t>
                      </a:r>
                      <a:endParaRPr sz="10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6" name="Google Shape;216;g3aeca1a05f3_10_20"/>
          <p:cNvGraphicFramePr/>
          <p:nvPr/>
        </p:nvGraphicFramePr>
        <p:xfrm>
          <a:off x="133351" y="949842"/>
          <a:ext cx="6154025" cy="188400"/>
        </p:xfrm>
        <a:graphic>
          <a:graphicData uri="http://schemas.openxmlformats.org/drawingml/2006/table">
            <a:tbl>
              <a:tblPr>
                <a:noFill/>
                <a:tableStyleId>{ED5D184C-D6F1-4C4B-89F7-98C5CA9608AD}</a:tableStyleId>
              </a:tblPr>
              <a:tblGrid>
                <a:gridCol w="8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225">
                <a:tc>
                  <a:txBody>
                    <a:bodyPr/>
                    <a:lstStyle/>
                    <a:p>
                      <a:pPr marL="268287" marR="0" lvl="0" indent="-268287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Indicator</a:t>
                      </a:r>
                      <a:endParaRPr/>
                    </a:p>
                  </a:txBody>
                  <a:tcPr marL="90000" marR="90000" marT="18000" marB="18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268287" marR="0" lvl="0" indent="-26828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>
                          <a:solidFill>
                            <a:schemeClr val="dk1"/>
                          </a:solidFill>
                        </a:rPr>
                        <a:t>도서 추가, 수정 페이지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18000" marB="18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17" name="Google Shape;217;g3aeca1a05f3_1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734" y="1163200"/>
            <a:ext cx="5337249" cy="348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eca1a05f3_10_12"/>
          <p:cNvSpPr txBox="1">
            <a:spLocks noGrp="1"/>
          </p:cNvSpPr>
          <p:nvPr>
            <p:ph type="title"/>
          </p:nvPr>
        </p:nvSpPr>
        <p:spPr>
          <a:xfrm>
            <a:off x="133350" y="153313"/>
            <a:ext cx="78867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/>
              <a:t>핵심 결과물</a:t>
            </a:r>
            <a:endParaRPr sz="3000"/>
          </a:p>
        </p:txBody>
      </p:sp>
      <p:graphicFrame>
        <p:nvGraphicFramePr>
          <p:cNvPr id="223" name="Google Shape;223;g3aeca1a05f3_10_12"/>
          <p:cNvGraphicFramePr/>
          <p:nvPr/>
        </p:nvGraphicFramePr>
        <p:xfrm>
          <a:off x="133351" y="949842"/>
          <a:ext cx="6154025" cy="3900800"/>
        </p:xfrm>
        <a:graphic>
          <a:graphicData uri="http://schemas.openxmlformats.org/drawingml/2006/table">
            <a:tbl>
              <a:tblPr>
                <a:noFill/>
                <a:tableStyleId>{ED5D184C-D6F1-4C4B-89F7-98C5CA9608AD}</a:tableStyleId>
              </a:tblPr>
              <a:tblGrid>
                <a:gridCol w="8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225">
                <a:tc>
                  <a:txBody>
                    <a:bodyPr/>
                    <a:lstStyle/>
                    <a:p>
                      <a:pPr marL="268287" marR="0" lvl="0" indent="-268287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Indicator</a:t>
                      </a:r>
                      <a:endParaRPr/>
                    </a:p>
                  </a:txBody>
                  <a:tcPr marL="90000" marR="90000" marT="18000" marB="18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>
                          <a:solidFill>
                            <a:schemeClr val="dk1"/>
                          </a:solidFill>
                        </a:rPr>
                        <a:t>이미지 생성 UI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18000" marB="18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2400">
                <a:tc gridSpan="2">
                  <a:txBody>
                    <a:bodyPr/>
                    <a:lstStyle/>
                    <a:p>
                      <a:pPr marL="268287" marR="0" lvl="0" indent="-268287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18000" marB="18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4" name="Google Shape;224;g3aeca1a05f3_10_12"/>
          <p:cNvGraphicFramePr/>
          <p:nvPr/>
        </p:nvGraphicFramePr>
        <p:xfrm>
          <a:off x="6450420" y="949843"/>
          <a:ext cx="2385100" cy="3899445"/>
        </p:xfrm>
        <a:graphic>
          <a:graphicData uri="http://schemas.openxmlformats.org/drawingml/2006/table">
            <a:tbl>
              <a:tblPr>
                <a:noFill/>
                <a:tableStyleId>{ED5D184C-D6F1-4C4B-89F7-98C5CA9608AD}</a:tableStyleId>
              </a:tblPr>
              <a:tblGrid>
                <a:gridCol w="238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8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화면설명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앞의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구성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내용을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바탕으로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AI가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생성한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도서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표지를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미리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크게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확인하는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화면이다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.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생성중에는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로딩창으로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사용자에게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작동을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알리고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작동중에는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다른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버튼이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비활성화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된다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..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확정된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표지는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앞의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설명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입력창으로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전달되어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표지가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나타나게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</a:rPr>
                        <a:t>된다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</a:rPr>
                        <a:t>.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25" name="Google Shape;225;g3aeca1a05f3_1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488" y="1185225"/>
            <a:ext cx="5639750" cy="36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eca1a05f3_4_17"/>
          <p:cNvSpPr txBox="1">
            <a:spLocks noGrp="1"/>
          </p:cNvSpPr>
          <p:nvPr>
            <p:ph type="title"/>
          </p:nvPr>
        </p:nvSpPr>
        <p:spPr>
          <a:xfrm>
            <a:off x="478031" y="1058092"/>
            <a:ext cx="7886700" cy="8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/>
              <a:t>ERD설계</a:t>
            </a:r>
            <a:endParaRPr/>
          </a:p>
        </p:txBody>
      </p:sp>
      <p:sp>
        <p:nvSpPr>
          <p:cNvPr id="231" name="Google Shape;231;g3aeca1a05f3_4_17"/>
          <p:cNvSpPr txBox="1">
            <a:spLocks noGrp="1"/>
          </p:cNvSpPr>
          <p:nvPr>
            <p:ph type="body" idx="1"/>
          </p:nvPr>
        </p:nvSpPr>
        <p:spPr>
          <a:xfrm>
            <a:off x="478031" y="705674"/>
            <a:ext cx="49767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5D69"/>
              </a:buClr>
              <a:buSzPts val="2700"/>
              <a:buNone/>
            </a:pPr>
            <a:r>
              <a:rPr lang="en-US"/>
              <a:t>03.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"/>
          <p:cNvSpPr txBox="1">
            <a:spLocks noGrp="1"/>
          </p:cNvSpPr>
          <p:nvPr>
            <p:ph type="title"/>
          </p:nvPr>
        </p:nvSpPr>
        <p:spPr>
          <a:xfrm>
            <a:off x="133350" y="153313"/>
            <a:ext cx="7886700" cy="56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/>
              <a:t>ERD설계</a:t>
            </a:r>
            <a:endParaRPr sz="2400"/>
          </a:p>
        </p:txBody>
      </p:sp>
      <p:pic>
        <p:nvPicPr>
          <p:cNvPr id="237" name="Google Shape;23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25" y="845850"/>
            <a:ext cx="8948851" cy="401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"/>
          <p:cNvSpPr txBox="1">
            <a:spLocks noGrp="1"/>
          </p:cNvSpPr>
          <p:nvPr>
            <p:ph type="title"/>
          </p:nvPr>
        </p:nvSpPr>
        <p:spPr>
          <a:xfrm>
            <a:off x="478031" y="1058092"/>
            <a:ext cx="7886700" cy="889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/>
              <a:t>시스템 아키텍처</a:t>
            </a:r>
            <a:endParaRPr/>
          </a:p>
        </p:txBody>
      </p:sp>
      <p:sp>
        <p:nvSpPr>
          <p:cNvPr id="243" name="Google Shape;243;p3"/>
          <p:cNvSpPr txBox="1">
            <a:spLocks noGrp="1"/>
          </p:cNvSpPr>
          <p:nvPr>
            <p:ph type="body" idx="1"/>
          </p:nvPr>
        </p:nvSpPr>
        <p:spPr>
          <a:xfrm>
            <a:off x="478031" y="705674"/>
            <a:ext cx="4976710" cy="35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5D69"/>
              </a:buClr>
              <a:buSzPts val="2700"/>
              <a:buNone/>
            </a:pPr>
            <a:r>
              <a:rPr lang="en-US"/>
              <a:t>04.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"/>
          <p:cNvSpPr txBox="1">
            <a:spLocks noGrp="1"/>
          </p:cNvSpPr>
          <p:nvPr>
            <p:ph type="title"/>
          </p:nvPr>
        </p:nvSpPr>
        <p:spPr>
          <a:xfrm>
            <a:off x="133350" y="153313"/>
            <a:ext cx="78867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 sz="2950"/>
              <a:t>시스템 아키텍처</a:t>
            </a:r>
            <a:endParaRPr sz="3700"/>
          </a:p>
        </p:txBody>
      </p:sp>
      <p:sp>
        <p:nvSpPr>
          <p:cNvPr id="249" name="Google Shape;249;p5"/>
          <p:cNvSpPr txBox="1"/>
          <p:nvPr/>
        </p:nvSpPr>
        <p:spPr>
          <a:xfrm>
            <a:off x="4123675" y="1211975"/>
            <a:ext cx="4825800" cy="14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3-Tier 구조 기반으로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프론트는 화면, 백엔드는 비즈니스 로직, 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DB는 데이터를 처리, 저장하는 웹 시스템 구조</a:t>
            </a:r>
            <a:endParaRPr sz="16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외부 API(GPT)까지 연동한 형태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50" name="Google Shape;250;p5"/>
          <p:cNvSpPr txBox="1"/>
          <p:nvPr/>
        </p:nvSpPr>
        <p:spPr>
          <a:xfrm>
            <a:off x="4323325" y="3703025"/>
            <a:ext cx="44265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각 계층이 독립적으로 동작하도록 설계되어</a:t>
            </a:r>
            <a:br>
              <a:rPr lang="en-US" sz="1600" b="1">
                <a:solidFill>
                  <a:schemeClr val="dk1"/>
                </a:solidFill>
              </a:rPr>
            </a:br>
            <a:r>
              <a:rPr lang="en-US" sz="1600" b="1">
                <a:solidFill>
                  <a:schemeClr val="dk1"/>
                </a:solidFill>
              </a:rPr>
              <a:t>유지보수성과 확장성이 높은 구조를 갖추고 있다.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5882500" y="2712150"/>
            <a:ext cx="938700" cy="835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2" name="Google Shape;252;p5" title="Web App Reference Architecture (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75" y="1308700"/>
            <a:ext cx="3925699" cy="318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eca1a05f3_3_107"/>
          <p:cNvSpPr txBox="1">
            <a:spLocks noGrp="1"/>
          </p:cNvSpPr>
          <p:nvPr>
            <p:ph type="title"/>
          </p:nvPr>
        </p:nvSpPr>
        <p:spPr>
          <a:xfrm>
            <a:off x="133350" y="153313"/>
            <a:ext cx="78867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 sz="2950"/>
              <a:t>시스템 아키텍처</a:t>
            </a:r>
            <a:endParaRPr sz="3700"/>
          </a:p>
        </p:txBody>
      </p:sp>
      <p:sp>
        <p:nvSpPr>
          <p:cNvPr id="258" name="Google Shape;258;g3aeca1a05f3_3_107"/>
          <p:cNvSpPr txBox="1"/>
          <p:nvPr/>
        </p:nvSpPr>
        <p:spPr>
          <a:xfrm>
            <a:off x="410550" y="1063450"/>
            <a:ext cx="2718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1. Front-end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259" name="Google Shape;259;g3aeca1a05f3_3_107"/>
          <p:cNvSpPr txBox="1"/>
          <p:nvPr/>
        </p:nvSpPr>
        <p:spPr>
          <a:xfrm>
            <a:off x="462375" y="1813650"/>
            <a:ext cx="3836400" cy="22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사용된 기술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React</a:t>
            </a:r>
            <a:r>
              <a:rPr lang="en-US" sz="1100">
                <a:solidFill>
                  <a:schemeClr val="dk1"/>
                </a:solidFill>
              </a:rPr>
              <a:t> : SPA 기반 UI 엔진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Next.js</a:t>
            </a:r>
            <a:r>
              <a:rPr lang="en-US" sz="1100">
                <a:solidFill>
                  <a:schemeClr val="dk1"/>
                </a:solidFill>
              </a:rPr>
              <a:t> : 라우팅 / 서버 사이드 기능 / 페이지 관리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JavaScript</a:t>
            </a:r>
            <a:r>
              <a:rPr lang="en-US" sz="1100">
                <a:solidFill>
                  <a:schemeClr val="dk1"/>
                </a:solidFill>
              </a:rPr>
              <a:t> : 전체 로직 구현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Bootstrap, MUI</a:t>
            </a:r>
            <a:r>
              <a:rPr lang="en-US" sz="1100">
                <a:solidFill>
                  <a:schemeClr val="dk1"/>
                </a:solidFill>
              </a:rPr>
              <a:t> : UI 컴포넌트 / 스타일링 라이브러리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260" name="Google Shape;260;g3aeca1a05f3_3_107"/>
          <p:cNvSpPr txBox="1"/>
          <p:nvPr/>
        </p:nvSpPr>
        <p:spPr>
          <a:xfrm>
            <a:off x="4691825" y="1813650"/>
            <a:ext cx="3836400" cy="20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역할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사용자의 브라우저에서 동작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UI 화면 렌더링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로그인/회원가입 입력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백엔드 API 호출(fetch/axios)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JWT accessToken 저장 및 사용(SessionStorage)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eca1a05f3_3_117"/>
          <p:cNvSpPr txBox="1">
            <a:spLocks noGrp="1"/>
          </p:cNvSpPr>
          <p:nvPr>
            <p:ph type="title"/>
          </p:nvPr>
        </p:nvSpPr>
        <p:spPr>
          <a:xfrm>
            <a:off x="133350" y="153313"/>
            <a:ext cx="78867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 sz="2950"/>
              <a:t>시스템 아키텍처</a:t>
            </a:r>
            <a:endParaRPr sz="3700"/>
          </a:p>
        </p:txBody>
      </p:sp>
      <p:sp>
        <p:nvSpPr>
          <p:cNvPr id="266" name="Google Shape;266;g3aeca1a05f3_3_117"/>
          <p:cNvSpPr txBox="1"/>
          <p:nvPr/>
        </p:nvSpPr>
        <p:spPr>
          <a:xfrm>
            <a:off x="410550" y="1063450"/>
            <a:ext cx="2718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2. Back-end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267" name="Google Shape;267;g3aeca1a05f3_3_117"/>
          <p:cNvSpPr txBox="1"/>
          <p:nvPr/>
        </p:nvSpPr>
        <p:spPr>
          <a:xfrm>
            <a:off x="462375" y="1813650"/>
            <a:ext cx="3836400" cy="31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사용된 기술</a:t>
            </a:r>
            <a:endParaRPr sz="11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solidFill>
                  <a:schemeClr val="dk1"/>
                </a:solidFill>
              </a:rPr>
              <a:t>Java</a:t>
            </a:r>
            <a:br>
              <a:rPr lang="en-US" sz="1600" b="1">
                <a:solidFill>
                  <a:schemeClr val="dk1"/>
                </a:solidFill>
              </a:rPr>
            </a:b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solidFill>
                  <a:schemeClr val="dk1"/>
                </a:solidFill>
              </a:rPr>
              <a:t>Spring Boot</a:t>
            </a:r>
            <a:br>
              <a:rPr lang="en-US" sz="1600" b="1">
                <a:solidFill>
                  <a:schemeClr val="dk1"/>
                </a:solidFill>
              </a:rPr>
            </a:b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solidFill>
                  <a:schemeClr val="dk1"/>
                </a:solidFill>
              </a:rPr>
              <a:t>Gradle 빌드 시스템</a:t>
            </a:r>
            <a:endParaRPr sz="16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268" name="Google Shape;268;g3aeca1a05f3_3_117"/>
          <p:cNvSpPr txBox="1"/>
          <p:nvPr/>
        </p:nvSpPr>
        <p:spPr>
          <a:xfrm>
            <a:off x="3823575" y="1752300"/>
            <a:ext cx="3836400" cy="29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역할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인증/인가(JWT) 처리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회원 가입 / 로그인 / 회원정보 수정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책 목록 조회 / CRUD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비즈니스 로직 처리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DB와 직접 통신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eca1a05f3_3_127"/>
          <p:cNvSpPr txBox="1">
            <a:spLocks noGrp="1"/>
          </p:cNvSpPr>
          <p:nvPr>
            <p:ph type="title"/>
          </p:nvPr>
        </p:nvSpPr>
        <p:spPr>
          <a:xfrm>
            <a:off x="133350" y="153313"/>
            <a:ext cx="78867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 sz="2950"/>
              <a:t>시스템 아키텍처</a:t>
            </a:r>
            <a:endParaRPr sz="3700"/>
          </a:p>
        </p:txBody>
      </p:sp>
      <p:sp>
        <p:nvSpPr>
          <p:cNvPr id="274" name="Google Shape;274;g3aeca1a05f3_3_127"/>
          <p:cNvSpPr txBox="1"/>
          <p:nvPr/>
        </p:nvSpPr>
        <p:spPr>
          <a:xfrm>
            <a:off x="410550" y="1063450"/>
            <a:ext cx="2718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3. Database 분석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275" name="Google Shape;275;g3aeca1a05f3_3_127"/>
          <p:cNvSpPr txBox="1"/>
          <p:nvPr/>
        </p:nvSpPr>
        <p:spPr>
          <a:xfrm>
            <a:off x="462375" y="1813650"/>
            <a:ext cx="3836400" cy="14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사용된 기술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H2 Database(임베디드 DB)</a:t>
            </a:r>
            <a:endParaRPr sz="11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276" name="Google Shape;276;g3aeca1a05f3_3_127"/>
          <p:cNvSpPr txBox="1"/>
          <p:nvPr/>
        </p:nvSpPr>
        <p:spPr>
          <a:xfrm>
            <a:off x="3969625" y="1719300"/>
            <a:ext cx="3836400" cy="19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역할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USERS, BOOKS, REFRESH_TOKEN, CATEGORIES 테이블 저장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Spring JPA가 Entity를 자동으로 매핑하여 CRUD 수행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"/>
          <p:cNvSpPr txBox="1">
            <a:spLocks noGrp="1"/>
          </p:cNvSpPr>
          <p:nvPr>
            <p:ph type="title"/>
          </p:nvPr>
        </p:nvSpPr>
        <p:spPr>
          <a:xfrm>
            <a:off x="478031" y="1058092"/>
            <a:ext cx="7886700" cy="889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/>
              <a:t>API 정의서</a:t>
            </a:r>
            <a:endParaRPr/>
          </a:p>
        </p:txBody>
      </p:sp>
      <p:sp>
        <p:nvSpPr>
          <p:cNvPr id="282" name="Google Shape;282;p6"/>
          <p:cNvSpPr txBox="1">
            <a:spLocks noGrp="1"/>
          </p:cNvSpPr>
          <p:nvPr>
            <p:ph type="body" idx="1"/>
          </p:nvPr>
        </p:nvSpPr>
        <p:spPr>
          <a:xfrm>
            <a:off x="478031" y="705674"/>
            <a:ext cx="4976710" cy="35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5D69"/>
              </a:buClr>
              <a:buSzPts val="2700"/>
              <a:buNone/>
            </a:pPr>
            <a:r>
              <a:rPr lang="en-US"/>
              <a:t>05.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"/>
          <p:cNvSpPr txBox="1">
            <a:spLocks noGrp="1"/>
          </p:cNvSpPr>
          <p:nvPr>
            <p:ph type="title"/>
          </p:nvPr>
        </p:nvSpPr>
        <p:spPr>
          <a:xfrm>
            <a:off x="133350" y="153313"/>
            <a:ext cx="7886700" cy="56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/>
              <a:t>API 정의서 및 소스코드</a:t>
            </a:r>
            <a:endParaRPr/>
          </a:p>
        </p:txBody>
      </p:sp>
      <p:sp>
        <p:nvSpPr>
          <p:cNvPr id="288" name="Google Shape;288;p7"/>
          <p:cNvSpPr txBox="1">
            <a:spLocks noGrp="1"/>
          </p:cNvSpPr>
          <p:nvPr>
            <p:ph type="body" idx="1"/>
          </p:nvPr>
        </p:nvSpPr>
        <p:spPr>
          <a:xfrm>
            <a:off x="320278" y="966410"/>
            <a:ext cx="8480822" cy="37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 b="1" u="sng">
                <a:solidFill>
                  <a:schemeClr val="hlink"/>
                </a:solidFill>
                <a:hlinkClick r:id="rId3"/>
              </a:rPr>
              <a:t>API 명세서 확인</a:t>
            </a:r>
            <a:r>
              <a:rPr lang="en-US" sz="1400" b="1"/>
              <a:t>	</a:t>
            </a:r>
            <a:r>
              <a:rPr lang="en-US" sz="1400" b="1" u="sng">
                <a:solidFill>
                  <a:schemeClr val="hlink"/>
                </a:solidFill>
                <a:hlinkClick r:id="rId4"/>
              </a:rPr>
              <a:t>Github</a:t>
            </a:r>
            <a:endParaRPr sz="1400" b="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5714"/>
              <a:buNone/>
            </a:pPr>
            <a:endParaRPr sz="1400" b="1"/>
          </a:p>
        </p:txBody>
      </p:sp>
      <p:pic>
        <p:nvPicPr>
          <p:cNvPr id="289" name="Google Shape;289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8963" y="1213225"/>
            <a:ext cx="7415474" cy="349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eca1a05f3_3_156"/>
          <p:cNvSpPr txBox="1">
            <a:spLocks noGrp="1"/>
          </p:cNvSpPr>
          <p:nvPr>
            <p:ph type="title"/>
          </p:nvPr>
        </p:nvSpPr>
        <p:spPr>
          <a:xfrm>
            <a:off x="478031" y="1058092"/>
            <a:ext cx="7886700" cy="8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/>
              <a:t>부록</a:t>
            </a:r>
            <a:endParaRPr/>
          </a:p>
        </p:txBody>
      </p:sp>
      <p:sp>
        <p:nvSpPr>
          <p:cNvPr id="295" name="Google Shape;295;g3aeca1a05f3_3_156"/>
          <p:cNvSpPr txBox="1">
            <a:spLocks noGrp="1"/>
          </p:cNvSpPr>
          <p:nvPr>
            <p:ph type="body" idx="1"/>
          </p:nvPr>
        </p:nvSpPr>
        <p:spPr>
          <a:xfrm>
            <a:off x="478031" y="705674"/>
            <a:ext cx="49767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5D69"/>
              </a:buClr>
              <a:buSzPts val="2700"/>
              <a:buNone/>
            </a:pPr>
            <a:r>
              <a:rPr lang="en-US"/>
              <a:t>06.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eca1a05f3_3_1"/>
          <p:cNvSpPr txBox="1">
            <a:spLocks noGrp="1"/>
          </p:cNvSpPr>
          <p:nvPr>
            <p:ph type="title"/>
          </p:nvPr>
        </p:nvSpPr>
        <p:spPr>
          <a:xfrm>
            <a:off x="133350" y="153313"/>
            <a:ext cx="78867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/>
              <a:t>ERD 전체 구조</a:t>
            </a:r>
            <a:endParaRPr/>
          </a:p>
        </p:txBody>
      </p:sp>
      <p:sp>
        <p:nvSpPr>
          <p:cNvPr id="301" name="Google Shape;301;g3aeca1a05f3_3_1"/>
          <p:cNvSpPr txBox="1"/>
          <p:nvPr/>
        </p:nvSpPr>
        <p:spPr>
          <a:xfrm>
            <a:off x="410550" y="1063450"/>
            <a:ext cx="2718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1. 전체 구조 개요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302" name="Google Shape;302;g3aeca1a05f3_3_1"/>
          <p:cNvSpPr txBox="1"/>
          <p:nvPr/>
        </p:nvSpPr>
        <p:spPr>
          <a:xfrm>
            <a:off x="651750" y="1641125"/>
            <a:ext cx="7758300" cy="24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회원·도서·카테고리·인증을 하나의 흐름으로 연결하는 구조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 b="1">
                <a:solidFill>
                  <a:schemeClr val="dk1"/>
                </a:solidFill>
              </a:rPr>
              <a:t>USERS</a:t>
            </a:r>
            <a:r>
              <a:rPr lang="en-US" sz="1500">
                <a:solidFill>
                  <a:schemeClr val="dk1"/>
                </a:solidFill>
              </a:rPr>
              <a:t> : 서비스 회원 계정 및 API Key 관리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 b="1">
                <a:solidFill>
                  <a:schemeClr val="dk1"/>
                </a:solidFill>
              </a:rPr>
              <a:t>BOOKS</a:t>
            </a:r>
            <a:r>
              <a:rPr lang="en-US" sz="1500">
                <a:solidFill>
                  <a:schemeClr val="dk1"/>
                </a:solidFill>
              </a:rPr>
              <a:t> : 회원이 작성한 도서를 카테고리와 함께 저장(제목, 내용, 표지 이미지 포함)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 b="1">
                <a:solidFill>
                  <a:schemeClr val="dk1"/>
                </a:solidFill>
              </a:rPr>
              <a:t>CATEGORIES</a:t>
            </a:r>
            <a:r>
              <a:rPr lang="en-US" sz="1500">
                <a:solidFill>
                  <a:schemeClr val="dk1"/>
                </a:solidFill>
              </a:rPr>
              <a:t> : 도서 분류 정보(장르/카테고리)를 관리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 b="1">
                <a:solidFill>
                  <a:schemeClr val="dk1"/>
                </a:solidFill>
              </a:rPr>
              <a:t>REFRESH_TOKEN</a:t>
            </a:r>
            <a:r>
              <a:rPr lang="en-US" sz="1500">
                <a:solidFill>
                  <a:schemeClr val="dk1"/>
                </a:solidFill>
              </a:rPr>
              <a:t> : USERS와 연동된 리프레시 토큰을 저장해 로그인 유지 기능 제공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이를 통해 </a:t>
            </a:r>
            <a:r>
              <a:rPr lang="en-US" sz="1500" b="1">
                <a:solidFill>
                  <a:schemeClr val="dk1"/>
                </a:solidFill>
              </a:rPr>
              <a:t>“어떤 사용자가 어떤 도서를 작성했고, 그 도서가 어떤 카테고리에 속하며, 해당 사용자가 어떤 토큰으로 인증 상태를 유지하는지”를 통합적으로 파악할 수 있는 구조</a:t>
            </a:r>
            <a:r>
              <a:rPr lang="en-US" sz="1500">
                <a:solidFill>
                  <a:schemeClr val="dk1"/>
                </a:solidFill>
              </a:rPr>
              <a:t>를 제공한다.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eca1a05f3_3_8"/>
          <p:cNvSpPr/>
          <p:nvPr/>
        </p:nvSpPr>
        <p:spPr>
          <a:xfrm>
            <a:off x="3966025" y="1002150"/>
            <a:ext cx="4846200" cy="3702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aeca1a05f3_3_8"/>
          <p:cNvSpPr txBox="1">
            <a:spLocks noGrp="1"/>
          </p:cNvSpPr>
          <p:nvPr>
            <p:ph type="title"/>
          </p:nvPr>
        </p:nvSpPr>
        <p:spPr>
          <a:xfrm>
            <a:off x="133350" y="153313"/>
            <a:ext cx="78867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/>
              <a:t>ERD 상세 </a:t>
            </a:r>
            <a:endParaRPr sz="2400"/>
          </a:p>
        </p:txBody>
      </p:sp>
      <p:sp>
        <p:nvSpPr>
          <p:cNvPr id="309" name="Google Shape;309;g3aeca1a05f3_3_8"/>
          <p:cNvSpPr txBox="1"/>
          <p:nvPr/>
        </p:nvSpPr>
        <p:spPr>
          <a:xfrm>
            <a:off x="514375" y="1002150"/>
            <a:ext cx="2718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2. 테이블별 상세 분석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310" name="Google Shape;310;g3aeca1a05f3_3_8"/>
          <p:cNvSpPr txBox="1"/>
          <p:nvPr/>
        </p:nvSpPr>
        <p:spPr>
          <a:xfrm>
            <a:off x="1069375" y="1510050"/>
            <a:ext cx="7177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USERS</a:t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311" name="Google Shape;311;g3aeca1a05f3_3_8"/>
          <p:cNvGraphicFramePr/>
          <p:nvPr/>
        </p:nvGraphicFramePr>
        <p:xfrm>
          <a:off x="679450" y="2078875"/>
          <a:ext cx="2963750" cy="1584840"/>
        </p:xfrm>
        <a:graphic>
          <a:graphicData uri="http://schemas.openxmlformats.org/drawingml/2006/table">
            <a:tbl>
              <a:tblPr>
                <a:noFill/>
                <a:tableStyleId>{5E0CCB52-F4C9-4678-9619-A55325F94471}</a:tableStyleId>
              </a:tblPr>
              <a:tblGrid>
                <a:gridCol w="12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id(PK)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사용자 ID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pw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암호화된 비밀번호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name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사용자 이름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api_key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API Key (선택값)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2" name="Google Shape;312;g3aeca1a05f3_3_8"/>
          <p:cNvSpPr txBox="1"/>
          <p:nvPr/>
        </p:nvSpPr>
        <p:spPr>
          <a:xfrm>
            <a:off x="4329275" y="1655075"/>
            <a:ext cx="2718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특징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13" name="Google Shape;313;g3aeca1a05f3_3_8"/>
          <p:cNvSpPr txBox="1"/>
          <p:nvPr/>
        </p:nvSpPr>
        <p:spPr>
          <a:xfrm>
            <a:off x="4329275" y="2086175"/>
            <a:ext cx="47268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사용자 기본 정보를 담는 곳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PK가 숫자가 아닌 문자열 id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비밀번호는 반드시 암호화된 값으로 저장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14" name="Google Shape;314;g3aeca1a05f3_3_8"/>
          <p:cNvSpPr txBox="1"/>
          <p:nvPr/>
        </p:nvSpPr>
        <p:spPr>
          <a:xfrm>
            <a:off x="4329275" y="3373550"/>
            <a:ext cx="4417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BOOK.user_id와 1:N 관계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REFRESH_TOKEN.user_id와 1:1 또는 1:N관계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eca1a05f3_3_19"/>
          <p:cNvSpPr/>
          <p:nvPr/>
        </p:nvSpPr>
        <p:spPr>
          <a:xfrm>
            <a:off x="3966025" y="1002150"/>
            <a:ext cx="4846200" cy="3702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g3aeca1a05f3_3_19"/>
          <p:cNvSpPr txBox="1">
            <a:spLocks noGrp="1"/>
          </p:cNvSpPr>
          <p:nvPr>
            <p:ph type="title"/>
          </p:nvPr>
        </p:nvSpPr>
        <p:spPr>
          <a:xfrm>
            <a:off x="133350" y="153313"/>
            <a:ext cx="78867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/>
              <a:t>ERD 상세 </a:t>
            </a:r>
            <a:endParaRPr sz="2400"/>
          </a:p>
        </p:txBody>
      </p:sp>
      <p:sp>
        <p:nvSpPr>
          <p:cNvPr id="321" name="Google Shape;321;g3aeca1a05f3_3_19"/>
          <p:cNvSpPr txBox="1"/>
          <p:nvPr/>
        </p:nvSpPr>
        <p:spPr>
          <a:xfrm>
            <a:off x="679450" y="1510050"/>
            <a:ext cx="7177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REFRESH_TOKEN</a:t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322" name="Google Shape;322;g3aeca1a05f3_3_19"/>
          <p:cNvGraphicFramePr/>
          <p:nvPr/>
        </p:nvGraphicFramePr>
        <p:xfrm>
          <a:off x="679450" y="2078875"/>
          <a:ext cx="2963750" cy="1935360"/>
        </p:xfrm>
        <a:graphic>
          <a:graphicData uri="http://schemas.openxmlformats.org/drawingml/2006/table">
            <a:tbl>
              <a:tblPr>
                <a:noFill/>
                <a:tableStyleId>{5E0CCB52-F4C9-4678-9619-A55325F94471}</a:tableStyleId>
              </a:tblPr>
              <a:tblGrid>
                <a:gridCol w="12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id(PK)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user_id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(FK USERS.id) 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token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리프레시 토큰 문자열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expiry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유효 시간(ms)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3" name="Google Shape;323;g3aeca1a05f3_3_19"/>
          <p:cNvSpPr txBox="1"/>
          <p:nvPr/>
        </p:nvSpPr>
        <p:spPr>
          <a:xfrm>
            <a:off x="4324550" y="1548613"/>
            <a:ext cx="2718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의미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24" name="Google Shape;324;g3aeca1a05f3_3_19"/>
          <p:cNvSpPr txBox="1"/>
          <p:nvPr/>
        </p:nvSpPr>
        <p:spPr>
          <a:xfrm>
            <a:off x="4126350" y="1939338"/>
            <a:ext cx="47268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로그인 성공 시 백엔드가 리프레시 토큰을 DB에 보관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프론트는 refresh token을 쿠키로 받고, access token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	재발급 시 이 DB 사용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25" name="Google Shape;325;g3aeca1a05f3_3_19"/>
          <p:cNvSpPr txBox="1"/>
          <p:nvPr/>
        </p:nvSpPr>
        <p:spPr>
          <a:xfrm>
            <a:off x="4329275" y="3382975"/>
            <a:ext cx="441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326" name="Google Shape;326;g3aeca1a05f3_3_19"/>
          <p:cNvSpPr txBox="1"/>
          <p:nvPr/>
        </p:nvSpPr>
        <p:spPr>
          <a:xfrm>
            <a:off x="4354250" y="3014738"/>
            <a:ext cx="2718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장점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27" name="Google Shape;327;g3aeca1a05f3_3_19"/>
          <p:cNvSpPr txBox="1"/>
          <p:nvPr/>
        </p:nvSpPr>
        <p:spPr>
          <a:xfrm>
            <a:off x="4174775" y="3495688"/>
            <a:ext cx="4726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토큰이 탈취되거나, 로그아웃/회원탈퇴 했을 때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	이 테이블에서 레코드 지우면 바로 무효화 가능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eca1a05f3_4_22"/>
          <p:cNvSpPr txBox="1">
            <a:spLocks noGrp="1"/>
          </p:cNvSpPr>
          <p:nvPr>
            <p:ph type="title"/>
          </p:nvPr>
        </p:nvSpPr>
        <p:spPr>
          <a:xfrm>
            <a:off x="133350" y="153313"/>
            <a:ext cx="78867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/>
              <a:t>ERD 상세 </a:t>
            </a:r>
            <a:endParaRPr sz="2400"/>
          </a:p>
        </p:txBody>
      </p:sp>
      <p:sp>
        <p:nvSpPr>
          <p:cNvPr id="333" name="Google Shape;333;g3aeca1a05f3_4_22"/>
          <p:cNvSpPr txBox="1"/>
          <p:nvPr/>
        </p:nvSpPr>
        <p:spPr>
          <a:xfrm>
            <a:off x="1008500" y="1002150"/>
            <a:ext cx="1559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BOOKS</a:t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334" name="Google Shape;334;g3aeca1a05f3_4_22"/>
          <p:cNvGraphicFramePr/>
          <p:nvPr/>
        </p:nvGraphicFramePr>
        <p:xfrm>
          <a:off x="620950" y="143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{5E0CCB52-F4C9-4678-9619-A55325F94471}</a:tableStyleId>
              </a:tblPr>
              <a:tblGrid>
                <a:gridCol w="120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id(PK)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user_id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작성자 ID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category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카테고리 ID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title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도서 제목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descriptio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줄거리/소개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content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실제 작품 내용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img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도서 표지 이미지 URL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created_at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최초 생성일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update_at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마지막 수정일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35" name="Google Shape;335;g3aeca1a05f3_4_22"/>
          <p:cNvSpPr txBox="1"/>
          <p:nvPr/>
        </p:nvSpPr>
        <p:spPr>
          <a:xfrm>
            <a:off x="4631275" y="2029550"/>
            <a:ext cx="47268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사용자 기본 정보를 담는 곳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PK가 숫자가 아닌 문자열 id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비밀번호는 반드시 암호화된 값으로 저장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36" name="Google Shape;336;g3aeca1a05f3_4_22"/>
          <p:cNvSpPr/>
          <p:nvPr/>
        </p:nvSpPr>
        <p:spPr>
          <a:xfrm>
            <a:off x="3966025" y="1002150"/>
            <a:ext cx="4846200" cy="3702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3aeca1a05f3_4_22"/>
          <p:cNvSpPr txBox="1"/>
          <p:nvPr/>
        </p:nvSpPr>
        <p:spPr>
          <a:xfrm>
            <a:off x="4324525" y="1879050"/>
            <a:ext cx="42393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사용자가 작성한 도서 정보를 저장하고,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카테고리·작성자와의 관계를 관리하는 핵심 테이블이다.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오픈 API로 생성된 표지 이미지 URL(img)과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작품 내용(content)을 함께 저장해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</a:rPr>
              <a:t>책 상세 화면에 필요한 모든 정보를 제공</a:t>
            </a:r>
            <a:r>
              <a:rPr lang="en-US" sz="1300">
                <a:solidFill>
                  <a:schemeClr val="dk1"/>
                </a:solidFill>
              </a:rPr>
              <a:t>한다.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338" name="Google Shape;338;g3aeca1a05f3_4_22"/>
          <p:cNvSpPr txBox="1"/>
          <p:nvPr/>
        </p:nvSpPr>
        <p:spPr>
          <a:xfrm>
            <a:off x="4324525" y="1383688"/>
            <a:ext cx="2718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역할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aeca1a05f3_3_69"/>
          <p:cNvSpPr/>
          <p:nvPr/>
        </p:nvSpPr>
        <p:spPr>
          <a:xfrm>
            <a:off x="3966025" y="1002150"/>
            <a:ext cx="4846200" cy="3702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g3aeca1a05f3_3_69"/>
          <p:cNvSpPr txBox="1">
            <a:spLocks noGrp="1"/>
          </p:cNvSpPr>
          <p:nvPr>
            <p:ph type="title"/>
          </p:nvPr>
        </p:nvSpPr>
        <p:spPr>
          <a:xfrm>
            <a:off x="133350" y="153313"/>
            <a:ext cx="78867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/>
              <a:t>ERD 상세 </a:t>
            </a:r>
            <a:endParaRPr sz="2400"/>
          </a:p>
        </p:txBody>
      </p:sp>
      <p:sp>
        <p:nvSpPr>
          <p:cNvPr id="345" name="Google Shape;345;g3aeca1a05f3_3_69"/>
          <p:cNvSpPr txBox="1"/>
          <p:nvPr/>
        </p:nvSpPr>
        <p:spPr>
          <a:xfrm>
            <a:off x="816275" y="1510050"/>
            <a:ext cx="7177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CATEGORIES</a:t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346" name="Google Shape;346;g3aeca1a05f3_3_69"/>
          <p:cNvGraphicFramePr/>
          <p:nvPr/>
        </p:nvGraphicFramePr>
        <p:xfrm>
          <a:off x="679450" y="207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{5E0CCB52-F4C9-4678-9619-A55325F94471}</a:tableStyleId>
              </a:tblPr>
              <a:tblGrid>
                <a:gridCol w="12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id(PK)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name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카테고리 이름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7" name="Google Shape;347;g3aeca1a05f3_3_69"/>
          <p:cNvSpPr txBox="1"/>
          <p:nvPr/>
        </p:nvSpPr>
        <p:spPr>
          <a:xfrm>
            <a:off x="4324550" y="1548613"/>
            <a:ext cx="2718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특징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48" name="Google Shape;348;g3aeca1a05f3_3_69"/>
          <p:cNvSpPr txBox="1"/>
          <p:nvPr/>
        </p:nvSpPr>
        <p:spPr>
          <a:xfrm>
            <a:off x="4126350" y="1939338"/>
            <a:ext cx="47268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마스터 테이블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실제 테이터 양은 적고, 변경도 자주 일어나지 않음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조회, 필터링 기능의 기반이 되는 핵심 기준 테이블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BOOK.category가 이 테이블을 참조해서 데이터 정합성 유지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49" name="Google Shape;349;g3aeca1a05f3_3_69"/>
          <p:cNvSpPr txBox="1"/>
          <p:nvPr/>
        </p:nvSpPr>
        <p:spPr>
          <a:xfrm>
            <a:off x="4329275" y="3382975"/>
            <a:ext cx="441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350" name="Google Shape;350;g3aeca1a05f3_3_69"/>
          <p:cNvSpPr txBox="1"/>
          <p:nvPr/>
        </p:nvSpPr>
        <p:spPr>
          <a:xfrm>
            <a:off x="4126350" y="3449013"/>
            <a:ext cx="4726800" cy="10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책 등록·조회·검색 기능에서 카테고리를 일관되게 관리하기 위한 기준 데이터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새로운 카테고리 추가도 용이하여 확장성이 뛰어난 구조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aeca1a05f3_3_84"/>
          <p:cNvSpPr txBox="1">
            <a:spLocks noGrp="1"/>
          </p:cNvSpPr>
          <p:nvPr>
            <p:ph type="title"/>
          </p:nvPr>
        </p:nvSpPr>
        <p:spPr>
          <a:xfrm>
            <a:off x="133350" y="153313"/>
            <a:ext cx="78867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/>
              <a:t>ERD 관계도</a:t>
            </a:r>
            <a:endParaRPr sz="2400"/>
          </a:p>
        </p:txBody>
      </p:sp>
      <p:sp>
        <p:nvSpPr>
          <p:cNvPr id="356" name="Google Shape;356;g3aeca1a05f3_3_84"/>
          <p:cNvSpPr txBox="1"/>
          <p:nvPr/>
        </p:nvSpPr>
        <p:spPr>
          <a:xfrm>
            <a:off x="514375" y="1002150"/>
            <a:ext cx="40038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ERD 관계도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357" name="Google Shape;357;g3aeca1a05f3_3_84"/>
          <p:cNvSpPr txBox="1"/>
          <p:nvPr/>
        </p:nvSpPr>
        <p:spPr>
          <a:xfrm>
            <a:off x="798900" y="1583975"/>
            <a:ext cx="7180500" cy="3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dk1"/>
                </a:solidFill>
              </a:rPr>
              <a:t>USERS (1) ────&lt; BOOKS (N)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✔ 한 명의 사용자가 여러 개의 책(게시글)을 작성할 수 있는 </a:t>
            </a:r>
            <a:r>
              <a:rPr lang="en-US" sz="1100" b="1">
                <a:solidFill>
                  <a:schemeClr val="dk1"/>
                </a:solidFill>
              </a:rPr>
              <a:t>1:N 관계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✔ BOOKS.user_id가 USERS.id를 참조하여 “누가 작성했는지”를 명확하게 연결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dk1"/>
                </a:solidFill>
              </a:rPr>
              <a:t>USERS (1) ────&lt; REFRESH_TOKEN (1 or N)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✔ 한 사용자에게 여러 개의 리프레시 토큰이 발급될 수 있는 </a:t>
            </a:r>
            <a:r>
              <a:rPr lang="en-US" sz="1100" b="1">
                <a:solidFill>
                  <a:schemeClr val="dk1"/>
                </a:solidFill>
              </a:rPr>
              <a:t>1:N 관계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✔ 사용자 로그인 기록 관리 및 토큰 재발급을 위해 사용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dk1"/>
                </a:solidFill>
              </a:rPr>
              <a:t>CATEGORIES (1) ────&lt; BOOKS (N)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✔ 하나의 카테고리에 여러 도서가 속할 수 있는 </a:t>
            </a:r>
            <a:r>
              <a:rPr lang="en-US" sz="1100" b="1">
                <a:solidFill>
                  <a:schemeClr val="dk1"/>
                </a:solidFill>
              </a:rPr>
              <a:t>1:N 관계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✔ BOOKS.category가 CATEGORIES.id를 참조하여 카테고리의 정합성을 보장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aeca1a05f3_3_145"/>
          <p:cNvSpPr txBox="1">
            <a:spLocks noGrp="1"/>
          </p:cNvSpPr>
          <p:nvPr>
            <p:ph type="title"/>
          </p:nvPr>
        </p:nvSpPr>
        <p:spPr>
          <a:xfrm>
            <a:off x="133350" y="153313"/>
            <a:ext cx="78867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 sz="2950"/>
              <a:t>시스템 아키텍처</a:t>
            </a:r>
            <a:endParaRPr sz="3700"/>
          </a:p>
        </p:txBody>
      </p:sp>
      <p:sp>
        <p:nvSpPr>
          <p:cNvPr id="363" name="Google Shape;363;g3aeca1a05f3_3_145"/>
          <p:cNvSpPr txBox="1"/>
          <p:nvPr/>
        </p:nvSpPr>
        <p:spPr>
          <a:xfrm>
            <a:off x="410550" y="1063450"/>
            <a:ext cx="3237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데이터 흐름(전체 순서)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364" name="Google Shape;364;g3aeca1a05f3_3_145"/>
          <p:cNvSpPr txBox="1"/>
          <p:nvPr/>
        </p:nvSpPr>
        <p:spPr>
          <a:xfrm>
            <a:off x="410550" y="1680275"/>
            <a:ext cx="3836400" cy="30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① 사용자가 브라우저에서 버튼 클릭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		↓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② Next.js 페이지에서 API 요청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		↓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③ Spring Boot 백엔드가 요청 처리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		↓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④ DB(H2)에서 데이터 조회/저장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		↓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⑤ 백엔드가 JSON 응답 → 프론트로 전송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		↓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⑥ 프론트에서 UI 업데이트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		↓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⑦ 필요 시 GPT 외부 API 호출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pic>
        <p:nvPicPr>
          <p:cNvPr id="365" name="Google Shape;365;g3aeca1a05f3_3_145" title="Web App Reference Architecture (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1350" y="1211975"/>
            <a:ext cx="3925699" cy="3205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1325</Words>
  <Application>Microsoft Office PowerPoint</Application>
  <PresentationFormat>화면 슬라이드 쇼(16:9)</PresentationFormat>
  <Paragraphs>233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3" baseType="lpstr">
      <vt:lpstr>Arial</vt:lpstr>
      <vt:lpstr>Malgun Gothic</vt:lpstr>
      <vt:lpstr>Play</vt:lpstr>
      <vt:lpstr>Office 테마</vt:lpstr>
      <vt:lpstr>PowerPoint 프레젠테이션</vt:lpstr>
      <vt:lpstr>PowerPoint 프레젠테이션</vt:lpstr>
      <vt:lpstr>프로젝트 개요</vt:lpstr>
      <vt:lpstr>핵심 결과물</vt:lpstr>
      <vt:lpstr>핵심 결과물</vt:lpstr>
      <vt:lpstr>프로젝트 결과</vt:lpstr>
      <vt:lpstr>핵심 결과물</vt:lpstr>
      <vt:lpstr>핵심 결과물</vt:lpstr>
      <vt:lpstr>핵심 결과물</vt:lpstr>
      <vt:lpstr>핵심 결과물</vt:lpstr>
      <vt:lpstr>핵심 결과물</vt:lpstr>
      <vt:lpstr>ERD설계</vt:lpstr>
      <vt:lpstr>ERD설계</vt:lpstr>
      <vt:lpstr>시스템 아키텍처</vt:lpstr>
      <vt:lpstr>시스템 아키텍처</vt:lpstr>
      <vt:lpstr>시스템 아키텍처</vt:lpstr>
      <vt:lpstr>시스템 아키텍처</vt:lpstr>
      <vt:lpstr>시스템 아키텍처</vt:lpstr>
      <vt:lpstr>API 정의서</vt:lpstr>
      <vt:lpstr>API 정의서 및 소스코드</vt:lpstr>
      <vt:lpstr>부록</vt:lpstr>
      <vt:lpstr>ERD 전체 구조</vt:lpstr>
      <vt:lpstr>ERD 상세 </vt:lpstr>
      <vt:lpstr>ERD 상세 </vt:lpstr>
      <vt:lpstr>ERD 상세 </vt:lpstr>
      <vt:lpstr>ERD 상세 </vt:lpstr>
      <vt:lpstr>ERD 관계도</vt:lpstr>
      <vt:lpstr>시스템 아키텍처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석지혜(AIVLE교육팀)</dc:creator>
  <cp:lastModifiedBy>양시현</cp:lastModifiedBy>
  <cp:revision>1</cp:revision>
  <dcterms:created xsi:type="dcterms:W3CDTF">2025-02-05T05:12:41Z</dcterms:created>
  <dcterms:modified xsi:type="dcterms:W3CDTF">2025-12-09T07:04:10Z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0x010100EEFD2EC9AE4E1C4E97A968ACD5F6A537</vt:lpwstr>
  </property>
  <property fmtid="{D5CDD505-2E9C-101B-9397-08002B2CF9AE}" pid="3" name="MediaServiceImageTags">
    <vt:lpwstr/>
  </property>
</Properties>
</file>