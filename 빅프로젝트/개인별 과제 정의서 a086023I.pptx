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5"/>
  </p:sldMasterIdLst>
  <p:notesMasterIdLst>
    <p:notesMasterId r:id="rId6"/>
  </p:notesMasterIdLst>
  <p:sldIdLst>
    <p:sldId id="256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07CB14-259F-4153-98D2-58431FC0DDD6}">
  <a:tblStyle styleId="{AC07CB14-259F-4153-98D2-58431FC0DDD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1944" l="0" r="0" t="6771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21944" l="0" r="0" t="25551"/>
          <a:stretch/>
        </p:blipFill>
        <p:spPr>
          <a:xfrm>
            <a:off x="0" y="0"/>
            <a:ext cx="12192000" cy="3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21944" l="0" r="0" t="6771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1" i="0" sz="34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5" name="Google Shape;15;p2"/>
          <p:cNvCxnSpPr>
            <a:stCxn id="13" idx="1"/>
            <a:endCxn id="13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2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b="0" i="0" lang="ko-KR" sz="1022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22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b="1" i="0" lang="ko-KR" sz="1292" u="none" cap="none" strike="noStrik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b="0" i="0" sz="1723" u="none" cap="none" strike="noStrike">
              <a:solidFill>
                <a:srgbClr val="34AE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1" i="0" sz="2954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22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9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72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" name="Google Shape;20;p2"/>
          <p:cNvCxnSpPr/>
          <p:nvPr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cap="flat" cmpd="thickThin" w="28575">
            <a:solidFill>
              <a:srgbClr val="02BDB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93700" lvl="0" marL="457200" marR="0" rtl="0" algn="l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2425" lvl="1" marL="914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8645" lvl="2" marL="1371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54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70967" lvl="0" marL="457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b="0" i="0" sz="2759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52425" lvl="1" marL="9144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0042" lvl="2" marL="1371600" marR="0" rtl="0" algn="l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b="0" i="0" sz="215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7660" lvl="3" marL="1828800" marR="0" rtl="0" algn="l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b="0" i="0" sz="19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7660" lvl="4" marL="2286000" marR="0" rtl="0" algn="l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b="0" i="0" sz="19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9755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9755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9755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9755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b="0" i="0" sz="70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ko-K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개인별 과제 정의서</a:t>
            </a:r>
            <a:endParaRPr/>
          </a:p>
        </p:txBody>
      </p:sp>
      <p:graphicFrame>
        <p:nvGraphicFramePr>
          <p:cNvPr id="35" name="Google Shape;35;p6"/>
          <p:cNvGraphicFramePr/>
          <p:nvPr/>
        </p:nvGraphicFramePr>
        <p:xfrm>
          <a:off x="179961" y="1126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{AC07CB14-259F-4153-98D2-58431FC0DDD6}</a:tableStyleId>
              </a:tblPr>
              <a:tblGrid>
                <a:gridCol w="2622825"/>
                <a:gridCol w="3293225"/>
                <a:gridCol w="2703675"/>
                <a:gridCol w="3212375"/>
              </a:tblGrid>
              <a:tr h="4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반/조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[AI] 10반 0조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선정 BM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DevSecOps(개발·보안·운영 자동화)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0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조원 성명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양시현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과제명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 PR(코드 변경 요청) 자동 검사·리뷰 시스템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55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서비스 내용</a:t>
                      </a:r>
                      <a:b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(주요 기능, 기술 포함)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저장소(레포) 연결 &amp; 규칙 설정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GitHub에 연결하면(PR이 올라올 때) 자동으로 검사 시작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프로젝트별로 “금지 코드/코딩 규칙/보안 규칙/테스트 기준”을 체크리스트로 설정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2. PR 자동 검사 &amp; 자동 코멘트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PR에서 바뀐 코드(diff)를 읽고, 문제를 어느 파일/몇 번째 줄인지 찍어서 알려줌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왜 문제인지 + 어떻게 고치면 좋을지 코멘트 추가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PR 요약(변경 핵심, 위험)을 자동으로 생성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3. 합격/불합격 기능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규칙을 어기거나 코드가 올바르지 못하면 기본 브랜치에 merge 못 하게 막음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4. 대시보드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PR 처리 시간, 반복되는 실수 등의 통계를 제공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34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목표 고객(B2B)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B2B: 여러 개발팀이 동시에 코드를 올리는 회사(IT기업)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과제 선정 배경</a:t>
                      </a:r>
                      <a:endParaRPr sz="1100"/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현실적으로 사람이 PR을 전부 꼼꼼히 보기 어렵기 때문에, AI로 1차 자동 점검을 수행하여 노력을 줄임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활용 데이터</a:t>
                      </a:r>
                      <a:endParaRPr sz="1100"/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변경 코드, 커밋 기록, 테스트 결과, 빌드 로그, 리뷰 코멘트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효과</a:t>
                      </a:r>
                      <a:endParaRPr sz="1100"/>
                    </a:p>
                  </a:txBody>
                  <a:tcPr marT="41575" marB="4157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</a:rPr>
                        <a:t>PR 처리시간 30% 단축 목표, 배포 전 문제 차단(장애/보안 위험을 낮춤)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