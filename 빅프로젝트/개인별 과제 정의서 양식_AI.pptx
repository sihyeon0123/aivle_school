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6" r:id="rId4"/>
  </p:sldMasterIdLst>
  <p:notesMasterIdLst>
    <p:notesMasterId r:id="rId6"/>
  </p:notesMasterIdLst>
  <p:handoutMasterIdLst>
    <p:handoutMasterId r:id="rId7"/>
  </p:handoutMasterIdLst>
  <p:sldIdLst>
    <p:sldId id="3622" r:id="rId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FFFF99"/>
    <a:srgbClr val="1F6765"/>
    <a:srgbClr val="E4EFEE"/>
    <a:srgbClr val="F2F2F2"/>
    <a:srgbClr val="FFFFCC"/>
    <a:srgbClr val="E6F2F1"/>
    <a:srgbClr val="AAD7D2"/>
    <a:srgbClr val="D8ECEB"/>
    <a:srgbClr val="F2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50E548-9F66-4DB9-94FB-379B691A003A}" v="141" dt="2024-11-18T07:39:26.671"/>
  </p1510:revLst>
</p1510:revInfo>
</file>

<file path=ppt/tableStyles.xml><?xml version="1.0" encoding="utf-8"?>
<a:tblStyleLst xmlns:a="http://schemas.openxmlformats.org/drawingml/2006/main" def="{A4739C91-EA2B-441A-B1FC-6100ADDC1FEA}">
  <a:tblStyle styleId="{A4739C91-EA2B-441A-B1FC-6100ADDC1F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4" autoAdjust="0"/>
    <p:restoredTop sz="94311" autoAdjust="0"/>
  </p:normalViewPr>
  <p:slideViewPr>
    <p:cSldViewPr snapToGrid="0">
      <p:cViewPr varScale="1">
        <p:scale>
          <a:sx n="106" d="100"/>
          <a:sy n="106" d="100"/>
        </p:scale>
        <p:origin x="180" y="7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DD5EE2-0F71-437D-9438-13CCE6E2D3A4}" type="datetimeFigureOut">
              <a:rPr lang="ko-KR" altLang="en-US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2025-12-17</a:t>
            </a:fld>
            <a:endParaRPr lang="ko-KR" altLang="en-US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F53A9-D8CC-4D53-A6BF-2C0C2798EC5D}" type="slidenum">
              <a:rPr lang="ko-KR" altLang="en-US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‹#›</a:t>
            </a:fld>
            <a:endParaRPr lang="ko-KR" altLang="en-US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49014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</a:pPr>
            <a:endParaRPr lang="en-US" altLang="ko-KR" sz="1200" b="0" i="0" u="none" strike="noStrike" cap="none" dirty="0">
              <a:solidFill>
                <a:schemeClr val="dk1"/>
              </a:solidFill>
              <a:latin typeface="Malgun Gothic"/>
              <a:ea typeface="Malgun Gothic"/>
              <a:sym typeface="Malgun Gothic"/>
            </a:endParaRPr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202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용자 지정 레이아웃">
  <p:cSld name="사용자 지정 레이아웃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C7CF2056-2E41-4C40-AE19-A9A1125F85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715" b="21945"/>
          <a:stretch/>
        </p:blipFill>
        <p:spPr>
          <a:xfrm>
            <a:off x="0" y="3596531"/>
            <a:ext cx="12192000" cy="285905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EA947DF-4474-4457-99B3-14ADC3E382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52" b="21945"/>
          <a:stretch/>
        </p:blipFill>
        <p:spPr>
          <a:xfrm>
            <a:off x="0" y="0"/>
            <a:ext cx="12192000" cy="3600594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C30C2DB1-E1BF-4A77-BBF7-D6BABA4974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715" b="21945"/>
          <a:stretch/>
        </p:blipFill>
        <p:spPr>
          <a:xfrm>
            <a:off x="0" y="6148873"/>
            <a:ext cx="12192000" cy="709127"/>
          </a:xfrm>
          <a:prstGeom prst="rect">
            <a:avLst/>
          </a:prstGeom>
        </p:spPr>
      </p:pic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32456" y="510866"/>
            <a:ext cx="10821346" cy="59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9pPr>
          </a:lstStyle>
          <a:p>
            <a:endParaRPr/>
          </a:p>
        </p:txBody>
      </p:sp>
      <p:cxnSp>
        <p:nvCxnSpPr>
          <p:cNvPr id="18" name="Google Shape;18;p3"/>
          <p:cNvCxnSpPr>
            <a:cxnSpLocks/>
            <a:stCxn id="22" idx="1"/>
            <a:endCxn id="22" idx="3"/>
          </p:cNvCxnSpPr>
          <p:nvPr/>
        </p:nvCxnSpPr>
        <p:spPr>
          <a:xfrm>
            <a:off x="0" y="6503437"/>
            <a:ext cx="1219200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3"/>
          <p:cNvSpPr txBox="1"/>
          <p:nvPr/>
        </p:nvSpPr>
        <p:spPr>
          <a:xfrm>
            <a:off x="11266756" y="6559088"/>
            <a:ext cx="755737" cy="15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31"/>
              <a:buFont typeface="Arial"/>
              <a:buNone/>
            </a:pPr>
            <a:fld id="{00000000-1234-1234-1234-123412341234}" type="slidenum">
              <a:rPr lang="en-US" altLang="ko-KR" sz="1023" b="0" i="0" u="none" strike="noStrike" cap="none">
                <a:solidFill>
                  <a:srgbClr val="7F7F7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831"/>
                <a:buFont typeface="Arial"/>
                <a:buNone/>
              </a:pPr>
              <a:t>‹#›</a:t>
            </a:fld>
            <a:endParaRPr sz="1023" b="0" i="0" u="none" strike="noStrike" cap="none">
              <a:solidFill>
                <a:srgbClr val="7F7F7F"/>
              </a:solidFill>
              <a:latin typeface="맑은 고딕" panose="020B0503020000020004" pitchFamily="34" charset="-127"/>
              <a:ea typeface="맑은 고딕" panose="020B0503020000020004" pitchFamily="34" charset="-127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210470" y="6559088"/>
            <a:ext cx="3556571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92" b="1" i="0" u="none" strike="noStrike" cap="none">
                <a:solidFill>
                  <a:srgbClr val="34AEAA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Arial"/>
                <a:sym typeface="Arial"/>
              </a:rPr>
              <a:t>KT AIVLE School</a:t>
            </a:r>
            <a:endParaRPr sz="1723">
              <a:solidFill>
                <a:srgbClr val="34AEAA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553369" y="1338454"/>
            <a:ext cx="10757098" cy="655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562722" marR="0" lvl="0" indent="-468935" algn="l" rtl="0">
              <a:lnSpc>
                <a:spcPct val="90000"/>
              </a:lnSpc>
              <a:spcBef>
                <a:spcPts val="123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  <a:defRPr sz="2954" b="1" i="0" u="none" strike="noStrike" cap="none">
                <a:solidFill>
                  <a:schemeClr val="dk1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Arial"/>
                <a:sym typeface="Arial"/>
              </a:defRPr>
            </a:lvl1pPr>
            <a:lvl2pPr marL="1125444" marR="0" lvl="1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22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688165" marR="0" lvl="2" indent="-40641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96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250887" marR="0" lvl="3" indent="-390779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72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813609" marR="0" lvl="4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376331" marR="0" lvl="5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939052" marR="0" lvl="6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501774" marR="0" lvl="7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064496" marR="0" lvl="8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0DB33C9-9F17-4570-866B-17EF57204CD7}"/>
              </a:ext>
            </a:extLst>
          </p:cNvPr>
          <p:cNvSpPr/>
          <p:nvPr userDrawn="1"/>
        </p:nvSpPr>
        <p:spPr>
          <a:xfrm>
            <a:off x="169507" y="1142862"/>
            <a:ext cx="11852986" cy="52747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34" charset="-127"/>
            </a:endParaRPr>
          </a:p>
        </p:txBody>
      </p:sp>
      <p:cxnSp>
        <p:nvCxnSpPr>
          <p:cNvPr id="12" name="Google Shape;12;p40">
            <a:extLst>
              <a:ext uri="{FF2B5EF4-FFF2-40B4-BE49-F238E27FC236}">
                <a16:creationId xmlns:a16="http://schemas.microsoft.com/office/drawing/2014/main" id="{101F6C97-5613-4029-91DD-AB91A50C6258}"/>
              </a:ext>
            </a:extLst>
          </p:cNvPr>
          <p:cNvCxnSpPr/>
          <p:nvPr userDrawn="1"/>
        </p:nvCxnSpPr>
        <p:spPr>
          <a:xfrm rot="10800000">
            <a:off x="-5" y="1046297"/>
            <a:ext cx="12192005" cy="20820"/>
          </a:xfrm>
          <a:prstGeom prst="straightConnector1">
            <a:avLst/>
          </a:prstGeom>
          <a:noFill/>
          <a:ln w="28575" cap="flat" cmpd="thickThin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4" name="Google Shape;39;p42">
            <a:extLst>
              <a:ext uri="{FF2B5EF4-FFF2-40B4-BE49-F238E27FC236}">
                <a16:creationId xmlns:a16="http://schemas.microsoft.com/office/drawing/2014/main" id="{CD0CE241-17D8-47FB-BD1F-FE7D316AC62A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0954455" y="126128"/>
            <a:ext cx="1068038" cy="243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269241" y="1189178"/>
            <a:ext cx="11653522" cy="68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562722" marR="0" lvl="0" indent="-484566" algn="l" rtl="0">
              <a:lnSpc>
                <a:spcPct val="90000"/>
              </a:lnSpc>
              <a:spcBef>
                <a:spcPts val="1231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125444" marR="0" lvl="1" indent="-433765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95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688165" marR="0" lvl="2" indent="-416804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733"/>
              <a:buFont typeface="Arial"/>
              <a:buChar char="•"/>
              <a:defRPr sz="21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250887" marR="0" lvl="3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813609" marR="0" lvl="4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376331" marR="0" lvl="5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939052" marR="0" lvl="6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501774" marR="0" lvl="7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064496" marR="0" lvl="8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3692308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54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609600" y="27432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565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562722" marR="0" lvl="0" indent="-456586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42"/>
              <a:buFont typeface="Arial"/>
              <a:buChar char="•"/>
              <a:defRPr sz="2759" b="0" i="0" u="none" strike="noStrike" cap="none">
                <a:solidFill>
                  <a:schemeClr val="dk1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Arial"/>
                <a:sym typeface="Arial"/>
              </a:defRPr>
            </a:lvl1pPr>
            <a:lvl2pPr marL="1125444" marR="0" lvl="1" indent="-43376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688165" marR="0" lvl="2" indent="-418524" algn="l" rtl="0">
              <a:lnSpc>
                <a:spcPct val="9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755"/>
              <a:buFont typeface="Arial"/>
              <a:buChar char="•"/>
              <a:defRPr sz="21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250887" marR="0" lvl="3" indent="-403284" algn="l" rtl="0">
              <a:lnSpc>
                <a:spcPct val="9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Char char="–"/>
              <a:defRPr sz="192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813609" marR="0" lvl="4" indent="-403284" algn="l" rtl="0">
              <a:lnSpc>
                <a:spcPct val="9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Char char="»"/>
              <a:defRPr sz="192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376331" marR="0" lvl="5" indent="-40589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939052" marR="0" lvl="6" indent="-40589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01774" marR="0" lvl="7" indent="-40589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064496" marR="0" lvl="8" indent="-40589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>
  <p:cSld name="Section Titl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269241" y="2084172"/>
            <a:ext cx="11653522" cy="1162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35"/>
              <a:buFont typeface="Calibri"/>
              <a:buNone/>
              <a:defRPr sz="70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4" r:id="rId3"/>
    <p:sldLayoutId id="2147483655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7;p11">
            <a:extLst>
              <a:ext uri="{FF2B5EF4-FFF2-40B4-BE49-F238E27FC236}">
                <a16:creationId xmlns:a16="http://schemas.microsoft.com/office/drawing/2014/main" id="{F3DB9266-1032-4535-A5FC-D4964A5049A9}"/>
              </a:ext>
            </a:extLst>
          </p:cNvPr>
          <p:cNvSpPr txBox="1">
            <a:spLocks/>
          </p:cNvSpPr>
          <p:nvPr/>
        </p:nvSpPr>
        <p:spPr>
          <a:xfrm>
            <a:off x="177762" y="227159"/>
            <a:ext cx="6808597" cy="628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3200" spc="-100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rPr>
              <a:t>개인별 과제 정의서</a:t>
            </a:r>
          </a:p>
        </p:txBody>
      </p:sp>
      <p:graphicFrame>
        <p:nvGraphicFramePr>
          <p:cNvPr id="9" name="Google Shape;516;g1b5d807d25a_29_172">
            <a:extLst>
              <a:ext uri="{FF2B5EF4-FFF2-40B4-BE49-F238E27FC236}">
                <a16:creationId xmlns:a16="http://schemas.microsoft.com/office/drawing/2014/main" id="{21F1DAD8-D08E-426E-93CD-82A61F89C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7820033"/>
              </p:ext>
            </p:extLst>
          </p:nvPr>
        </p:nvGraphicFramePr>
        <p:xfrm>
          <a:off x="177761" y="1148576"/>
          <a:ext cx="11832100" cy="5274527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622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32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3667">
                  <a:extLst>
                    <a:ext uri="{9D8B030D-6E8A-4147-A177-3AD203B41FA5}">
                      <a16:colId xmlns:a16="http://schemas.microsoft.com/office/drawing/2014/main" val="3154290821"/>
                    </a:ext>
                  </a:extLst>
                </a:gridCol>
                <a:gridCol w="3212383">
                  <a:extLst>
                    <a:ext uri="{9D8B030D-6E8A-4147-A177-3AD203B41FA5}">
                      <a16:colId xmlns:a16="http://schemas.microsoft.com/office/drawing/2014/main" val="1597570642"/>
                    </a:ext>
                  </a:extLst>
                </a:gridCol>
              </a:tblGrid>
              <a:tr h="42388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반</a:t>
                      </a: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/</a:t>
                      </a: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조</a:t>
                      </a:r>
                      <a:endParaRPr sz="1500" b="1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1568" marB="4156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[AI</a:t>
                      </a:r>
                      <a:r>
                        <a:rPr lang="en-US" altLang="ko-KR" sz="150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] 10</a:t>
                      </a:r>
                      <a:r>
                        <a:rPr lang="ko-KR" altLang="en-US" sz="150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반 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0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조</a:t>
                      </a:r>
                      <a:endParaRPr sz="15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91450" marR="91450" marT="41568" marB="4156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선정 </a:t>
                      </a:r>
                      <a:r>
                        <a:rPr lang="en-US" altLang="ko-KR" sz="1500" b="1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BM</a:t>
                      </a:r>
                      <a:endParaRPr sz="1500" b="1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1568" marB="4156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5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91450" marR="91450" marT="41568" marB="4156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12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u="none" strike="noStrike" cap="none" dirty="0"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조원 성명</a:t>
                      </a:r>
                      <a:endParaRPr sz="1500" b="1" u="none" strike="noStrike" cap="none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1568" marB="4156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양시현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12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u="none" strike="noStrike" cap="none" dirty="0"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과제명</a:t>
                      </a:r>
                      <a:endParaRPr sz="1500" b="1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1568" marB="4156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기술과 솔루션이 명확하게 드러나도록 작성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58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u="none" strike="noStrike" cap="none" dirty="0"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주요 서비스 내용</a:t>
                      </a:r>
                      <a:br>
                        <a:rPr lang="ko-KR" altLang="en-US" sz="1500" b="1" u="none" strike="noStrike" cap="none" dirty="0"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</a:br>
                      <a:r>
                        <a:rPr lang="en-US" altLang="ko-KR" sz="1500" b="1" u="none" strike="noStrike" cap="none" dirty="0"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500" b="1" u="none" strike="noStrike" cap="none" dirty="0"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주요 기능</a:t>
                      </a:r>
                      <a:r>
                        <a:rPr lang="en-US" altLang="ko-KR" sz="1500" b="1" u="none" strike="noStrike" cap="none" dirty="0"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, </a:t>
                      </a:r>
                      <a:r>
                        <a:rPr lang="ko-KR" altLang="en-US" sz="1500" b="1" u="none" strike="noStrike" cap="none" dirty="0"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기술 포함</a:t>
                      </a:r>
                      <a:r>
                        <a:rPr lang="en-US" altLang="ko-KR" sz="1500" b="1" u="none" strike="noStrike" cap="none" dirty="0"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lang="ko-KR" altLang="en-US" sz="1500" b="1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1568" marB="4156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452572"/>
                  </a:ext>
                </a:extLst>
              </a:tr>
              <a:tr h="40412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u="none" strike="noStrike" cap="none" dirty="0"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목표 고객</a:t>
                      </a:r>
                      <a:r>
                        <a:rPr lang="en-US" altLang="ko-KR" sz="1500" b="1" u="none" strike="noStrike" cap="none" dirty="0"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(B2B.B2G </a:t>
                      </a:r>
                      <a:r>
                        <a:rPr lang="ko-KR" altLang="en-US" sz="1500" b="1" u="none" strike="noStrike" cap="none" dirty="0"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대상</a:t>
                      </a:r>
                      <a:r>
                        <a:rPr lang="en-US" altLang="ko-KR" sz="1500" b="1" u="none" strike="noStrike" cap="none" dirty="0"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sz="1500" b="1" u="none" strike="noStrike" cap="none" dirty="0">
                        <a:solidFill>
                          <a:schemeClr val="tx1"/>
                        </a:solidFill>
                        <a:effectLst/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1568" marB="4156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B2C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로 잡지 않도록 주의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1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500" b="1" u="none" strike="noStrike" cap="none" dirty="0"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과제 선정 배경</a:t>
                      </a:r>
                    </a:p>
                  </a:txBody>
                  <a:tcPr marL="91450" marR="91450" marT="41568" marB="4156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41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500" b="1" u="none" strike="noStrike" cap="none" dirty="0"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활용 데이터</a:t>
                      </a:r>
                    </a:p>
                  </a:txBody>
                  <a:tcPr marL="91450" marR="91450" marT="41568" marB="4156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endParaRPr sz="1400" b="1" dirty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8559410"/>
                  </a:ext>
                </a:extLst>
              </a:tr>
              <a:tr h="40412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500" b="1" u="none" strike="noStrike" cap="none" dirty="0"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기대 효과</a:t>
                      </a:r>
                    </a:p>
                  </a:txBody>
                  <a:tcPr marL="91450" marR="91450" marT="41568" marB="41568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누구의 어떤 것을 어떻게 해결해 줄 수 있는가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?(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정량적 표현</a:t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680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4926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파랑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7C302623EB9324799900221F4FFEB85" ma:contentTypeVersion="20" ma:contentTypeDescription="새 문서를 만듭니다." ma:contentTypeScope="" ma:versionID="fd25a395885d8ca963c192d8509cc03c">
  <xsd:schema xmlns:xsd="http://www.w3.org/2001/XMLSchema" xmlns:xs="http://www.w3.org/2001/XMLSchema" xmlns:p="http://schemas.microsoft.com/office/2006/metadata/properties" xmlns:ns2="677f369c-0c7e-4879-9dfb-6cea400ef005" xmlns:ns3="1f1919ae-71d8-4e78-b1bd-1ce78ec43a0b" targetNamespace="http://schemas.microsoft.com/office/2006/metadata/properties" ma:root="true" ma:fieldsID="7874c72342a2f406ffad64bed197a6b7" ns2:_="" ns3:_="">
    <xsd:import namespace="677f369c-0c7e-4879-9dfb-6cea400ef005"/>
    <xsd:import namespace="1f1919ae-71d8-4e78-b1bd-1ce78ec43a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7f369c-0c7e-4879-9dfb-6cea400ef0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이미지 태그" ma:readOnly="false" ma:fieldId="{5cf76f15-5ced-4ddc-b409-7134ff3c332f}" ma:taxonomyMulti="true" ma:sspId="f1fa32a7-7a11-4d23-adca-71b1597c76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1919ae-71d8-4e78-b1bd-1ce78ec43a0b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19afbf73-953c-4c0e-a9f0-3ec8db72f19e}" ma:internalName="TaxCatchAll" ma:showField="CatchAllData" ma:web="1f1919ae-71d8-4e78-b1bd-1ce78ec43a0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f1919ae-71d8-4e78-b1bd-1ce78ec43a0b" xsi:nil="true"/>
    <lcf76f155ced4ddcb4097134ff3c332f xmlns="677f369c-0c7e-4879-9dfb-6cea400ef00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8F7C3C8-3DEA-4F06-82F6-91CDF967FA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77f369c-0c7e-4879-9dfb-6cea400ef005"/>
    <ds:schemaRef ds:uri="1f1919ae-71d8-4e78-b1bd-1ce78ec43a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B6E4AB4-6812-4825-A477-08F4E47042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474F5F0-E47C-4CD4-9BF1-D80ACD90DC05}">
  <ds:schemaRefs>
    <ds:schemaRef ds:uri="1857a468-9f2d-455b-8425-136ceb0ac253"/>
    <ds:schemaRef ds:uri="1e5c7207-648b-4a22-8f21-e4a767071fd1"/>
    <ds:schemaRef ds:uri="1f1919ae-71d8-4e78-b1bd-1ce78ec43a0b"/>
    <ds:schemaRef ds:uri="677f369c-0c7e-4879-9dfb-6cea400ef005"/>
    <ds:schemaRef ds:uri="6b9c16b5-910a-460c-9d0a-b2e9e3dbe569"/>
    <ds:schemaRef ds:uri="9114dcef-bd0d-459c-b9d7-fc63398cdb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821</TotalTime>
  <Words>67</Words>
  <Application>Microsoft Office PowerPoint</Application>
  <PresentationFormat>와이드스크린</PresentationFormat>
  <Paragraphs>15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Noto Sans Symbols</vt:lpstr>
      <vt:lpstr>나눔스퀘어</vt:lpstr>
      <vt:lpstr>나눔스퀘어 Bold</vt:lpstr>
      <vt:lpstr>나눔스퀘어 ExtraBold</vt:lpstr>
      <vt:lpstr>나눔스퀘어 네오 Heavy</vt:lpstr>
      <vt:lpstr>Malgun Gothic</vt:lpstr>
      <vt:lpstr>Malgun Gothic</vt:lpstr>
      <vt:lpstr>Arial</vt:lpstr>
      <vt:lpstr>Calibri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양시현</cp:lastModifiedBy>
  <cp:revision>363</cp:revision>
  <dcterms:modified xsi:type="dcterms:W3CDTF">2025-12-17T08:19:22Z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6c548c-0cd3-4220-987a-a58bfd9a89d4_Enabled">
    <vt:lpwstr>true</vt:lpwstr>
  </property>
  <property fmtid="{D5CDD505-2E9C-101B-9397-08002B2CF9AE}" pid="3" name="MSIP_Label_b16c548c-0cd3-4220-987a-a58bfd9a89d4_SetDate">
    <vt:lpwstr>2022-01-28T12:25:58Z</vt:lpwstr>
  </property>
  <property fmtid="{D5CDD505-2E9C-101B-9397-08002B2CF9AE}" pid="4" name="MSIP_Label_b16c548c-0cd3-4220-987a-a58bfd9a89d4_Method">
    <vt:lpwstr>Privileged</vt:lpwstr>
  </property>
  <property fmtid="{D5CDD505-2E9C-101B-9397-08002B2CF9AE}" pid="5" name="MSIP_Label_b16c548c-0cd3-4220-987a-a58bfd9a89d4_Name">
    <vt:lpwstr>b16c548c-0cd3-4220-987a-a58bfd9a89d4</vt:lpwstr>
  </property>
  <property fmtid="{D5CDD505-2E9C-101B-9397-08002B2CF9AE}" pid="6" name="MSIP_Label_b16c548c-0cd3-4220-987a-a58bfd9a89d4_SiteId">
    <vt:lpwstr>522a0f89-ae58-43b6-821b-2b06cecc7d8a</vt:lpwstr>
  </property>
  <property fmtid="{D5CDD505-2E9C-101B-9397-08002B2CF9AE}" pid="7" name="MSIP_Label_b16c548c-0cd3-4220-987a-a58bfd9a89d4_ActionId">
    <vt:lpwstr>0e831c6a-4daf-459e-a66c-38ad3bcc73cf</vt:lpwstr>
  </property>
  <property fmtid="{D5CDD505-2E9C-101B-9397-08002B2CF9AE}" pid="8" name="MSIP_Label_b16c548c-0cd3-4220-987a-a58bfd9a89d4_ContentBits">
    <vt:lpwstr>0</vt:lpwstr>
  </property>
  <property fmtid="{D5CDD505-2E9C-101B-9397-08002B2CF9AE}" pid="9" name="ContentTypeId">
    <vt:lpwstr>0x010100E7C302623EB9324799900221F4FFEB85</vt:lpwstr>
  </property>
  <property fmtid="{D5CDD505-2E9C-101B-9397-08002B2CF9AE}" pid="10" name="MediaServiceImageTags">
    <vt:lpwstr/>
  </property>
</Properties>
</file>