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60" r:id="rId1"/>
  </p:sldMasterIdLst>
  <p:notesMasterIdLst>
    <p:notesMasterId r:id="rId3"/>
  </p:notesMasterIdLst>
  <p:handoutMasterIdLst>
    <p:handoutMasterId r:id="rId4"/>
  </p:handoutMasterIdLst>
  <p:sldIdLst>
    <p:sldId id="3622" r:id="rId2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36">
          <p15:clr>
            <a:srgbClr val="A4A3A4"/>
          </p15:clr>
        </p15:guide>
        <p15:guide id="2" pos="383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A4739C91-EA2B-441A-B1FC-6100ADDC1FE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204" y="80"/>
      </p:cViewPr>
      <p:guideLst>
        <p:guide orient="horz" pos="2136"/>
        <p:guide pos="3839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>
              <a:latin typeface="맑은 고딕"/>
              <a:ea typeface="맑은 고딕"/>
            </a:endParaRPr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E4DD5EE2-0F71-437D-9438-13CCE6E2D3A4}" type="datetime1">
              <a:rPr lang="ko-KR" altLang="en-US">
                <a:latin typeface="맑은 고딕"/>
                <a:ea typeface="맑은 고딕"/>
              </a:rPr>
              <a:pPr lvl="0">
                <a:defRPr/>
              </a:pPr>
              <a:t>2025-10-17</a:t>
            </a:fld>
            <a:endParaRPr lang="ko-KR" altLang="en-US">
              <a:latin typeface="맑은 고딕"/>
              <a:ea typeface="맑은 고딕"/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>
              <a:latin typeface="맑은 고딕"/>
              <a:ea typeface="맑은 고딕"/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635F53A9-D8CC-4D53-A6BF-2C0C2798EC5D}" type="slidenum">
              <a:rPr lang="ko-KR" altLang="en-US">
                <a:latin typeface="맑은 고딕"/>
                <a:ea typeface="맑은 고딕"/>
              </a:rPr>
              <a:pPr lvl="0">
                <a:defRPr/>
              </a:pPr>
              <a:t>‹#›</a:t>
            </a:fld>
            <a:endParaRPr lang="ko-KR" altLang="en-US">
              <a:latin typeface="맑은 고딕"/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5" name="Google Shape;5;n"/>
          <p:cNvSpPr>
            <a:spLocks noGrp="1" noRot="1" noChangeAspect="1" noTextEdi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w="sm" len="sm"/>
            <a:tailEnd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 altLang="ko-KR" sz="1200" b="0" i="0" u="none" strike="noStrike" cap="none">
                <a:solidFill>
                  <a:schemeClr val="dk1"/>
                </a:solidFill>
                <a:latin typeface="맑은 고딕"/>
                <a:ea typeface="맑은 고딕"/>
                <a:cs typeface="맑은 고딕"/>
                <a:sym typeface="맑은 고딕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t>‹#›</a:t>
            </a:fld>
            <a:endParaRPr sz="1200" b="0" i="0" u="none" strike="noStrike" cap="none">
              <a:solidFill>
                <a:schemeClr val="dk1"/>
              </a:solidFill>
              <a:latin typeface="맑은 고딕"/>
              <a:ea typeface="맑은 고딕"/>
              <a:cs typeface="맑은 고딕"/>
              <a:sym typeface="맑은 고딕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hf hdr="0" ftr="0" dt="0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Tx/>
              <a:buNone/>
              <a:defRPr/>
            </a:pPr>
            <a:endParaRPr lang="ko-KR" altLang="en-US"/>
          </a:p>
        </p:txBody>
      </p:sp>
      <p:sp>
        <p:nvSpPr>
          <p:cNvPr id="55" name="Google Shape;55;p2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사용자 지정 레이아웃">
  <p:cSld name="사용자 지정 레이아웃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그림 22">
            <a:extLst>
              <a:ext uri="{FF2B5EF4-FFF2-40B4-BE49-F238E27FC236}">
                <a16:creationId xmlns:a16="http://schemas.microsoft.com/office/drawing/2014/main" id="{C7CF2056-2E41-4C40-AE19-A9A1125F857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7715" b="21945"/>
          <a:stretch/>
        </p:blipFill>
        <p:spPr>
          <a:xfrm>
            <a:off x="0" y="3596531"/>
            <a:ext cx="12192000" cy="2859057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DEA947DF-4474-4457-99B3-14ADC3E3823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552" b="21945"/>
          <a:stretch/>
        </p:blipFill>
        <p:spPr>
          <a:xfrm>
            <a:off x="0" y="0"/>
            <a:ext cx="12192000" cy="3600594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C30C2DB1-E1BF-4A77-BBF7-D6BABA49745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7715" b="21945"/>
          <a:stretch/>
        </p:blipFill>
        <p:spPr>
          <a:xfrm>
            <a:off x="0" y="6148873"/>
            <a:ext cx="12192000" cy="709127"/>
          </a:xfrm>
          <a:prstGeom prst="rect">
            <a:avLst/>
          </a:prstGeom>
        </p:spPr>
      </p:pic>
      <p:sp>
        <p:nvSpPr>
          <p:cNvPr id="15" name="Google Shape;15;p3"/>
          <p:cNvSpPr txBox="1">
            <a:spLocks noGrp="1"/>
          </p:cNvSpPr>
          <p:nvPr>
            <p:ph type="title"/>
          </p:nvPr>
        </p:nvSpPr>
        <p:spPr>
          <a:xfrm>
            <a:off x="532456" y="510866"/>
            <a:ext cx="10821346" cy="590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  <a:defRPr sz="3446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2215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2215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2215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2215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2215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2215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2215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2215"/>
            </a:lvl9pPr>
          </a:lstStyle>
          <a:p>
            <a:endParaRPr/>
          </a:p>
        </p:txBody>
      </p:sp>
      <p:cxnSp>
        <p:nvCxnSpPr>
          <p:cNvPr id="18" name="Google Shape;18;p3"/>
          <p:cNvCxnSpPr>
            <a:cxnSpLocks/>
            <a:stCxn id="22" idx="1"/>
            <a:endCxn id="22" idx="3"/>
          </p:cNvCxnSpPr>
          <p:nvPr/>
        </p:nvCxnSpPr>
        <p:spPr>
          <a:xfrm>
            <a:off x="0" y="6503437"/>
            <a:ext cx="12192000" cy="0"/>
          </a:xfrm>
          <a:prstGeom prst="straightConnector1">
            <a:avLst/>
          </a:prstGeom>
          <a:noFill/>
          <a:ln w="9525" cap="flat" cmpd="sng">
            <a:solidFill>
              <a:srgbClr val="BFBFBF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9" name="Google Shape;19;p3"/>
          <p:cNvSpPr txBox="1"/>
          <p:nvPr/>
        </p:nvSpPr>
        <p:spPr>
          <a:xfrm>
            <a:off x="11266756" y="6559088"/>
            <a:ext cx="755737" cy="1574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831"/>
              <a:buFont typeface="Arial"/>
              <a:buNone/>
            </a:pPr>
            <a:fld id="{00000000-1234-1234-1234-123412341234}" type="slidenum">
              <a:rPr lang="en-US" altLang="ko-KR" sz="1023" b="0" i="0" u="none" strike="noStrike" cap="none">
                <a:solidFill>
                  <a:srgbClr val="7F7F7F"/>
                </a:solidFill>
                <a:latin typeface="맑은 고딕" panose="020B0503020000020004" pitchFamily="34" charset="-127"/>
                <a:ea typeface="맑은 고딕" panose="020B0503020000020004" pitchFamily="34" charset="-127"/>
                <a:cs typeface="Arial"/>
                <a:sym typeface="Arial"/>
              </a:rPr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F7F7F"/>
                </a:buClr>
                <a:buSzPts val="831"/>
                <a:buFont typeface="Arial"/>
                <a:buNone/>
              </a:pPr>
              <a:t>‹#›</a:t>
            </a:fld>
            <a:endParaRPr sz="1023" b="0" i="0" u="none" strike="noStrike" cap="none">
              <a:solidFill>
                <a:srgbClr val="7F7F7F"/>
              </a:solidFill>
              <a:latin typeface="맑은 고딕" panose="020B0503020000020004" pitchFamily="34" charset="-127"/>
              <a:ea typeface="맑은 고딕" panose="020B0503020000020004" pitchFamily="34" charset="-127"/>
              <a:cs typeface="Arial"/>
              <a:sym typeface="Arial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210470" y="6559088"/>
            <a:ext cx="3556571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292" b="1" i="0" u="none" strike="noStrike" cap="none">
                <a:solidFill>
                  <a:srgbClr val="34AEAA"/>
                </a:solidFill>
                <a:latin typeface="나눔스퀘어 네오 Heavy" panose="00000A00000000000000" pitchFamily="2" charset="-127"/>
                <a:ea typeface="나눔스퀘어 네오 Heavy" panose="00000A00000000000000" pitchFamily="2" charset="-127"/>
                <a:cs typeface="Arial"/>
                <a:sym typeface="Arial"/>
              </a:rPr>
              <a:t>KT AIVLE School</a:t>
            </a:r>
            <a:endParaRPr sz="1723">
              <a:solidFill>
                <a:srgbClr val="34AEAA"/>
              </a:solidFill>
              <a:latin typeface="나눔스퀘어 네오 Heavy" panose="00000A00000000000000" pitchFamily="2" charset="-127"/>
              <a:ea typeface="나눔스퀘어 네오 Heavy" panose="00000A00000000000000" pitchFamily="2" charset="-127"/>
            </a:endParaRPr>
          </a:p>
        </p:txBody>
      </p:sp>
      <p:sp>
        <p:nvSpPr>
          <p:cNvPr id="21" name="Google Shape;21;p3"/>
          <p:cNvSpPr txBox="1">
            <a:spLocks noGrp="1"/>
          </p:cNvSpPr>
          <p:nvPr>
            <p:ph type="body" idx="1"/>
          </p:nvPr>
        </p:nvSpPr>
        <p:spPr>
          <a:xfrm>
            <a:off x="553369" y="1338454"/>
            <a:ext cx="10757098" cy="655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L="562722" marR="0" lvl="0" indent="-468935" algn="l" rtl="0">
              <a:lnSpc>
                <a:spcPct val="90000"/>
              </a:lnSpc>
              <a:spcBef>
                <a:spcPts val="1231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  <a:defRPr sz="2954" b="1" i="0" u="none" strike="noStrike" cap="none">
                <a:solidFill>
                  <a:schemeClr val="dk1"/>
                </a:solidFill>
                <a:latin typeface="맑은 고딕" panose="020B0503020000020004" pitchFamily="34" charset="-127"/>
                <a:ea typeface="맑은 고딕" panose="020B0503020000020004" pitchFamily="34" charset="-127"/>
                <a:cs typeface="Arial"/>
                <a:sym typeface="Arial"/>
              </a:defRPr>
            </a:lvl1pPr>
            <a:lvl2pPr marL="1125444" marR="0" lvl="1" indent="-422041" algn="l" rtl="0">
              <a:lnSpc>
                <a:spcPct val="90000"/>
              </a:lnSpc>
              <a:spcBef>
                <a:spcPts val="61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  <a:defRPr sz="221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688165" marR="0" lvl="2" indent="-406410" algn="l" rtl="0">
              <a:lnSpc>
                <a:spcPct val="90000"/>
              </a:lnSpc>
              <a:spcBef>
                <a:spcPts val="615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96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2250887" marR="0" lvl="3" indent="-390779" algn="l" rtl="0">
              <a:lnSpc>
                <a:spcPct val="90000"/>
              </a:lnSpc>
              <a:spcBef>
                <a:spcPts val="615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  <a:defRPr sz="172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813609" marR="0" lvl="4" indent="-422041" algn="l" rtl="0">
              <a:lnSpc>
                <a:spcPct val="90000"/>
              </a:lnSpc>
              <a:spcBef>
                <a:spcPts val="61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21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3376331" marR="0" lvl="5" indent="-422041" algn="l" rtl="0">
              <a:lnSpc>
                <a:spcPct val="90000"/>
              </a:lnSpc>
              <a:spcBef>
                <a:spcPts val="61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21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939052" marR="0" lvl="6" indent="-422041" algn="l" rtl="0">
              <a:lnSpc>
                <a:spcPct val="90000"/>
              </a:lnSpc>
              <a:spcBef>
                <a:spcPts val="61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21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4501774" marR="0" lvl="7" indent="-422041" algn="l" rtl="0">
              <a:lnSpc>
                <a:spcPct val="90000"/>
              </a:lnSpc>
              <a:spcBef>
                <a:spcPts val="61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21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5064496" marR="0" lvl="8" indent="-422041" algn="l" rtl="0">
              <a:lnSpc>
                <a:spcPct val="90000"/>
              </a:lnSpc>
              <a:spcBef>
                <a:spcPts val="61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21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0DB33C9-9F17-4570-866B-17EF57204CD7}"/>
              </a:ext>
            </a:extLst>
          </p:cNvPr>
          <p:cNvSpPr/>
          <p:nvPr userDrawn="1"/>
        </p:nvSpPr>
        <p:spPr>
          <a:xfrm>
            <a:off x="169507" y="1142862"/>
            <a:ext cx="11852986" cy="527472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맑은 고딕" panose="020B0503020000020004" pitchFamily="34" charset="-127"/>
            </a:endParaRPr>
          </a:p>
        </p:txBody>
      </p:sp>
      <p:cxnSp>
        <p:nvCxnSpPr>
          <p:cNvPr id="12" name="Google Shape;12;p40">
            <a:extLst>
              <a:ext uri="{FF2B5EF4-FFF2-40B4-BE49-F238E27FC236}">
                <a16:creationId xmlns:a16="http://schemas.microsoft.com/office/drawing/2014/main" id="{101F6C97-5613-4029-91DD-AB91A50C6258}"/>
              </a:ext>
            </a:extLst>
          </p:cNvPr>
          <p:cNvCxnSpPr/>
          <p:nvPr userDrawn="1"/>
        </p:nvCxnSpPr>
        <p:spPr>
          <a:xfrm rot="10800000">
            <a:off x="-5" y="1046297"/>
            <a:ext cx="12192005" cy="20820"/>
          </a:xfrm>
          <a:prstGeom prst="straightConnector1">
            <a:avLst/>
          </a:prstGeom>
          <a:noFill/>
          <a:ln w="28575" cap="flat" cmpd="thickThin">
            <a:solidFill>
              <a:srgbClr val="02BDB6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24" name="Google Shape;39;p42">
            <a:extLst>
              <a:ext uri="{FF2B5EF4-FFF2-40B4-BE49-F238E27FC236}">
                <a16:creationId xmlns:a16="http://schemas.microsoft.com/office/drawing/2014/main" id="{CD0CE241-17D8-47FB-BD1F-FE7D316AC62A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/>
          <a:stretch/>
        </p:blipFill>
        <p:spPr>
          <a:xfrm>
            <a:off x="10954455" y="126128"/>
            <a:ext cx="1068038" cy="2432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>
            <a:spLocks noGrp="1"/>
          </p:cNvSpPr>
          <p:nvPr>
            <p:ph type="body" idx="1"/>
          </p:nvPr>
        </p:nvSpPr>
        <p:spPr>
          <a:xfrm>
            <a:off x="269241" y="1189178"/>
            <a:ext cx="11653522" cy="6893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L="562722" marR="0" lvl="0" indent="-484566" algn="l" rtl="0">
              <a:lnSpc>
                <a:spcPct val="90000"/>
              </a:lnSpc>
              <a:spcBef>
                <a:spcPts val="1231"/>
              </a:spcBef>
              <a:spcAft>
                <a:spcPts val="0"/>
              </a:spcAft>
              <a:buClr>
                <a:schemeClr val="dk1"/>
              </a:buClr>
              <a:buSzPts val="2600"/>
              <a:buFont typeface="Noto Sans Symbols"/>
              <a:buChar char="✔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1125444" marR="0" lvl="1" indent="-433765" algn="l" rtl="0">
              <a:lnSpc>
                <a:spcPct val="90000"/>
              </a:lnSpc>
              <a:spcBef>
                <a:spcPts val="615"/>
              </a:spcBef>
              <a:spcAft>
                <a:spcPts val="0"/>
              </a:spcAft>
              <a:buClr>
                <a:schemeClr val="dk1"/>
              </a:buClr>
              <a:buSzPts val="195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688165" marR="0" lvl="2" indent="-416804" algn="l" rtl="0">
              <a:lnSpc>
                <a:spcPct val="90000"/>
              </a:lnSpc>
              <a:spcBef>
                <a:spcPts val="615"/>
              </a:spcBef>
              <a:spcAft>
                <a:spcPts val="0"/>
              </a:spcAft>
              <a:buClr>
                <a:schemeClr val="dk1"/>
              </a:buClr>
              <a:buSzPts val="1733"/>
              <a:buFont typeface="Arial"/>
              <a:buChar char="•"/>
              <a:defRPr sz="21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2250887" marR="0" lvl="3" indent="-422041" algn="l" rtl="0">
              <a:lnSpc>
                <a:spcPct val="90000"/>
              </a:lnSpc>
              <a:spcBef>
                <a:spcPts val="61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21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813609" marR="0" lvl="4" indent="-422041" algn="l" rtl="0">
              <a:lnSpc>
                <a:spcPct val="90000"/>
              </a:lnSpc>
              <a:spcBef>
                <a:spcPts val="61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21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3376331" marR="0" lvl="5" indent="-422041" algn="l" rtl="0">
              <a:lnSpc>
                <a:spcPct val="90000"/>
              </a:lnSpc>
              <a:spcBef>
                <a:spcPts val="61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21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939052" marR="0" lvl="6" indent="-422041" algn="l" rtl="0">
              <a:lnSpc>
                <a:spcPct val="90000"/>
              </a:lnSpc>
              <a:spcBef>
                <a:spcPts val="61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21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4501774" marR="0" lvl="7" indent="-422041" algn="l" rtl="0">
              <a:lnSpc>
                <a:spcPct val="90000"/>
              </a:lnSpc>
              <a:spcBef>
                <a:spcPts val="61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21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5064496" marR="0" lvl="8" indent="-422041" algn="l" rtl="0">
              <a:lnSpc>
                <a:spcPct val="90000"/>
              </a:lnSpc>
              <a:spcBef>
                <a:spcPts val="61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21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title"/>
          </p:nvPr>
        </p:nvSpPr>
        <p:spPr>
          <a:xfrm>
            <a:off x="0" y="0"/>
            <a:ext cx="3692308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541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2215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2215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2215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2215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2215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2215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2215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2215"/>
            </a:lvl9pPr>
          </a:lstStyle>
          <a:p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내용" type="obj">
  <p:cSld name="OBJECT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"/>
          <p:cNvSpPr txBox="1">
            <a:spLocks noGrp="1"/>
          </p:cNvSpPr>
          <p:nvPr>
            <p:ph type="title"/>
          </p:nvPr>
        </p:nvSpPr>
        <p:spPr>
          <a:xfrm>
            <a:off x="609600" y="274320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10"/>
              <a:buFont typeface="Arial"/>
              <a:buNone/>
              <a:defRPr sz="4319" b="0" i="0" u="none" strike="noStrike" cap="none">
                <a:solidFill>
                  <a:schemeClr val="dk1"/>
                </a:solidFill>
                <a:latin typeface="맑은 고딕" panose="020B0503020000020004" pitchFamily="34" charset="-127"/>
                <a:ea typeface="맑은 고딕" panose="020B0503020000020004" pitchFamily="34" charset="-127"/>
                <a:cs typeface="Arial"/>
                <a:sym typeface="Arial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10"/>
              <a:buFont typeface="Arial"/>
              <a:buNone/>
              <a:defRPr sz="431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10"/>
              <a:buFont typeface="Arial"/>
              <a:buNone/>
              <a:defRPr sz="431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10"/>
              <a:buFont typeface="Arial"/>
              <a:buNone/>
              <a:defRPr sz="431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10"/>
              <a:buFont typeface="Arial"/>
              <a:buNone/>
              <a:defRPr sz="431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74"/>
              <a:buFont typeface="Arial"/>
              <a:buNone/>
              <a:defRPr sz="43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74"/>
              <a:buFont typeface="Arial"/>
              <a:buNone/>
              <a:defRPr sz="43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74"/>
              <a:buFont typeface="Arial"/>
              <a:buNone/>
              <a:defRPr sz="43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74"/>
              <a:buFont typeface="Arial"/>
              <a:buNone/>
              <a:defRPr sz="43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1" name="Google Shape;41;p8"/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10972800" cy="565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562722" marR="0" lvl="0" indent="-456586" algn="l" rtl="0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2242"/>
              <a:buFont typeface="Arial"/>
              <a:buChar char="•"/>
              <a:defRPr sz="2759" b="0" i="0" u="none" strike="noStrike" cap="none">
                <a:solidFill>
                  <a:schemeClr val="dk1"/>
                </a:solidFill>
                <a:latin typeface="맑은 고딕" panose="020B0503020000020004" pitchFamily="34" charset="-127"/>
                <a:ea typeface="맑은 고딕" panose="020B0503020000020004" pitchFamily="34" charset="-127"/>
                <a:cs typeface="Arial"/>
                <a:sym typeface="Arial"/>
              </a:defRPr>
            </a:lvl1pPr>
            <a:lvl2pPr marL="1125444" marR="0" lvl="1" indent="-433765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950"/>
              <a:buFont typeface="Arial"/>
              <a:buChar char="–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688165" marR="0" lvl="2" indent="-418524" algn="l" rtl="0">
              <a:lnSpc>
                <a:spcPct val="90000"/>
              </a:lnSpc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1755"/>
              <a:buFont typeface="Arial"/>
              <a:buChar char="•"/>
              <a:defRPr sz="215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2250887" marR="0" lvl="3" indent="-403284" algn="l" rtl="0">
              <a:lnSpc>
                <a:spcPct val="90000"/>
              </a:lnSpc>
              <a:spcBef>
                <a:spcPts val="384"/>
              </a:spcBef>
              <a:spcAft>
                <a:spcPts val="0"/>
              </a:spcAft>
              <a:buClr>
                <a:schemeClr val="dk1"/>
              </a:buClr>
              <a:buSzPts val="1560"/>
              <a:buFont typeface="Arial"/>
              <a:buChar char="–"/>
              <a:defRPr sz="192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813609" marR="0" lvl="4" indent="-403284" algn="l" rtl="0">
              <a:lnSpc>
                <a:spcPct val="90000"/>
              </a:lnSpc>
              <a:spcBef>
                <a:spcPts val="384"/>
              </a:spcBef>
              <a:spcAft>
                <a:spcPts val="0"/>
              </a:spcAft>
              <a:buClr>
                <a:schemeClr val="dk1"/>
              </a:buClr>
              <a:buSzPts val="1560"/>
              <a:buFont typeface="Arial"/>
              <a:buChar char="»"/>
              <a:defRPr sz="192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3376331" marR="0" lvl="5" indent="-405897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93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939052" marR="0" lvl="6" indent="-405897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93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4501774" marR="0" lvl="7" indent="-405897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93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5064496" marR="0" lvl="8" indent="-405897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93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">
  <p:cSld name="Section Title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 txBox="1">
            <a:spLocks noGrp="1"/>
          </p:cNvSpPr>
          <p:nvPr>
            <p:ph type="title"/>
          </p:nvPr>
        </p:nvSpPr>
        <p:spPr>
          <a:xfrm>
            <a:off x="269241" y="2084172"/>
            <a:ext cx="11653522" cy="11623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735"/>
              <a:buFont typeface="Calibri"/>
              <a:buNone/>
              <a:defRPr sz="705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2215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2215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2215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2215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2215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2215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2215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2215"/>
            </a:lvl9pPr>
          </a:lstStyle>
          <a:p>
            <a:endParaRPr/>
          </a:p>
        </p:txBody>
      </p:sp>
    </p:spTree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3" r:id="rId2"/>
    <p:sldLayoutId id="2147483654" r:id="rId3"/>
    <p:sldLayoutId id="2147483655" r:id="rId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72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72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72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72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72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72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72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72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72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72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72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72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72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72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72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72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72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72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72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72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72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72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72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72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72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72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72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57;p11"/>
          <p:cNvSpPr txBox="1"/>
          <p:nvPr/>
        </p:nvSpPr>
        <p:spPr>
          <a:xfrm>
            <a:off x="177762" y="227159"/>
            <a:ext cx="6808597" cy="628844"/>
          </a:xfrm>
          <a:prstGeom prst="rect">
            <a:avLst/>
          </a:prstGeom>
          <a:noFill/>
          <a:ln>
            <a:noFill/>
          </a:ln>
        </p:spPr>
        <p:txBody>
          <a:bodyPr wrap="square" lIns="112523" tIns="56246" rIns="112523" bIns="56246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  <a:defRPr sz="3446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1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1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1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1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1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1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1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1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100000"/>
              </a:lnSpc>
              <a:defRPr/>
            </a:pPr>
            <a:r>
              <a:rPr lang="ko-KR" altLang="en-US" sz="3200" spc="-100">
                <a:ln w="3175">
                  <a:solidFill>
                    <a:schemeClr val="tx1">
                      <a:alpha val="30000"/>
                    </a:schemeClr>
                  </a:solidFill>
                </a:ln>
                <a:solidFill>
                  <a:srgbClr val="000000"/>
                </a:solidFill>
                <a:latin typeface="나눔스퀘어 ExtraBold"/>
                <a:ea typeface="나눔스퀘어 ExtraBold"/>
                <a:cs typeface="Arial"/>
                <a:sym typeface="Arial"/>
              </a:rPr>
              <a:t>조별 과제 </a:t>
            </a:r>
            <a:r>
              <a:rPr lang="en-US" altLang="ko-KR" sz="3200" spc="-100">
                <a:ln w="3175">
                  <a:solidFill>
                    <a:schemeClr val="tx1">
                      <a:alpha val="30000"/>
                    </a:schemeClr>
                  </a:solidFill>
                </a:ln>
                <a:solidFill>
                  <a:srgbClr val="000000"/>
                </a:solidFill>
                <a:latin typeface="나눔스퀘어 ExtraBold"/>
                <a:ea typeface="나눔스퀘어 ExtraBold"/>
                <a:cs typeface="Arial"/>
                <a:sym typeface="Arial"/>
              </a:rPr>
              <a:t>1P </a:t>
            </a:r>
            <a:r>
              <a:rPr lang="ko-KR" altLang="en-US" sz="3200" spc="-100">
                <a:ln w="3175">
                  <a:solidFill>
                    <a:schemeClr val="tx1">
                      <a:alpha val="30000"/>
                    </a:schemeClr>
                  </a:solidFill>
                </a:ln>
                <a:solidFill>
                  <a:srgbClr val="000000"/>
                </a:solidFill>
                <a:latin typeface="나눔스퀘어 ExtraBold"/>
                <a:ea typeface="나눔스퀘어 ExtraBold"/>
                <a:cs typeface="Arial"/>
                <a:sym typeface="Arial"/>
              </a:rPr>
              <a:t>정리</a:t>
            </a:r>
            <a:endParaRPr lang="ko-KR" altLang="en-US" sz="3200" spc="-100">
              <a:solidFill>
                <a:srgbClr val="000000"/>
              </a:solidFill>
              <a:latin typeface="나눔스퀘어 ExtraBold"/>
              <a:ea typeface="나눔스퀘어 ExtraBold"/>
              <a:cs typeface="Arial"/>
              <a:sym typeface="Arial"/>
            </a:endParaRPr>
          </a:p>
        </p:txBody>
      </p:sp>
      <p:graphicFrame>
        <p:nvGraphicFramePr>
          <p:cNvPr id="4" name="Google Shape;516;g1b5d807d25a_29_172"/>
          <p:cNvGraphicFramePr/>
          <p:nvPr>
            <p:extLst>
              <p:ext uri="{D42A27DB-BD31-4B8C-83A1-F6EECF244321}">
                <p14:modId xmlns:p14="http://schemas.microsoft.com/office/powerpoint/2010/main" val="211939346"/>
              </p:ext>
            </p:extLst>
          </p:nvPr>
        </p:nvGraphicFramePr>
        <p:xfrm>
          <a:off x="177762" y="1146019"/>
          <a:ext cx="11834944" cy="526145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26234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114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2772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ko-KR" altLang="en-US" sz="1400" b="1">
                          <a:solidFill>
                            <a:schemeClr val="bg1"/>
                          </a:solidFill>
                          <a:latin typeface="나눔스퀘어 Bold"/>
                          <a:ea typeface="나눔스퀘어 Bold"/>
                        </a:rPr>
                        <a:t>반</a:t>
                      </a:r>
                      <a:r>
                        <a:rPr lang="en-US" altLang="ko-KR" sz="1400" b="1">
                          <a:solidFill>
                            <a:schemeClr val="bg1"/>
                          </a:solidFill>
                          <a:latin typeface="나눔스퀘어 Bold"/>
                          <a:ea typeface="나눔스퀘어 Bold"/>
                        </a:rPr>
                        <a:t>/</a:t>
                      </a:r>
                      <a:r>
                        <a:rPr lang="ko-KR" altLang="en-US" sz="1400" b="1">
                          <a:solidFill>
                            <a:schemeClr val="bg1"/>
                          </a:solidFill>
                          <a:latin typeface="나눔스퀘어 Bold"/>
                          <a:ea typeface="나눔스퀘어 Bold"/>
                        </a:rPr>
                        <a:t>조</a:t>
                      </a:r>
                      <a:endParaRPr sz="1400" b="1">
                        <a:solidFill>
                          <a:schemeClr val="bg1"/>
                        </a:solidFill>
                        <a:latin typeface="나눔스퀘어 Bold"/>
                        <a:ea typeface="나눔스퀘어 Bold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30AEA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ko-KR" altLang="en-US" sz="1400" dirty="0">
                          <a:solidFill>
                            <a:schemeClr val="bg1"/>
                          </a:solidFill>
                          <a:latin typeface="나눔스퀘어 Bold"/>
                          <a:ea typeface="나눔스퀘어 Bold"/>
                        </a:rPr>
                        <a:t>부산</a:t>
                      </a:r>
                      <a:r>
                        <a:rPr lang="en-US" altLang="ko-KR" sz="1400" dirty="0">
                          <a:solidFill>
                            <a:schemeClr val="bg1"/>
                          </a:solidFill>
                          <a:latin typeface="나눔스퀘어 Bold"/>
                          <a:ea typeface="나눔스퀘어 Bold"/>
                        </a:rPr>
                        <a:t>/</a:t>
                      </a:r>
                      <a:r>
                        <a:rPr lang="ko-KR" altLang="en-US" sz="1400" dirty="0">
                          <a:solidFill>
                            <a:schemeClr val="bg1"/>
                          </a:solidFill>
                          <a:latin typeface="나눔스퀘어 Bold"/>
                          <a:ea typeface="나눔스퀘어 Bold"/>
                        </a:rPr>
                        <a:t>경남권역 </a:t>
                      </a:r>
                      <a:r>
                        <a:rPr lang="en-US" altLang="ko-KR" sz="1400" dirty="0">
                          <a:solidFill>
                            <a:schemeClr val="bg1"/>
                          </a:solidFill>
                          <a:latin typeface="나눔스퀘어 Bold"/>
                          <a:ea typeface="나눔스퀘어 Bold"/>
                        </a:rPr>
                        <a:t>10</a:t>
                      </a:r>
                      <a:r>
                        <a:rPr lang="ko-KR" altLang="en-US" sz="1400" dirty="0">
                          <a:solidFill>
                            <a:schemeClr val="bg1"/>
                          </a:solidFill>
                          <a:latin typeface="나눔스퀘어 Bold"/>
                          <a:ea typeface="나눔스퀘어 Bold"/>
                        </a:rPr>
                        <a:t>반 </a:t>
                      </a:r>
                      <a:r>
                        <a:rPr lang="en-US" altLang="ko-KR" sz="1400" dirty="0">
                          <a:solidFill>
                            <a:schemeClr val="bg1"/>
                          </a:solidFill>
                          <a:latin typeface="나눔스퀘어 Bold"/>
                          <a:ea typeface="나눔스퀘어 Bold"/>
                        </a:rPr>
                        <a:t>22</a:t>
                      </a:r>
                      <a:r>
                        <a:rPr lang="ko-KR" altLang="en-US" sz="1400" dirty="0">
                          <a:solidFill>
                            <a:schemeClr val="bg1"/>
                          </a:solidFill>
                          <a:latin typeface="나눔스퀘어 Bold"/>
                          <a:ea typeface="나눔스퀘어 Bold"/>
                        </a:rPr>
                        <a:t>조</a:t>
                      </a:r>
                      <a:endParaRPr sz="1400" dirty="0">
                        <a:solidFill>
                          <a:schemeClr val="bg1"/>
                        </a:solidFill>
                        <a:latin typeface="나눔스퀘어 Bold"/>
                        <a:ea typeface="나눔스퀘어 Bold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30AEA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8566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ko-KR" altLang="en-US" sz="1400" b="1" u="none" strike="noStrike" cap="none" dirty="0">
                          <a:solidFill>
                            <a:schemeClr val="tx1"/>
                          </a:solidFill>
                          <a:latin typeface="나눔스퀘어 Bold"/>
                          <a:ea typeface="나눔스퀘어 Bold"/>
                        </a:rPr>
                        <a:t>조원 성명</a:t>
                      </a:r>
                      <a:endParaRPr sz="1400" b="1" u="none" strike="noStrike" cap="none" dirty="0">
                        <a:solidFill>
                          <a:schemeClr val="tx1"/>
                        </a:solidFill>
                        <a:latin typeface="나눔스퀘어 Bold"/>
                        <a:ea typeface="나눔스퀘어 Bold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US" altLang="ko-KR" sz="1200" b="1" u="none" strike="noStrike" cap="none">
                          <a:solidFill>
                            <a:schemeClr val="tx1"/>
                          </a:solidFill>
                          <a:latin typeface="맑은 고딕"/>
                          <a:ea typeface="나눔스퀘어 Bold"/>
                        </a:rPr>
                        <a:t>양시현, 고진영, 김세영, 김태균, 박기준, 오정우, 이정제</a:t>
                      </a: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8661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ko-KR" altLang="en-US" sz="1400" b="1" u="none" strike="noStrike" cap="none">
                          <a:solidFill>
                            <a:schemeClr val="tx1"/>
                          </a:solidFill>
                          <a:latin typeface="나눔스퀘어 Bold"/>
                          <a:ea typeface="나눔스퀘어 Bold"/>
                        </a:rPr>
                        <a:t>과제명</a:t>
                      </a:r>
                      <a:endParaRPr sz="1400" b="1">
                        <a:solidFill>
                          <a:schemeClr val="tx1"/>
                        </a:solidFill>
                        <a:latin typeface="나눔스퀘어 Bold"/>
                        <a:ea typeface="나눔스퀘어 Bold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ko-KR" altLang="en-US" sz="1200" b="1" i="0" u="none" strike="noStrike" cap="non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휴대폰 및 웨어러블 센서 데이터 활용한 사고/긴급 상황 감지 솔루션</a:t>
                      </a: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97914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ko-KR" altLang="en-US" sz="1400" b="1" u="none" strike="noStrike" cap="none" dirty="0">
                          <a:solidFill>
                            <a:schemeClr val="tx1"/>
                          </a:solidFill>
                          <a:latin typeface="나눔스퀘어 Bold"/>
                          <a:ea typeface="나눔스퀘어 Bold"/>
                        </a:rPr>
                        <a:t>주요 </a:t>
                      </a:r>
                      <a:r>
                        <a:rPr lang="ko-KR" altLang="en-US" sz="1400" b="1" u="none" strike="noStrike" cap="none">
                          <a:solidFill>
                            <a:schemeClr val="tx1"/>
                          </a:solidFill>
                          <a:latin typeface="나눔스퀘어 Bold"/>
                          <a:ea typeface="나눔스퀘어 Bold"/>
                        </a:rPr>
                        <a:t>서비스 내용</a:t>
                      </a:r>
                      <a:endParaRPr lang="ko-KR" altLang="en-US" sz="1400" b="1" dirty="0">
                        <a:solidFill>
                          <a:schemeClr val="tx1"/>
                        </a:solidFill>
                        <a:latin typeface="나눔스퀘어 Bold"/>
                        <a:ea typeface="나눔스퀘어 Bold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360" lvl="0" indent="-171360" algn="l">
                        <a:buChar char="•"/>
                        <a:defRPr/>
                      </a:pPr>
                      <a:r>
                        <a:rPr lang="ko-KR" altLang="en-US" sz="1200" b="1" i="0" u="none" strike="noStrike" cap="none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센서 융합기반 실시간 이상 감지 기술을 이용하여 작업자</a:t>
                      </a:r>
                      <a:r>
                        <a:rPr lang="en-US" altLang="ko-KR" sz="1200" b="1" i="0" u="none" strike="noStrike" cap="none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lang="ko-KR" altLang="en-US" sz="1200" b="1" i="0" u="none" strike="noStrike" cap="none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휴대폰</a:t>
                      </a:r>
                      <a:r>
                        <a:rPr lang="en-US" altLang="ko-KR" sz="1200" b="1" i="0" u="none" strike="noStrike" cap="none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/</a:t>
                      </a:r>
                      <a:r>
                        <a:rPr lang="ko-KR" altLang="en-US" sz="1200" b="1" i="0" u="none" strike="noStrike" cap="none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웨어러블</a:t>
                      </a:r>
                      <a:r>
                        <a:rPr lang="en-US" altLang="ko-KR" sz="1200" b="1" i="0" u="none" strike="noStrike" cap="none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lang="ko-KR" altLang="en-US" sz="1200" b="1" i="0" u="none" strike="noStrike" cap="none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디바이스를</a:t>
                      </a:r>
                      <a:r>
                        <a:rPr lang="en-US" altLang="ko-KR" sz="1200" b="1" i="0" u="none" strike="noStrike" cap="none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lang="ko-KR" altLang="en-US" sz="1200" b="1" i="0" u="none" strike="noStrike" cap="none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통한</a:t>
                      </a:r>
                      <a:r>
                        <a:rPr lang="en-US" altLang="ko-KR" sz="1200" b="1" i="0" u="none" strike="noStrike" cap="none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lang="ko-KR" altLang="en-US" sz="1200" b="1" i="0" u="none" strike="noStrike" cap="none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낙상</a:t>
                      </a:r>
                      <a:r>
                        <a:rPr lang="en-US" altLang="ko-KR" sz="1200" b="1" i="0" u="none" strike="noStrike" cap="none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, </a:t>
                      </a:r>
                      <a:r>
                        <a:rPr lang="ko-KR" altLang="en-US" sz="1200" b="1" i="0" u="none" strike="noStrike" cap="none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충격</a:t>
                      </a:r>
                      <a:r>
                        <a:rPr lang="en-US" altLang="ko-KR" sz="1200" b="1" i="0" u="none" strike="noStrike" cap="none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lang="ko-KR" altLang="en-US" sz="1200" b="1" i="0" u="none" strike="noStrike" cap="none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등 신체 이상이나 사고를 실시간으로 감지하고 경고 발송</a:t>
                      </a:r>
                      <a:endParaRPr lang="en-US" altLang="ko-KR" sz="1200" b="1" i="0" u="none" strike="noStrike" cap="non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lang="en-US" altLang="ko-KR" sz="1200" b="1" i="0" u="none" strike="noStrike" cap="non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  <a:p>
                      <a:pPr marL="171360" lvl="0" indent="-171360" algn="l">
                        <a:buChar char="•"/>
                        <a:defRPr/>
                      </a:pPr>
                      <a:r>
                        <a:rPr lang="ko-KR" altLang="en-US" sz="1200" b="1" i="0" u="none" strike="noStrike" cap="none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딥러닝 분석을 통해서 작업자의 피로도 및 장비 이상 징후를 사고 전 예측하거나 위험성을 고지</a:t>
                      </a:r>
                      <a:endParaRPr lang="en-US" altLang="ko-KR" sz="1200" b="1" i="0" u="none" strike="noStrike" cap="non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US" altLang="ko-KR" sz="1200" b="1" i="0" u="none" strike="noStrike" cap="none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</a:p>
                    <a:p>
                      <a:pPr marL="171360" lvl="0" indent="-171360" algn="l">
                        <a:buChar char="•"/>
                        <a:defRPr/>
                      </a:pPr>
                      <a:r>
                        <a:rPr lang="en-US" altLang="ko-KR" sz="1200" b="1" i="0" u="none" strike="noStrike" cap="none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GPS</a:t>
                      </a:r>
                      <a:r>
                        <a:rPr lang="ko-KR" altLang="en-US" sz="1200" b="1" i="0" u="none" strike="noStrike" cap="none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기반의 위험 구역 접근 차단 및 사고 발생 위치 추적을 통한 빠른 대처를 가능하게 함</a:t>
                      </a:r>
                      <a:endParaRPr lang="en-US" altLang="ko-KR" sz="1200" b="1" i="0" u="none" strike="noStrike" cap="non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582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ko-KR" altLang="en-US" sz="1400" b="1" u="none" strike="noStrike" cap="none" dirty="0">
                          <a:solidFill>
                            <a:schemeClr val="tx1"/>
                          </a:solidFill>
                          <a:latin typeface="나눔스퀘어 Bold"/>
                          <a:ea typeface="나눔스퀘어 Bold"/>
                        </a:rPr>
                        <a:t>목표 고객</a:t>
                      </a:r>
                      <a:endParaRPr sz="1400" b="1" u="none" strike="noStrike" cap="none" dirty="0">
                        <a:solidFill>
                          <a:schemeClr val="tx1"/>
                        </a:solidFill>
                        <a:latin typeface="나눔스퀘어 Bold"/>
                        <a:ea typeface="나눔스퀘어 Bold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US" altLang="ko-KR" sz="1200" b="1" i="0" u="none" strike="noStrike" cap="non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B2B(</a:t>
                      </a:r>
                      <a:r>
                        <a:rPr lang="ko-KR" altLang="en-US" sz="1200" b="1" i="0" u="none" strike="noStrike" cap="non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현대건설</a:t>
                      </a:r>
                      <a:r>
                        <a:rPr lang="en-US" altLang="ko-KR" sz="1200" b="1" i="0" u="none" strike="noStrike" cap="non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, </a:t>
                      </a:r>
                      <a:r>
                        <a:rPr lang="ko-KR" altLang="en-US" sz="1200" b="1" i="0" u="none" strike="noStrike" cap="non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한화오션</a:t>
                      </a:r>
                      <a:r>
                        <a:rPr lang="en-US" altLang="ko-KR" sz="1200" b="1" i="0" u="none" strike="noStrike" cap="non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) - </a:t>
                      </a:r>
                      <a:r>
                        <a:rPr lang="ko-KR" altLang="en-US" sz="1200" b="1" i="0" u="none" strike="noStrike" cap="non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건설사</a:t>
                      </a:r>
                      <a:r>
                        <a:rPr lang="en-US" altLang="ko-KR" sz="1200" b="1" i="0" u="none" strike="noStrike" cap="non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, </a:t>
                      </a:r>
                      <a:r>
                        <a:rPr lang="ko-KR" altLang="en-US" sz="1200" b="1" i="0" u="none" strike="noStrike" cap="non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조선등의 고위험 산업군</a:t>
                      </a: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65929"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  <a:defRPr/>
                      </a:pPr>
                      <a:r>
                        <a:rPr lang="ko-KR" altLang="en-US" sz="1400" b="1" u="none" strike="noStrike" cap="none">
                          <a:solidFill>
                            <a:schemeClr val="tx1"/>
                          </a:solidFill>
                          <a:latin typeface="나눔스퀘어 Bold"/>
                          <a:ea typeface="나눔스퀘어 Bold"/>
                        </a:rPr>
                        <a:t>과제 선정 배경</a:t>
                      </a: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360" lvl="0" indent="-171360" algn="l">
                        <a:buChar char="•"/>
                        <a:defRPr/>
                      </a:pPr>
                      <a:r>
                        <a:rPr lang="en-US" altLang="ko-KR" sz="1200" b="1" i="0" u="none" strike="noStrike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2022 </a:t>
                      </a:r>
                      <a:r>
                        <a:rPr lang="ko-KR" altLang="en-US" sz="1200" b="1" i="0" u="none" strike="noStrike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중대재해처벌법 시행으로 경영 책임자에게 </a:t>
                      </a:r>
                      <a:r>
                        <a:rPr lang="en-US" altLang="ko-KR" sz="1200" b="1" i="0" u="none" strike="noStrike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‘</a:t>
                      </a:r>
                      <a:r>
                        <a:rPr lang="ko-KR" altLang="en-US" sz="1200" b="1" i="0" u="none" strike="noStrike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사전적 위험 파악 및 개선 의무가 법적으로 강제됨에 따라</a:t>
                      </a:r>
                      <a:r>
                        <a:rPr lang="en-US" altLang="ko-KR" sz="1200" b="1" i="0" u="none" strike="noStrike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, </a:t>
                      </a:r>
                      <a:r>
                        <a:rPr lang="ko-KR" altLang="en-US" sz="1200" b="1" i="0" u="none" strike="noStrike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기업은 사고를 사전에 예방하고 발생 시 즉시 감지</a:t>
                      </a:r>
                      <a:r>
                        <a:rPr lang="en-US" altLang="ko-KR" sz="1200" b="1" i="0" u="none" strike="noStrike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, </a:t>
                      </a:r>
                      <a:r>
                        <a:rPr lang="ko-KR" altLang="en-US" sz="1200" b="1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대응하여 피해를 최소화 할 필요가 있음</a:t>
                      </a:r>
                      <a:endParaRPr lang="en-US" altLang="ko-KR" sz="1200" b="1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US" altLang="ko-KR" sz="800" b="1" i="0" u="none" strike="noStrike" cap="none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</a:p>
                    <a:p>
                      <a:pPr marL="171360" lvl="0" indent="-171360" algn="l">
                        <a:buChar char="•"/>
                        <a:defRPr/>
                      </a:pPr>
                      <a:r>
                        <a:rPr lang="ko-KR" altLang="en-US" sz="1200" b="1" i="0" u="none" strike="noStrike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안전 관리 인력 수요 증가 대비 공급 부족 현상 발생을 이를 웨어러블 기반 시스템으로 보완</a:t>
                      </a: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8887"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  <a:defRPr/>
                      </a:pPr>
                      <a:r>
                        <a:rPr lang="ko-KR" altLang="en-US" sz="1400" b="1" u="none" strike="noStrike" cap="none" dirty="0">
                          <a:solidFill>
                            <a:schemeClr val="tx1"/>
                          </a:solidFill>
                          <a:latin typeface="나눔스퀘어 Bold"/>
                          <a:ea typeface="나눔스퀘어 Bold"/>
                        </a:rPr>
                        <a:t>활용 데이터</a:t>
                      </a: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4999"/>
                        </a:lnSpc>
                        <a:spcBef>
                          <a:spcPts val="240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ko-KR" altLang="en-US" sz="1200" b="1">
                          <a:solidFill>
                            <a:schemeClr val="tx1"/>
                          </a:solidFill>
                          <a:highlight>
                            <a:srgbClr val="FFFFFF"/>
                          </a:highlight>
                          <a:latin typeface="+mj-ea"/>
                          <a:ea typeface="+mj-ea"/>
                          <a:cs typeface="Arial"/>
                        </a:rPr>
                        <a:t>가속도</a:t>
                      </a:r>
                      <a:r>
                        <a:rPr lang="en-US" altLang="ko-KR" sz="1200" b="1">
                          <a:solidFill>
                            <a:schemeClr val="tx1"/>
                          </a:solidFill>
                          <a:highlight>
                            <a:srgbClr val="FFFFFF"/>
                          </a:highlight>
                          <a:latin typeface="+mj-ea"/>
                          <a:ea typeface="+mj-ea"/>
                          <a:cs typeface="Arial"/>
                        </a:rPr>
                        <a:t>,</a:t>
                      </a:r>
                      <a:r>
                        <a:rPr lang="ko-KR" altLang="en-US" sz="1200" b="1">
                          <a:solidFill>
                            <a:schemeClr val="tx1"/>
                          </a:solidFill>
                          <a:highlight>
                            <a:srgbClr val="FFFFFF"/>
                          </a:highlight>
                          <a:latin typeface="+mj-ea"/>
                          <a:ea typeface="+mj-ea"/>
                          <a:cs typeface="Arial"/>
                        </a:rPr>
                        <a:t> 자이로 센서를 통한 움직임패턴 데이터 </a:t>
                      </a:r>
                      <a:r>
                        <a:rPr lang="en-US" altLang="ko-KR" sz="1200" b="1">
                          <a:solidFill>
                            <a:schemeClr val="tx1"/>
                          </a:solidFill>
                          <a:highlight>
                            <a:srgbClr val="FFFFFF"/>
                          </a:highlight>
                          <a:latin typeface="+mj-ea"/>
                          <a:ea typeface="+mj-ea"/>
                          <a:cs typeface="Arial"/>
                        </a:rPr>
                        <a:t>/ </a:t>
                      </a:r>
                      <a:r>
                        <a:rPr lang="ko-KR" altLang="en-US" sz="1200" b="1">
                          <a:solidFill>
                            <a:schemeClr val="tx1"/>
                          </a:solidFill>
                          <a:highlight>
                            <a:srgbClr val="FFFFFF"/>
                          </a:highlight>
                          <a:latin typeface="+mj-ea"/>
                          <a:ea typeface="+mj-ea"/>
                          <a:cs typeface="Arial"/>
                        </a:rPr>
                        <a:t>웨어러블 신호</a:t>
                      </a:r>
                      <a:r>
                        <a:rPr lang="en-US" altLang="ko-KR" sz="1200" b="1">
                          <a:solidFill>
                            <a:schemeClr val="tx1"/>
                          </a:solidFill>
                          <a:highlight>
                            <a:srgbClr val="FFFFFF"/>
                          </a:highlight>
                          <a:latin typeface="+mj-ea"/>
                          <a:ea typeface="+mj-ea"/>
                          <a:cs typeface="Arial"/>
                        </a:rPr>
                        <a:t>(</a:t>
                      </a:r>
                      <a:r>
                        <a:rPr lang="ko-KR" altLang="en-US" sz="1200" b="1">
                          <a:solidFill>
                            <a:schemeClr val="tx1"/>
                          </a:solidFill>
                          <a:highlight>
                            <a:srgbClr val="FFFFFF"/>
                          </a:highlight>
                          <a:latin typeface="+mj-ea"/>
                          <a:ea typeface="+mj-ea"/>
                          <a:cs typeface="Arial"/>
                        </a:rPr>
                        <a:t>상태감지</a:t>
                      </a:r>
                      <a:r>
                        <a:rPr lang="en-US" altLang="ko-KR" sz="1200" b="1">
                          <a:solidFill>
                            <a:schemeClr val="tx1"/>
                          </a:solidFill>
                          <a:highlight>
                            <a:srgbClr val="FFFFFF"/>
                          </a:highlight>
                          <a:latin typeface="+mj-ea"/>
                          <a:ea typeface="+mj-ea"/>
                          <a:cs typeface="Arial"/>
                        </a:rPr>
                        <a:t>)</a:t>
                      </a:r>
                      <a:r>
                        <a:rPr lang="ko-KR" altLang="en-US" sz="1200" b="1">
                          <a:solidFill>
                            <a:schemeClr val="tx1"/>
                          </a:solidFill>
                          <a:highlight>
                            <a:srgbClr val="FFFFFF"/>
                          </a:highlight>
                          <a:latin typeface="+mj-ea"/>
                          <a:ea typeface="+mj-ea"/>
                          <a:cs typeface="Arial"/>
                        </a:rPr>
                        <a:t> 데이터</a:t>
                      </a:r>
                      <a:r>
                        <a:rPr lang="en-US" altLang="ko-KR" sz="1200" b="1">
                          <a:solidFill>
                            <a:schemeClr val="tx1"/>
                          </a:solidFill>
                          <a:highlight>
                            <a:srgbClr val="FFFFFF"/>
                          </a:highlight>
                          <a:latin typeface="+mj-ea"/>
                          <a:ea typeface="+mj-ea"/>
                          <a:cs typeface="Arial"/>
                        </a:rPr>
                        <a:t> / </a:t>
                      </a:r>
                      <a:r>
                        <a:rPr lang="ko-KR" altLang="en-US" sz="1200" b="1">
                          <a:solidFill>
                            <a:schemeClr val="tx1"/>
                          </a:solidFill>
                          <a:highlight>
                            <a:srgbClr val="FFFFFF"/>
                          </a:highlight>
                          <a:latin typeface="+mj-ea"/>
                          <a:ea typeface="+mj-ea"/>
                          <a:cs typeface="Arial"/>
                        </a:rPr>
                        <a:t>위치</a:t>
                      </a:r>
                      <a:r>
                        <a:rPr lang="en-US" altLang="ko-KR" sz="1200" b="1">
                          <a:solidFill>
                            <a:schemeClr val="tx1"/>
                          </a:solidFill>
                          <a:highlight>
                            <a:srgbClr val="FFFFFF"/>
                          </a:highlight>
                          <a:latin typeface="+mj-ea"/>
                          <a:ea typeface="+mj-ea"/>
                          <a:cs typeface="Arial"/>
                        </a:rPr>
                        <a:t>(</a:t>
                      </a:r>
                      <a:r>
                        <a:rPr lang="ko-KR" altLang="en-US" sz="1200" b="1">
                          <a:solidFill>
                            <a:schemeClr val="tx1"/>
                          </a:solidFill>
                          <a:highlight>
                            <a:srgbClr val="FFFFFF"/>
                          </a:highlight>
                          <a:latin typeface="+mj-ea"/>
                          <a:ea typeface="+mj-ea"/>
                          <a:cs typeface="Arial"/>
                        </a:rPr>
                        <a:t>위험구역</a:t>
                      </a:r>
                      <a:r>
                        <a:rPr lang="en-US" altLang="ko-KR" sz="1200" b="1">
                          <a:solidFill>
                            <a:schemeClr val="tx1"/>
                          </a:solidFill>
                          <a:highlight>
                            <a:srgbClr val="FFFFFF"/>
                          </a:highlight>
                          <a:latin typeface="+mj-ea"/>
                          <a:ea typeface="+mj-ea"/>
                          <a:cs typeface="Arial"/>
                        </a:rPr>
                        <a:t>, </a:t>
                      </a:r>
                      <a:r>
                        <a:rPr lang="ko-KR" altLang="en-US" sz="1200" b="1">
                          <a:solidFill>
                            <a:schemeClr val="tx1"/>
                          </a:solidFill>
                          <a:highlight>
                            <a:srgbClr val="FFFFFF"/>
                          </a:highlight>
                          <a:latin typeface="+mj-ea"/>
                          <a:ea typeface="+mj-ea"/>
                          <a:cs typeface="Arial"/>
                        </a:rPr>
                        <a:t>장비 접근을 위한</a:t>
                      </a:r>
                      <a:r>
                        <a:rPr lang="en-US" altLang="ko-KR" sz="1200" b="1">
                          <a:solidFill>
                            <a:schemeClr val="tx1"/>
                          </a:solidFill>
                          <a:highlight>
                            <a:srgbClr val="FFFFFF"/>
                          </a:highlight>
                          <a:latin typeface="+mj-ea"/>
                          <a:ea typeface="+mj-ea"/>
                          <a:cs typeface="Arial"/>
                        </a:rPr>
                        <a:t>)</a:t>
                      </a:r>
                      <a:r>
                        <a:rPr lang="ko-KR" altLang="en-US" sz="1200" b="1">
                          <a:solidFill>
                            <a:schemeClr val="tx1"/>
                          </a:solidFill>
                          <a:highlight>
                            <a:srgbClr val="FFFFFF"/>
                          </a:highlight>
                          <a:latin typeface="+mj-ea"/>
                          <a:ea typeface="+mj-ea"/>
                          <a:cs typeface="Arial"/>
                        </a:rPr>
                        <a:t>데이터</a:t>
                      </a: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22893"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  <a:defRPr/>
                      </a:pPr>
                      <a:r>
                        <a:rPr lang="ko-KR" altLang="en-US" sz="1400" b="1" u="none" strike="noStrike" cap="none" dirty="0">
                          <a:solidFill>
                            <a:schemeClr val="tx1"/>
                          </a:solidFill>
                          <a:latin typeface="나눔스퀘어 Bold"/>
                          <a:ea typeface="나눔스퀘어 Bold"/>
                        </a:rPr>
                        <a:t>기대 효과</a:t>
                      </a: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2400"/>
                        </a:spcBef>
                        <a:spcAft>
                          <a:spcPts val="0"/>
                        </a:spcAft>
                        <a:buSzPct val="25000"/>
                        <a:buNone/>
                        <a:defRPr/>
                      </a:pPr>
                      <a:r>
                        <a:rPr lang="ko-KR" altLang="en-US" sz="1200" b="1" i="0" u="none" strike="noStrike" cap="none" dirty="0">
                          <a:solidFill>
                            <a:schemeClr val="tx1"/>
                          </a:solidFill>
                          <a:effectLst/>
                          <a:highlight>
                            <a:srgbClr val="FFFFFF"/>
                          </a:highlight>
                          <a:latin typeface="+mj-ea"/>
                          <a:ea typeface="+mj-ea"/>
                          <a:cs typeface="+mn-cs"/>
                          <a:sym typeface="Arial"/>
                        </a:rPr>
                        <a:t>산업 현장의 실시간 안전 관리를 통해 사고를 사전에 예방 및 신속한 대응을 통한 피해를 최소화하는 선제적 안전 관리 체계 구현</a:t>
                      </a:r>
                      <a:endParaRPr lang="en-US" altLang="ko-KR" sz="1200" b="1" dirty="0">
                        <a:solidFill>
                          <a:srgbClr val="000000"/>
                        </a:solidFill>
                        <a:highlight>
                          <a:srgbClr val="FFFFFF"/>
                        </a:highlight>
                        <a:latin typeface="+mj-ea"/>
                        <a:ea typeface="+mj-ea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theme/theme1.xml><?xml version="1.0" encoding="utf-8"?>
<a:theme xmlns:a="http://schemas.openxmlformats.org/drawingml/2006/main" name="Office 테마">
  <a:themeElements>
    <a:clrScheme name="파랑">
      <a:dk1>
        <a:srgbClr val="000000"/>
      </a:dk1>
      <a:lt1>
        <a:srgbClr val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Arial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212</Words>
  <Application>Microsoft Office PowerPoint</Application>
  <PresentationFormat>와이드스크린</PresentationFormat>
  <Paragraphs>23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10" baseType="lpstr">
      <vt:lpstr>Noto Sans Symbols</vt:lpstr>
      <vt:lpstr>나눔스퀘어 Bold</vt:lpstr>
      <vt:lpstr>나눔스퀘어 ExtraBold</vt:lpstr>
      <vt:lpstr>나눔스퀘어 네오 Heavy</vt:lpstr>
      <vt:lpstr>Malgun Gothic</vt:lpstr>
      <vt:lpstr>Malgun Gothic</vt:lpstr>
      <vt:lpstr>Arial</vt:lpstr>
      <vt:lpstr>Calibri</vt:lpstr>
      <vt:lpstr>Office 테마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양시현</cp:lastModifiedBy>
  <cp:revision>14</cp:revision>
  <dcterms:modified xsi:type="dcterms:W3CDTF">2025-10-17T07:32:10Z</dcterms:modified>
  <cp:version/>
</cp:coreProperties>
</file>